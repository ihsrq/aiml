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324" r:id="rId3"/>
    <p:sldId id="325" r:id="rId4"/>
    <p:sldId id="326" r:id="rId5"/>
    <p:sldId id="327" r:id="rId6"/>
    <p:sldId id="328" r:id="rId7"/>
    <p:sldId id="329" r:id="rId8"/>
    <p:sldId id="330" r:id="rId9"/>
    <p:sldId id="268" r:id="rId1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7C7389-6BC3-4E8C-9234-0B5405BAA1FD}" v="1" dt="2025-04-15T05:09:47.74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370"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6B6D229-8500-408E-8B88-17D1C61917B6}" type="datetimeFigureOut">
              <a:rPr lang="en-US" smtClean="0"/>
              <a:t>11/4/2025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5D150A66-6157-4E80-BE51-A97A56D577B4}" type="slidenum">
              <a:rPr lang="en-US" smtClean="0"/>
              <a:t>‹#›</a:t>
            </a:fld>
            <a:endParaRPr lang="en-US"/>
          </a:p>
        </p:txBody>
      </p:sp>
    </p:spTree>
    <p:extLst>
      <p:ext uri="{BB962C8B-B14F-4D97-AF65-F5344CB8AC3E}">
        <p14:creationId xmlns:p14="http://schemas.microsoft.com/office/powerpoint/2010/main" val="1472039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150A66-6157-4E80-BE51-A97A56D577B4}" type="slidenum">
              <a:rPr lang="en-US" smtClean="0"/>
              <a:t>7</a:t>
            </a:fld>
            <a:endParaRPr lang="en-US"/>
          </a:p>
        </p:txBody>
      </p:sp>
    </p:spTree>
    <p:extLst>
      <p:ext uri="{BB962C8B-B14F-4D97-AF65-F5344CB8AC3E}">
        <p14:creationId xmlns:p14="http://schemas.microsoft.com/office/powerpoint/2010/main" val="2383638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DEBE0"/>
          </a:solidFill>
        </p:spPr>
        <p:txBody>
          <a:bodyPr wrap="square" lIns="0" tIns="0" rIns="0" bIns="0" rtlCol="0"/>
          <a:lstStyle/>
          <a:p>
            <a:endParaRPr/>
          </a:p>
        </p:txBody>
      </p:sp>
      <p:sp>
        <p:nvSpPr>
          <p:cNvPr id="17" name="bg object 17"/>
          <p:cNvSpPr/>
          <p:nvPr/>
        </p:nvSpPr>
        <p:spPr>
          <a:xfrm>
            <a:off x="238353" y="159060"/>
            <a:ext cx="11792585" cy="6464935"/>
          </a:xfrm>
          <a:custGeom>
            <a:avLst/>
            <a:gdLst/>
            <a:ahLst/>
            <a:cxnLst/>
            <a:rect l="l" t="t" r="r" b="b"/>
            <a:pathLst>
              <a:path w="11792585" h="6464934">
                <a:moveTo>
                  <a:pt x="11791976" y="0"/>
                </a:moveTo>
                <a:lnTo>
                  <a:pt x="0" y="0"/>
                </a:lnTo>
                <a:lnTo>
                  <a:pt x="0" y="6464518"/>
                </a:lnTo>
                <a:lnTo>
                  <a:pt x="11791977" y="6464518"/>
                </a:lnTo>
                <a:lnTo>
                  <a:pt x="11791977" y="6445655"/>
                </a:lnTo>
                <a:lnTo>
                  <a:pt x="38466" y="6445655"/>
                </a:lnTo>
                <a:lnTo>
                  <a:pt x="19232" y="6426793"/>
                </a:lnTo>
                <a:lnTo>
                  <a:pt x="38466" y="6426793"/>
                </a:lnTo>
                <a:lnTo>
                  <a:pt x="38466" y="37730"/>
                </a:lnTo>
                <a:lnTo>
                  <a:pt x="19232" y="37730"/>
                </a:lnTo>
                <a:lnTo>
                  <a:pt x="38466" y="18949"/>
                </a:lnTo>
                <a:lnTo>
                  <a:pt x="11791976" y="18949"/>
                </a:lnTo>
                <a:lnTo>
                  <a:pt x="11791976" y="0"/>
                </a:lnTo>
                <a:close/>
              </a:path>
              <a:path w="11792585" h="6464934">
                <a:moveTo>
                  <a:pt x="38466" y="6426793"/>
                </a:moveTo>
                <a:lnTo>
                  <a:pt x="19232" y="6426793"/>
                </a:lnTo>
                <a:lnTo>
                  <a:pt x="38466" y="6445655"/>
                </a:lnTo>
                <a:lnTo>
                  <a:pt x="38466" y="6426793"/>
                </a:lnTo>
                <a:close/>
              </a:path>
              <a:path w="11792585" h="6464934">
                <a:moveTo>
                  <a:pt x="11753505" y="6426793"/>
                </a:moveTo>
                <a:lnTo>
                  <a:pt x="38466" y="6426793"/>
                </a:lnTo>
                <a:lnTo>
                  <a:pt x="38466" y="6445655"/>
                </a:lnTo>
                <a:lnTo>
                  <a:pt x="11753505" y="6445655"/>
                </a:lnTo>
                <a:lnTo>
                  <a:pt x="11753505" y="6426793"/>
                </a:lnTo>
                <a:close/>
              </a:path>
              <a:path w="11792585" h="6464934">
                <a:moveTo>
                  <a:pt x="11753505" y="18949"/>
                </a:moveTo>
                <a:lnTo>
                  <a:pt x="11753505" y="6445655"/>
                </a:lnTo>
                <a:lnTo>
                  <a:pt x="11772826" y="6426793"/>
                </a:lnTo>
                <a:lnTo>
                  <a:pt x="11791977" y="6426793"/>
                </a:lnTo>
                <a:lnTo>
                  <a:pt x="11791976" y="37730"/>
                </a:lnTo>
                <a:lnTo>
                  <a:pt x="11772826" y="37730"/>
                </a:lnTo>
                <a:lnTo>
                  <a:pt x="11753505" y="18949"/>
                </a:lnTo>
                <a:close/>
              </a:path>
              <a:path w="11792585" h="6464934">
                <a:moveTo>
                  <a:pt x="11791977" y="6426793"/>
                </a:moveTo>
                <a:lnTo>
                  <a:pt x="11772826" y="6426793"/>
                </a:lnTo>
                <a:lnTo>
                  <a:pt x="11753505" y="6445655"/>
                </a:lnTo>
                <a:lnTo>
                  <a:pt x="11791977" y="6445655"/>
                </a:lnTo>
                <a:lnTo>
                  <a:pt x="11791977" y="6426793"/>
                </a:lnTo>
                <a:close/>
              </a:path>
              <a:path w="11792585" h="6464934">
                <a:moveTo>
                  <a:pt x="38466" y="18949"/>
                </a:moveTo>
                <a:lnTo>
                  <a:pt x="19232" y="37730"/>
                </a:lnTo>
                <a:lnTo>
                  <a:pt x="38466" y="37730"/>
                </a:lnTo>
                <a:lnTo>
                  <a:pt x="38466" y="18949"/>
                </a:lnTo>
                <a:close/>
              </a:path>
              <a:path w="11792585" h="6464934">
                <a:moveTo>
                  <a:pt x="11753505" y="18949"/>
                </a:moveTo>
                <a:lnTo>
                  <a:pt x="38466" y="18949"/>
                </a:lnTo>
                <a:lnTo>
                  <a:pt x="38466" y="37730"/>
                </a:lnTo>
                <a:lnTo>
                  <a:pt x="11753505" y="37730"/>
                </a:lnTo>
                <a:lnTo>
                  <a:pt x="11753505" y="18949"/>
                </a:lnTo>
                <a:close/>
              </a:path>
              <a:path w="11792585" h="6464934">
                <a:moveTo>
                  <a:pt x="11791976" y="18949"/>
                </a:moveTo>
                <a:lnTo>
                  <a:pt x="11753505" y="18949"/>
                </a:lnTo>
                <a:lnTo>
                  <a:pt x="11772826" y="37730"/>
                </a:lnTo>
                <a:lnTo>
                  <a:pt x="11791976" y="37730"/>
                </a:lnTo>
                <a:lnTo>
                  <a:pt x="11791976" y="18949"/>
                </a:lnTo>
                <a:close/>
              </a:path>
            </a:pathLst>
          </a:custGeom>
          <a:solidFill>
            <a:srgbClr val="C00000"/>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DEBE0"/>
          </a:solidFill>
        </p:spPr>
        <p:txBody>
          <a:bodyPr wrap="square" lIns="0" tIns="0" rIns="0" bIns="0" rtlCol="0"/>
          <a:lstStyle/>
          <a:p>
            <a:endParaRPr/>
          </a:p>
        </p:txBody>
      </p:sp>
      <p:sp>
        <p:nvSpPr>
          <p:cNvPr id="2" name="Holder 2"/>
          <p:cNvSpPr>
            <a:spLocks noGrp="1"/>
          </p:cNvSpPr>
          <p:nvPr>
            <p:ph type="title"/>
          </p:nvPr>
        </p:nvSpPr>
        <p:spPr>
          <a:xfrm>
            <a:off x="436244" y="235330"/>
            <a:ext cx="8965565" cy="747014"/>
          </a:xfrm>
          <a:prstGeom prst="rect">
            <a:avLst/>
          </a:prstGeom>
        </p:spPr>
        <p:txBody>
          <a:bodyPr wrap="square" lIns="0" tIns="0" rIns="0" bIns="0">
            <a:spAutoFit/>
          </a:bodyPr>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a:xfrm>
            <a:off x="563321" y="1212850"/>
            <a:ext cx="9641205" cy="408368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044315" y="6512511"/>
            <a:ext cx="4651375" cy="416927"/>
          </a:xfrm>
          <a:prstGeom prst="rect">
            <a:avLst/>
          </a:prstGeom>
        </p:spPr>
        <p:txBody>
          <a:bodyPr wrap="square" lIns="0" tIns="0" rIns="0" bIns="0">
            <a:spAutoFit/>
          </a:bodyPr>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142998"/>
            <a:ext cx="12197081" cy="5715001"/>
          </a:xfrm>
          <a:custGeom>
            <a:avLst/>
            <a:gdLst/>
            <a:ahLst/>
            <a:cxnLst/>
            <a:rect l="l" t="t" r="r" b="b"/>
            <a:pathLst>
              <a:path w="12192000" h="5739130">
                <a:moveTo>
                  <a:pt x="0" y="5738748"/>
                </a:moveTo>
                <a:lnTo>
                  <a:pt x="12192000" y="5738748"/>
                </a:lnTo>
                <a:lnTo>
                  <a:pt x="12192000" y="0"/>
                </a:lnTo>
                <a:lnTo>
                  <a:pt x="0" y="0"/>
                </a:lnTo>
                <a:lnTo>
                  <a:pt x="0" y="5738748"/>
                </a:lnTo>
                <a:close/>
              </a:path>
            </a:pathLst>
          </a:custGeom>
          <a:solidFill>
            <a:srgbClr val="EDEBE0"/>
          </a:solidFill>
        </p:spPr>
        <p:txBody>
          <a:bodyPr wrap="square" lIns="0" tIns="0" rIns="0" bIns="0" rtlCol="0"/>
          <a:lstStyle/>
          <a:p>
            <a:r>
              <a:rPr lang="en-IN"/>
              <a:t> </a:t>
            </a:r>
            <a:endParaRPr dirty="0"/>
          </a:p>
        </p:txBody>
      </p:sp>
      <p:sp>
        <p:nvSpPr>
          <p:cNvPr id="3" name="object 3"/>
          <p:cNvSpPr/>
          <p:nvPr/>
        </p:nvSpPr>
        <p:spPr>
          <a:xfrm>
            <a:off x="0" y="0"/>
            <a:ext cx="12192000" cy="5080"/>
          </a:xfrm>
          <a:custGeom>
            <a:avLst/>
            <a:gdLst/>
            <a:ahLst/>
            <a:cxnLst/>
            <a:rect l="l" t="t" r="r" b="b"/>
            <a:pathLst>
              <a:path w="12192000" h="5080">
                <a:moveTo>
                  <a:pt x="0" y="4826"/>
                </a:moveTo>
                <a:lnTo>
                  <a:pt x="12192000" y="4826"/>
                </a:lnTo>
                <a:lnTo>
                  <a:pt x="12192000" y="0"/>
                </a:lnTo>
                <a:lnTo>
                  <a:pt x="0" y="0"/>
                </a:lnTo>
                <a:lnTo>
                  <a:pt x="0" y="4826"/>
                </a:lnTo>
                <a:close/>
              </a:path>
            </a:pathLst>
          </a:custGeom>
          <a:solidFill>
            <a:srgbClr val="EDEBE0"/>
          </a:solidFill>
        </p:spPr>
        <p:txBody>
          <a:bodyPr wrap="square" lIns="0" tIns="0" rIns="0" bIns="0" rtlCol="0"/>
          <a:lstStyle/>
          <a:p>
            <a:endParaRPr/>
          </a:p>
        </p:txBody>
      </p:sp>
      <p:sp>
        <p:nvSpPr>
          <p:cNvPr id="4" name="object 4"/>
          <p:cNvSpPr txBox="1"/>
          <p:nvPr/>
        </p:nvSpPr>
        <p:spPr>
          <a:xfrm>
            <a:off x="491172" y="5558234"/>
            <a:ext cx="2450465" cy="1017269"/>
          </a:xfrm>
          <a:prstGeom prst="rect">
            <a:avLst/>
          </a:prstGeom>
        </p:spPr>
        <p:txBody>
          <a:bodyPr vert="horz" wrap="square" lIns="0" tIns="6350" rIns="0" bIns="0" rtlCol="0">
            <a:spAutoFit/>
          </a:bodyPr>
          <a:lstStyle/>
          <a:p>
            <a:pPr algn="r">
              <a:lnSpc>
                <a:spcPct val="100000"/>
              </a:lnSpc>
              <a:spcBef>
                <a:spcPts val="50"/>
              </a:spcBef>
            </a:pPr>
            <a:r>
              <a:rPr sz="950" spc="-80" dirty="0">
                <a:latin typeface="Verdana"/>
                <a:cs typeface="Verdana"/>
              </a:rPr>
              <a:t>B.E,</a:t>
            </a:r>
            <a:r>
              <a:rPr sz="950" spc="-120" dirty="0">
                <a:latin typeface="Verdana"/>
                <a:cs typeface="Verdana"/>
              </a:rPr>
              <a:t> </a:t>
            </a:r>
            <a:r>
              <a:rPr sz="950" spc="-10" dirty="0">
                <a:latin typeface="Verdana"/>
                <a:cs typeface="Verdana"/>
              </a:rPr>
              <a:t>M.Tech</a:t>
            </a:r>
            <a:endParaRPr sz="950">
              <a:latin typeface="Verdana"/>
              <a:cs typeface="Verdana"/>
            </a:endParaRPr>
          </a:p>
          <a:p>
            <a:pPr>
              <a:lnSpc>
                <a:spcPct val="100000"/>
              </a:lnSpc>
            </a:pPr>
            <a:endParaRPr sz="950">
              <a:latin typeface="Verdana"/>
              <a:cs typeface="Verdana"/>
            </a:endParaRPr>
          </a:p>
          <a:p>
            <a:pPr>
              <a:lnSpc>
                <a:spcPct val="100000"/>
              </a:lnSpc>
            </a:pPr>
            <a:endParaRPr sz="950">
              <a:latin typeface="Verdana"/>
              <a:cs typeface="Verdana"/>
            </a:endParaRPr>
          </a:p>
          <a:p>
            <a:pPr>
              <a:lnSpc>
                <a:spcPct val="100000"/>
              </a:lnSpc>
            </a:pPr>
            <a:endParaRPr sz="950">
              <a:latin typeface="Verdana"/>
              <a:cs typeface="Verdana"/>
            </a:endParaRPr>
          </a:p>
          <a:p>
            <a:pPr>
              <a:lnSpc>
                <a:spcPct val="100000"/>
              </a:lnSpc>
              <a:spcBef>
                <a:spcPts val="960"/>
              </a:spcBef>
            </a:pPr>
            <a:endParaRPr sz="950">
              <a:latin typeface="Verdana"/>
              <a:cs typeface="Verdana"/>
            </a:endParaRPr>
          </a:p>
          <a:p>
            <a:pPr>
              <a:lnSpc>
                <a:spcPct val="100000"/>
              </a:lnSpc>
            </a:pPr>
            <a:r>
              <a:rPr sz="950" spc="-50" dirty="0">
                <a:latin typeface="Microsoft JhengHei"/>
                <a:cs typeface="Microsoft JhengHei"/>
              </a:rPr>
              <a:t>1</a:t>
            </a:r>
            <a:endParaRPr sz="950">
              <a:latin typeface="Microsoft JhengHei"/>
              <a:cs typeface="Microsoft JhengHei"/>
            </a:endParaRPr>
          </a:p>
        </p:txBody>
      </p:sp>
      <p:grpSp>
        <p:nvGrpSpPr>
          <p:cNvPr id="5" name="object 5"/>
          <p:cNvGrpSpPr/>
          <p:nvPr/>
        </p:nvGrpSpPr>
        <p:grpSpPr>
          <a:xfrm>
            <a:off x="-7936" y="-7874"/>
            <a:ext cx="12212955" cy="6866255"/>
            <a:chOff x="-7936" y="-7874"/>
            <a:chExt cx="12212955" cy="6866255"/>
          </a:xfrm>
        </p:grpSpPr>
        <p:sp>
          <p:nvSpPr>
            <p:cNvPr id="6" name="object 6"/>
            <p:cNvSpPr/>
            <p:nvPr/>
          </p:nvSpPr>
          <p:spPr>
            <a:xfrm>
              <a:off x="4763" y="4825"/>
              <a:ext cx="12187555" cy="1114425"/>
            </a:xfrm>
            <a:custGeom>
              <a:avLst/>
              <a:gdLst/>
              <a:ahLst/>
              <a:cxnLst/>
              <a:rect l="l" t="t" r="r" b="b"/>
              <a:pathLst>
                <a:path w="12187555" h="1114425">
                  <a:moveTo>
                    <a:pt x="12187236" y="0"/>
                  </a:moveTo>
                  <a:lnTo>
                    <a:pt x="0" y="0"/>
                  </a:lnTo>
                  <a:lnTo>
                    <a:pt x="0" y="1114425"/>
                  </a:lnTo>
                  <a:lnTo>
                    <a:pt x="12187236" y="1114425"/>
                  </a:lnTo>
                  <a:lnTo>
                    <a:pt x="12187236" y="0"/>
                  </a:lnTo>
                  <a:close/>
                </a:path>
              </a:pathLst>
            </a:custGeom>
            <a:solidFill>
              <a:srgbClr val="5B1F1F"/>
            </a:solidFill>
          </p:spPr>
          <p:txBody>
            <a:bodyPr wrap="square" lIns="0" tIns="0" rIns="0" bIns="0" rtlCol="0"/>
            <a:lstStyle/>
            <a:p>
              <a:endParaRPr/>
            </a:p>
          </p:txBody>
        </p:sp>
        <p:sp>
          <p:nvSpPr>
            <p:cNvPr id="7" name="object 7"/>
            <p:cNvSpPr/>
            <p:nvPr/>
          </p:nvSpPr>
          <p:spPr>
            <a:xfrm>
              <a:off x="4763" y="4825"/>
              <a:ext cx="12187555" cy="1114425"/>
            </a:xfrm>
            <a:custGeom>
              <a:avLst/>
              <a:gdLst/>
              <a:ahLst/>
              <a:cxnLst/>
              <a:rect l="l" t="t" r="r" b="b"/>
              <a:pathLst>
                <a:path w="12187555" h="1114425">
                  <a:moveTo>
                    <a:pt x="12187236" y="0"/>
                  </a:moveTo>
                  <a:lnTo>
                    <a:pt x="0" y="0"/>
                  </a:lnTo>
                  <a:lnTo>
                    <a:pt x="0" y="1114425"/>
                  </a:lnTo>
                  <a:lnTo>
                    <a:pt x="12187236" y="1114425"/>
                  </a:lnTo>
                </a:path>
              </a:pathLst>
            </a:custGeom>
            <a:ln w="25400">
              <a:solidFill>
                <a:srgbClr val="622422"/>
              </a:solidFill>
            </a:ln>
          </p:spPr>
          <p:txBody>
            <a:bodyPr wrap="square" lIns="0" tIns="0" rIns="0" bIns="0" rtlCol="0"/>
            <a:lstStyle/>
            <a:p>
              <a:endParaRPr/>
            </a:p>
          </p:txBody>
        </p:sp>
        <p:pic>
          <p:nvPicPr>
            <p:cNvPr id="8" name="object 8"/>
            <p:cNvPicPr/>
            <p:nvPr/>
          </p:nvPicPr>
          <p:blipFill>
            <a:blip r:embed="rId2" cstate="print"/>
            <a:stretch>
              <a:fillRect/>
            </a:stretch>
          </p:blipFill>
          <p:spPr>
            <a:xfrm>
              <a:off x="10896599" y="0"/>
              <a:ext cx="1295400" cy="1114425"/>
            </a:xfrm>
            <a:prstGeom prst="rect">
              <a:avLst/>
            </a:prstGeom>
          </p:spPr>
        </p:pic>
        <p:pic>
          <p:nvPicPr>
            <p:cNvPr id="9" name="object 9"/>
            <p:cNvPicPr/>
            <p:nvPr/>
          </p:nvPicPr>
          <p:blipFill>
            <a:blip r:embed="rId3" cstate="print"/>
            <a:stretch>
              <a:fillRect/>
            </a:stretch>
          </p:blipFill>
          <p:spPr>
            <a:xfrm>
              <a:off x="0" y="1142999"/>
              <a:ext cx="4000499" cy="5714998"/>
            </a:xfrm>
            <a:prstGeom prst="rect">
              <a:avLst/>
            </a:prstGeom>
          </p:spPr>
        </p:pic>
      </p:grpSp>
      <p:sp>
        <p:nvSpPr>
          <p:cNvPr id="10" name="object 10"/>
          <p:cNvSpPr txBox="1">
            <a:spLocks noGrp="1"/>
          </p:cNvSpPr>
          <p:nvPr>
            <p:ph type="title"/>
          </p:nvPr>
        </p:nvSpPr>
        <p:spPr>
          <a:xfrm>
            <a:off x="4883150" y="85343"/>
            <a:ext cx="3618865" cy="575310"/>
          </a:xfrm>
          <a:prstGeom prst="rect">
            <a:avLst/>
          </a:prstGeom>
        </p:spPr>
        <p:txBody>
          <a:bodyPr vert="horz" wrap="square" lIns="0" tIns="13335" rIns="0" bIns="0" rtlCol="0">
            <a:spAutoFit/>
          </a:bodyPr>
          <a:lstStyle/>
          <a:p>
            <a:pPr marL="12700">
              <a:lnSpc>
                <a:spcPct val="100000"/>
              </a:lnSpc>
              <a:spcBef>
                <a:spcPts val="105"/>
              </a:spcBef>
            </a:pPr>
            <a:r>
              <a:rPr sz="3600" b="0" dirty="0">
                <a:solidFill>
                  <a:srgbClr val="FFC000"/>
                </a:solidFill>
                <a:latin typeface="Times New Roman"/>
                <a:cs typeface="Times New Roman"/>
              </a:rPr>
              <a:t>GM</a:t>
            </a:r>
            <a:r>
              <a:rPr sz="3600" b="0" spc="-10" dirty="0">
                <a:solidFill>
                  <a:srgbClr val="FFC000"/>
                </a:solidFill>
                <a:latin typeface="Times New Roman"/>
                <a:cs typeface="Times New Roman"/>
              </a:rPr>
              <a:t> UNIVERSITY</a:t>
            </a:r>
            <a:endParaRPr sz="3600">
              <a:latin typeface="Times New Roman"/>
              <a:cs typeface="Times New Roman"/>
            </a:endParaRPr>
          </a:p>
        </p:txBody>
      </p:sp>
      <p:sp>
        <p:nvSpPr>
          <p:cNvPr id="11" name="object 11"/>
          <p:cNvSpPr txBox="1"/>
          <p:nvPr/>
        </p:nvSpPr>
        <p:spPr>
          <a:xfrm>
            <a:off x="4635118" y="421300"/>
            <a:ext cx="6566281" cy="2464136"/>
          </a:xfrm>
          <a:prstGeom prst="rect">
            <a:avLst/>
          </a:prstGeom>
        </p:spPr>
        <p:txBody>
          <a:bodyPr vert="horz" wrap="square" lIns="0" tIns="266065" rIns="0" bIns="0" rtlCol="0">
            <a:spAutoFit/>
          </a:bodyPr>
          <a:lstStyle/>
          <a:p>
            <a:pPr marL="946785">
              <a:lnSpc>
                <a:spcPct val="100000"/>
              </a:lnSpc>
              <a:spcBef>
                <a:spcPts val="2095"/>
              </a:spcBef>
            </a:pPr>
            <a:r>
              <a:rPr sz="2750" spc="-10" dirty="0">
                <a:solidFill>
                  <a:srgbClr val="FFC000"/>
                </a:solidFill>
                <a:latin typeface="Cambria"/>
                <a:cs typeface="Cambria"/>
              </a:rPr>
              <a:t>Davanagere</a:t>
            </a:r>
            <a:endParaRPr lang="en-IN" sz="2750" dirty="0">
              <a:latin typeface="Cambria"/>
              <a:cs typeface="Cambria"/>
            </a:endParaRPr>
          </a:p>
          <a:p>
            <a:pPr marL="1108075">
              <a:lnSpc>
                <a:spcPct val="100000"/>
              </a:lnSpc>
              <a:spcBef>
                <a:spcPts val="2850"/>
              </a:spcBef>
            </a:pPr>
            <a:r>
              <a:rPr lang="en-IN" sz="3200" b="1" dirty="0">
                <a:latin typeface="Times New Roman"/>
                <a:cs typeface="Times New Roman"/>
              </a:rPr>
              <a:t>   PBL</a:t>
            </a:r>
            <a:r>
              <a:rPr lang="en-IN" sz="3200" b="1" spc="-165" dirty="0">
                <a:latin typeface="Times New Roman"/>
                <a:cs typeface="Times New Roman"/>
              </a:rPr>
              <a:t> </a:t>
            </a:r>
            <a:r>
              <a:rPr lang="en-IN" sz="3200" b="1" dirty="0">
                <a:latin typeface="Times New Roman"/>
                <a:cs typeface="Times New Roman"/>
              </a:rPr>
              <a:t>PRESENTATION  ON</a:t>
            </a:r>
            <a:endParaRPr lang="en-IN" sz="3200" dirty="0">
              <a:latin typeface="Times New Roman"/>
              <a:cs typeface="Times New Roman"/>
            </a:endParaRPr>
          </a:p>
          <a:p>
            <a:pPr marL="704850" marR="5080" indent="-692785" algn="ctr">
              <a:lnSpc>
                <a:spcPct val="100000"/>
              </a:lnSpc>
              <a:spcBef>
                <a:spcPts val="65"/>
              </a:spcBef>
            </a:pPr>
            <a:r>
              <a:rPr lang="en-IN" sz="2750" dirty="0">
                <a:solidFill>
                  <a:srgbClr val="FF0000"/>
                </a:solidFill>
                <a:latin typeface="Times New Roman"/>
                <a:cs typeface="Times New Roman"/>
              </a:rPr>
              <a:t>            “</a:t>
            </a:r>
            <a:r>
              <a:rPr lang="en-IN" sz="2400" dirty="0">
                <a:solidFill>
                  <a:srgbClr val="FF0000"/>
                </a:solidFill>
                <a:latin typeface="Times New Roman"/>
                <a:cs typeface="Times New Roman"/>
              </a:rPr>
              <a:t>DIGITAL VOTING SIMULATION APP”</a:t>
            </a:r>
            <a:endParaRPr lang="en-IN" sz="2400" dirty="0">
              <a:latin typeface="Times New Roman"/>
              <a:cs typeface="Times New Roman"/>
            </a:endParaRPr>
          </a:p>
          <a:p>
            <a:pPr marL="2700655">
              <a:lnSpc>
                <a:spcPct val="100000"/>
              </a:lnSpc>
              <a:spcBef>
                <a:spcPts val="844"/>
              </a:spcBef>
            </a:pPr>
            <a:r>
              <a:rPr sz="2400" b="1" dirty="0">
                <a:solidFill>
                  <a:srgbClr val="00AF50"/>
                </a:solidFill>
                <a:latin typeface="Times New Roman"/>
                <a:cs typeface="Times New Roman"/>
              </a:rPr>
              <a:t>Presented</a:t>
            </a:r>
            <a:r>
              <a:rPr sz="2400" b="1" spc="-95" dirty="0">
                <a:solidFill>
                  <a:srgbClr val="00AF50"/>
                </a:solidFill>
                <a:latin typeface="Times New Roman"/>
                <a:cs typeface="Times New Roman"/>
              </a:rPr>
              <a:t> </a:t>
            </a:r>
            <a:r>
              <a:rPr sz="2400" b="1" spc="-25" dirty="0">
                <a:solidFill>
                  <a:srgbClr val="00AF50"/>
                </a:solidFill>
                <a:latin typeface="Times New Roman"/>
                <a:cs typeface="Times New Roman"/>
              </a:rPr>
              <a:t>by,</a:t>
            </a:r>
            <a:endParaRPr sz="2400" dirty="0">
              <a:latin typeface="Times New Roman"/>
              <a:cs typeface="Times New Roman"/>
            </a:endParaRPr>
          </a:p>
        </p:txBody>
      </p:sp>
      <p:graphicFrame>
        <p:nvGraphicFramePr>
          <p:cNvPr id="14" name="object 14"/>
          <p:cNvGraphicFramePr>
            <a:graphicFrameLocks noGrp="1"/>
          </p:cNvGraphicFramePr>
          <p:nvPr>
            <p:extLst>
              <p:ext uri="{D42A27DB-BD31-4B8C-83A1-F6EECF244321}">
                <p14:modId xmlns:p14="http://schemas.microsoft.com/office/powerpoint/2010/main" val="2192498782"/>
              </p:ext>
            </p:extLst>
          </p:nvPr>
        </p:nvGraphicFramePr>
        <p:xfrm>
          <a:off x="4000499" y="5216843"/>
          <a:ext cx="8187056" cy="1381759"/>
        </p:xfrm>
        <a:graphic>
          <a:graphicData uri="http://schemas.openxmlformats.org/drawingml/2006/table">
            <a:tbl>
              <a:tblPr firstRow="1" bandRow="1">
                <a:tableStyleId>{2D5ABB26-0587-4C30-8999-92F81FD0307C}</a:tableStyleId>
              </a:tblPr>
              <a:tblGrid>
                <a:gridCol w="2614185">
                  <a:extLst>
                    <a:ext uri="{9D8B030D-6E8A-4147-A177-3AD203B41FA5}">
                      <a16:colId xmlns:a16="http://schemas.microsoft.com/office/drawing/2014/main" val="20000"/>
                    </a:ext>
                  </a:extLst>
                </a:gridCol>
                <a:gridCol w="3549035">
                  <a:extLst>
                    <a:ext uri="{9D8B030D-6E8A-4147-A177-3AD203B41FA5}">
                      <a16:colId xmlns:a16="http://schemas.microsoft.com/office/drawing/2014/main" val="20001"/>
                    </a:ext>
                  </a:extLst>
                </a:gridCol>
                <a:gridCol w="2023836">
                  <a:extLst>
                    <a:ext uri="{9D8B030D-6E8A-4147-A177-3AD203B41FA5}">
                      <a16:colId xmlns:a16="http://schemas.microsoft.com/office/drawing/2014/main" val="20002"/>
                    </a:ext>
                  </a:extLst>
                </a:gridCol>
              </a:tblGrid>
              <a:tr h="558645">
                <a:tc>
                  <a:txBody>
                    <a:bodyPr/>
                    <a:lstStyle/>
                    <a:p>
                      <a:pPr marL="31750" algn="ctr">
                        <a:lnSpc>
                          <a:spcPts val="1964"/>
                        </a:lnSpc>
                      </a:pPr>
                      <a:r>
                        <a:rPr lang="en-IN" sz="1800" b="1" spc="-10" dirty="0">
                          <a:solidFill>
                            <a:srgbClr val="00AFEF"/>
                          </a:solidFill>
                          <a:latin typeface="Times New Roman"/>
                          <a:cs typeface="Times New Roman"/>
                        </a:rPr>
                        <a:t>      G</a:t>
                      </a:r>
                      <a:r>
                        <a:rPr sz="1800" b="1" spc="-10" dirty="0">
                          <a:solidFill>
                            <a:srgbClr val="00AFEF"/>
                          </a:solidFill>
                          <a:latin typeface="Times New Roman"/>
                          <a:cs typeface="Times New Roman"/>
                        </a:rPr>
                        <a:t>u</a:t>
                      </a:r>
                      <a:r>
                        <a:rPr lang="en-IN" sz="1800" b="1" spc="-10" dirty="0">
                          <a:solidFill>
                            <a:srgbClr val="00AFEF"/>
                          </a:solidFill>
                          <a:latin typeface="Times New Roman"/>
                          <a:cs typeface="Times New Roman"/>
                        </a:rPr>
                        <a:t>i</a:t>
                      </a:r>
                      <a:r>
                        <a:rPr sz="1800" b="1" spc="-10" dirty="0">
                          <a:solidFill>
                            <a:srgbClr val="00AFEF"/>
                          </a:solidFill>
                          <a:latin typeface="Times New Roman"/>
                          <a:cs typeface="Times New Roman"/>
                        </a:rPr>
                        <a:t>d</a:t>
                      </a:r>
                      <a:r>
                        <a:rPr lang="en-IN" sz="1800" b="1" spc="-10" dirty="0">
                          <a:solidFill>
                            <a:srgbClr val="00AFEF"/>
                          </a:solidFill>
                          <a:latin typeface="Times New Roman"/>
                          <a:cs typeface="Times New Roman"/>
                        </a:rPr>
                        <a:t>e </a:t>
                      </a:r>
                    </a:p>
                    <a:p>
                      <a:pPr marL="31750" algn="ctr">
                        <a:lnSpc>
                          <a:spcPts val="1964"/>
                        </a:lnSpc>
                      </a:pPr>
                      <a:r>
                        <a:rPr lang="en-IN" sz="1800" b="1" spc="-10" dirty="0">
                          <a:solidFill>
                            <a:srgbClr val="00AFEF"/>
                          </a:solidFill>
                          <a:latin typeface="Times New Roman"/>
                          <a:cs typeface="Times New Roman"/>
                        </a:rPr>
                        <a:t>Ms. RAKSHITHA </a:t>
                      </a:r>
                    </a:p>
                    <a:p>
                      <a:pPr marL="31750" algn="ctr">
                        <a:lnSpc>
                          <a:spcPts val="1964"/>
                        </a:lnSpc>
                      </a:pPr>
                      <a:r>
                        <a:rPr lang="en-IN" sz="1800" b="1" spc="-10" dirty="0">
                          <a:solidFill>
                            <a:srgbClr val="00AFEF"/>
                          </a:solidFill>
                          <a:latin typeface="Times New Roman"/>
                          <a:cs typeface="Times New Roman"/>
                        </a:rPr>
                        <a:t>J N</a:t>
                      </a:r>
                    </a:p>
                  </a:txBody>
                  <a:tcPr marL="0" marR="0" marT="0" marB="0">
                    <a:solidFill>
                      <a:srgbClr val="EDEBE0"/>
                    </a:solidFill>
                  </a:tcPr>
                </a:tc>
                <a:tc>
                  <a:txBody>
                    <a:bodyPr/>
                    <a:lstStyle/>
                    <a:p>
                      <a:pPr marL="438784" algn="ctr">
                        <a:lnSpc>
                          <a:spcPts val="1964"/>
                        </a:lnSpc>
                      </a:pPr>
                      <a:r>
                        <a:rPr sz="1800" b="1" dirty="0">
                          <a:solidFill>
                            <a:srgbClr val="00AFEF"/>
                          </a:solidFill>
                          <a:latin typeface="Times New Roman"/>
                          <a:cs typeface="Times New Roman"/>
                        </a:rPr>
                        <a:t>PBL</a:t>
                      </a:r>
                      <a:r>
                        <a:rPr lang="en-IN" sz="1800" b="1" dirty="0">
                          <a:solidFill>
                            <a:srgbClr val="00AFEF"/>
                          </a:solidFill>
                          <a:latin typeface="Times New Roman"/>
                          <a:cs typeface="Times New Roman"/>
                        </a:rPr>
                        <a:t> </a:t>
                      </a:r>
                      <a:r>
                        <a:rPr sz="1800" b="1" spc="-155" dirty="0">
                          <a:solidFill>
                            <a:srgbClr val="00AFEF"/>
                          </a:solidFill>
                          <a:latin typeface="Times New Roman"/>
                          <a:cs typeface="Times New Roman"/>
                        </a:rPr>
                        <a:t> </a:t>
                      </a:r>
                      <a:r>
                        <a:rPr sz="1800" b="1" dirty="0">
                          <a:solidFill>
                            <a:srgbClr val="00AFEF"/>
                          </a:solidFill>
                          <a:latin typeface="Times New Roman"/>
                          <a:cs typeface="Times New Roman"/>
                        </a:rPr>
                        <a:t>Coordinator</a:t>
                      </a:r>
                      <a:r>
                        <a:rPr sz="1800" b="1" spc="25" dirty="0">
                          <a:solidFill>
                            <a:srgbClr val="00AFEF"/>
                          </a:solidFill>
                          <a:latin typeface="Times New Roman"/>
                          <a:cs typeface="Times New Roman"/>
                        </a:rPr>
                        <a:t> </a:t>
                      </a:r>
                      <a:endParaRPr lang="en-IN" sz="1800" b="1" spc="-50" dirty="0">
                        <a:solidFill>
                          <a:srgbClr val="00AFEF"/>
                        </a:solidFill>
                        <a:latin typeface="Times New Roman"/>
                        <a:cs typeface="Times New Roman"/>
                      </a:endParaRPr>
                    </a:p>
                    <a:p>
                      <a:pPr marL="438784" algn="ctr">
                        <a:lnSpc>
                          <a:spcPts val="1964"/>
                        </a:lnSpc>
                      </a:pPr>
                      <a:r>
                        <a:rPr lang="en-IN" sz="1800" b="1" spc="-50" dirty="0">
                          <a:solidFill>
                            <a:srgbClr val="00AFEF"/>
                          </a:solidFill>
                          <a:latin typeface="Times New Roman"/>
                          <a:cs typeface="Times New Roman"/>
                        </a:rPr>
                        <a:t>Mr. MOHAMMAD </a:t>
                      </a:r>
                    </a:p>
                    <a:p>
                      <a:pPr marL="438784" algn="ctr">
                        <a:lnSpc>
                          <a:spcPts val="1964"/>
                        </a:lnSpc>
                      </a:pPr>
                      <a:r>
                        <a:rPr lang="en-IN" sz="1800" b="1" spc="-50" dirty="0">
                          <a:solidFill>
                            <a:srgbClr val="00AFEF"/>
                          </a:solidFill>
                          <a:latin typeface="Times New Roman"/>
                          <a:cs typeface="Times New Roman"/>
                        </a:rPr>
                        <a:t>  ZEESHAN M</a:t>
                      </a:r>
                      <a:endParaRPr sz="1800" dirty="0">
                        <a:latin typeface="Times New Roman"/>
                        <a:cs typeface="Times New Roman"/>
                      </a:endParaRPr>
                    </a:p>
                  </a:txBody>
                  <a:tcPr marL="0" marR="0" marT="0" marB="0">
                    <a:solidFill>
                      <a:srgbClr val="EDEBE0"/>
                    </a:solidFill>
                  </a:tcPr>
                </a:tc>
                <a:tc>
                  <a:txBody>
                    <a:bodyPr/>
                    <a:lstStyle/>
                    <a:p>
                      <a:pPr marL="647065" algn="ctr">
                        <a:lnSpc>
                          <a:spcPts val="1964"/>
                        </a:lnSpc>
                      </a:pPr>
                      <a:r>
                        <a:rPr lang="en-US" sz="1800" b="1" spc="-10" dirty="0">
                          <a:solidFill>
                            <a:srgbClr val="00AFEF"/>
                          </a:solidFill>
                          <a:latin typeface="Times New Roman"/>
                          <a:cs typeface="Times New Roman"/>
                        </a:rPr>
                        <a:t>   HOD</a:t>
                      </a:r>
                      <a:endParaRPr lang="en-US" sz="1800" b="1" spc="-50" dirty="0">
                        <a:solidFill>
                          <a:srgbClr val="00AFEF"/>
                        </a:solidFill>
                        <a:latin typeface="Times New Roman"/>
                        <a:cs typeface="Times New Roman"/>
                      </a:endParaRPr>
                    </a:p>
                    <a:p>
                      <a:pPr marL="647065" algn="ctr">
                        <a:lnSpc>
                          <a:spcPts val="1964"/>
                        </a:lnSpc>
                      </a:pPr>
                      <a:r>
                        <a:rPr lang="en-US" sz="1800" b="1" spc="-50" dirty="0">
                          <a:solidFill>
                            <a:srgbClr val="00AFEF"/>
                          </a:solidFill>
                          <a:latin typeface="Times New Roman"/>
                          <a:cs typeface="Times New Roman"/>
                        </a:rPr>
                        <a:t>Dr. Asha K</a:t>
                      </a:r>
                    </a:p>
                  </a:txBody>
                  <a:tcPr marL="0" marR="0" marT="0" marB="0">
                    <a:solidFill>
                      <a:srgbClr val="EDEBE0"/>
                    </a:solidFill>
                  </a:tcPr>
                </a:tc>
                <a:extLst>
                  <a:ext uri="{0D108BD9-81ED-4DB2-BD59-A6C34878D82A}">
                    <a16:rowId xmlns:a16="http://schemas.microsoft.com/office/drawing/2014/main" val="10000"/>
                  </a:ext>
                </a:extLst>
              </a:tr>
              <a:tr h="231440">
                <a:tc>
                  <a:txBody>
                    <a:bodyPr/>
                    <a:lstStyle/>
                    <a:p>
                      <a:pPr marL="31750">
                        <a:lnSpc>
                          <a:spcPct val="100000"/>
                        </a:lnSpc>
                        <a:spcBef>
                          <a:spcPts val="309"/>
                        </a:spcBef>
                      </a:pPr>
                      <a:endParaRPr sz="1800" dirty="0">
                        <a:latin typeface="Times New Roman"/>
                        <a:cs typeface="Times New Roman"/>
                      </a:endParaRPr>
                    </a:p>
                  </a:txBody>
                  <a:tcPr marL="0" marR="0" marT="39369" marB="0">
                    <a:solidFill>
                      <a:srgbClr val="EDEBE0"/>
                    </a:solidFill>
                  </a:tcPr>
                </a:tc>
                <a:tc>
                  <a:txBody>
                    <a:bodyPr/>
                    <a:lstStyle/>
                    <a:p>
                      <a:pPr marL="429895">
                        <a:lnSpc>
                          <a:spcPct val="100000"/>
                        </a:lnSpc>
                        <a:spcBef>
                          <a:spcPts val="309"/>
                        </a:spcBef>
                      </a:pPr>
                      <a:endParaRPr sz="1800" dirty="0">
                        <a:latin typeface="Times New Roman"/>
                        <a:cs typeface="Times New Roman"/>
                      </a:endParaRPr>
                    </a:p>
                  </a:txBody>
                  <a:tcPr marL="0" marR="0" marT="39369" marB="0">
                    <a:solidFill>
                      <a:srgbClr val="EDEBE0"/>
                    </a:solidFill>
                  </a:tcPr>
                </a:tc>
                <a:tc>
                  <a:txBody>
                    <a:bodyPr/>
                    <a:lstStyle/>
                    <a:p>
                      <a:pPr marL="553085">
                        <a:lnSpc>
                          <a:spcPct val="100000"/>
                        </a:lnSpc>
                        <a:spcBef>
                          <a:spcPts val="309"/>
                        </a:spcBef>
                      </a:pPr>
                      <a:endParaRPr sz="1800" dirty="0">
                        <a:latin typeface="Times New Roman"/>
                        <a:cs typeface="Times New Roman"/>
                      </a:endParaRPr>
                    </a:p>
                  </a:txBody>
                  <a:tcPr marL="0" marR="0" marT="39369" marB="0">
                    <a:solidFill>
                      <a:srgbClr val="EDEBE0"/>
                    </a:solidFill>
                  </a:tcPr>
                </a:tc>
                <a:extLst>
                  <a:ext uri="{0D108BD9-81ED-4DB2-BD59-A6C34878D82A}">
                    <a16:rowId xmlns:a16="http://schemas.microsoft.com/office/drawing/2014/main" val="10001"/>
                  </a:ext>
                </a:extLst>
              </a:tr>
              <a:tr h="224389">
                <a:tc>
                  <a:txBody>
                    <a:bodyPr/>
                    <a:lstStyle/>
                    <a:p>
                      <a:pPr>
                        <a:lnSpc>
                          <a:spcPct val="100000"/>
                        </a:lnSpc>
                      </a:pPr>
                      <a:endParaRPr sz="2000">
                        <a:latin typeface="Times New Roman"/>
                        <a:cs typeface="Times New Roman"/>
                      </a:endParaRPr>
                    </a:p>
                  </a:txBody>
                  <a:tcPr marL="0" marR="0" marT="0" marB="0">
                    <a:solidFill>
                      <a:srgbClr val="EDEBE0"/>
                    </a:solidFill>
                  </a:tcPr>
                </a:tc>
                <a:tc>
                  <a:txBody>
                    <a:bodyPr/>
                    <a:lstStyle/>
                    <a:p>
                      <a:pPr marL="451484">
                        <a:lnSpc>
                          <a:spcPts val="2090"/>
                        </a:lnSpc>
                        <a:spcBef>
                          <a:spcPts val="310"/>
                        </a:spcBef>
                      </a:pPr>
                      <a:endParaRPr sz="1800" dirty="0">
                        <a:latin typeface="Times New Roman"/>
                        <a:cs typeface="Times New Roman"/>
                      </a:endParaRPr>
                    </a:p>
                  </a:txBody>
                  <a:tcPr marL="0" marR="0" marT="39370" marB="0">
                    <a:solidFill>
                      <a:srgbClr val="EDEBE0"/>
                    </a:solidFill>
                  </a:tcPr>
                </a:tc>
                <a:tc>
                  <a:txBody>
                    <a:bodyPr/>
                    <a:lstStyle/>
                    <a:p>
                      <a:pPr>
                        <a:lnSpc>
                          <a:spcPct val="100000"/>
                        </a:lnSpc>
                      </a:pPr>
                      <a:endParaRPr sz="2000" dirty="0">
                        <a:latin typeface="Times New Roman"/>
                        <a:cs typeface="Times New Roman"/>
                      </a:endParaRPr>
                    </a:p>
                  </a:txBody>
                  <a:tcPr marL="0" marR="0" marT="0" marB="0">
                    <a:solidFill>
                      <a:srgbClr val="EDEBE0"/>
                    </a:solidFill>
                  </a:tcPr>
                </a:tc>
                <a:extLst>
                  <a:ext uri="{0D108BD9-81ED-4DB2-BD59-A6C34878D82A}">
                    <a16:rowId xmlns:a16="http://schemas.microsoft.com/office/drawing/2014/main" val="10002"/>
                  </a:ext>
                </a:extLst>
              </a:tr>
            </a:tbl>
          </a:graphicData>
        </a:graphic>
      </p:graphicFrame>
      <p:grpSp>
        <p:nvGrpSpPr>
          <p:cNvPr id="15" name="object 15"/>
          <p:cNvGrpSpPr/>
          <p:nvPr/>
        </p:nvGrpSpPr>
        <p:grpSpPr>
          <a:xfrm>
            <a:off x="-12700" y="6326187"/>
            <a:ext cx="12203430" cy="544830"/>
            <a:chOff x="-12700" y="6326187"/>
            <a:chExt cx="12203430" cy="544830"/>
          </a:xfrm>
        </p:grpSpPr>
        <p:sp>
          <p:nvSpPr>
            <p:cNvPr id="16" name="object 16"/>
            <p:cNvSpPr/>
            <p:nvPr/>
          </p:nvSpPr>
          <p:spPr>
            <a:xfrm>
              <a:off x="0" y="6338887"/>
              <a:ext cx="12178030" cy="519430"/>
            </a:xfrm>
            <a:custGeom>
              <a:avLst/>
              <a:gdLst/>
              <a:ahLst/>
              <a:cxnLst/>
              <a:rect l="l" t="t" r="r" b="b"/>
              <a:pathLst>
                <a:path w="12178030" h="519429">
                  <a:moveTo>
                    <a:pt x="12177711" y="519112"/>
                  </a:moveTo>
                  <a:lnTo>
                    <a:pt x="12177711" y="0"/>
                  </a:lnTo>
                  <a:lnTo>
                    <a:pt x="0" y="0"/>
                  </a:lnTo>
                  <a:lnTo>
                    <a:pt x="0" y="519112"/>
                  </a:lnTo>
                  <a:lnTo>
                    <a:pt x="12177711" y="519112"/>
                  </a:lnTo>
                  <a:close/>
                </a:path>
              </a:pathLst>
            </a:custGeom>
            <a:solidFill>
              <a:srgbClr val="622422"/>
            </a:solidFill>
          </p:spPr>
          <p:txBody>
            <a:bodyPr wrap="square" lIns="0" tIns="0" rIns="0" bIns="0" rtlCol="0"/>
            <a:lstStyle/>
            <a:p>
              <a:endParaRPr/>
            </a:p>
          </p:txBody>
        </p:sp>
        <p:sp>
          <p:nvSpPr>
            <p:cNvPr id="17" name="object 17"/>
            <p:cNvSpPr/>
            <p:nvPr/>
          </p:nvSpPr>
          <p:spPr>
            <a:xfrm>
              <a:off x="0" y="6338887"/>
              <a:ext cx="12178030" cy="519430"/>
            </a:xfrm>
            <a:custGeom>
              <a:avLst/>
              <a:gdLst/>
              <a:ahLst/>
              <a:cxnLst/>
              <a:rect l="l" t="t" r="r" b="b"/>
              <a:pathLst>
                <a:path w="12178030" h="519429">
                  <a:moveTo>
                    <a:pt x="12177711" y="519112"/>
                  </a:moveTo>
                  <a:lnTo>
                    <a:pt x="12177711" y="0"/>
                  </a:lnTo>
                  <a:lnTo>
                    <a:pt x="0" y="0"/>
                  </a:lnTo>
                </a:path>
              </a:pathLst>
            </a:custGeom>
            <a:ln w="25400">
              <a:solidFill>
                <a:srgbClr val="622422"/>
              </a:solidFill>
            </a:ln>
          </p:spPr>
          <p:txBody>
            <a:bodyPr wrap="square" lIns="0" tIns="0" rIns="0" bIns="0" rtlCol="0"/>
            <a:lstStyle/>
            <a:p>
              <a:endParaRPr/>
            </a:p>
          </p:txBody>
        </p:sp>
      </p:gr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19" name="TextBox 18">
            <a:extLst>
              <a:ext uri="{FF2B5EF4-FFF2-40B4-BE49-F238E27FC236}">
                <a16:creationId xmlns:a16="http://schemas.microsoft.com/office/drawing/2014/main" id="{E266B8EA-21E8-7688-0EC3-0C6BFC3F9D5D}"/>
              </a:ext>
            </a:extLst>
          </p:cNvPr>
          <p:cNvSpPr txBox="1"/>
          <p:nvPr/>
        </p:nvSpPr>
        <p:spPr>
          <a:xfrm>
            <a:off x="4953000" y="3247072"/>
            <a:ext cx="6433185" cy="1477328"/>
          </a:xfrm>
          <a:prstGeom prst="rect">
            <a:avLst/>
          </a:prstGeom>
          <a:noFill/>
        </p:spPr>
        <p:txBody>
          <a:bodyPr wrap="square" rtlCol="0">
            <a:spAutoFit/>
          </a:bodyPr>
          <a:lstStyle/>
          <a:p>
            <a:r>
              <a:rPr lang="en-US" dirty="0"/>
              <a:t>IMRAN HASHMI </a:t>
            </a:r>
            <a:r>
              <a:rPr lang="en-US" sz="1800" dirty="0"/>
              <a:t>	       	-	U25E01AI050</a:t>
            </a:r>
          </a:p>
          <a:p>
            <a:r>
              <a:rPr lang="en-US" sz="1800" dirty="0"/>
              <a:t>KARTHIK	</a:t>
            </a:r>
            <a:r>
              <a:rPr lang="en-US" dirty="0"/>
              <a:t>       	</a:t>
            </a:r>
            <a:r>
              <a:rPr lang="en-US" sz="1800" dirty="0"/>
              <a:t>-	U25E01AI053</a:t>
            </a:r>
          </a:p>
          <a:p>
            <a:r>
              <a:rPr lang="en-US" sz="1800" dirty="0"/>
              <a:t>KEERTI S BINJADAGI	</a:t>
            </a:r>
            <a:r>
              <a:rPr lang="en-US" dirty="0"/>
              <a:t>-	</a:t>
            </a:r>
            <a:r>
              <a:rPr lang="en-US" sz="1800" dirty="0"/>
              <a:t>U25E01AI056</a:t>
            </a:r>
          </a:p>
          <a:p>
            <a:r>
              <a:rPr lang="en-US" sz="1800" dirty="0"/>
              <a:t>KEERTHANA R	       	</a:t>
            </a:r>
            <a:r>
              <a:rPr lang="en-US" dirty="0"/>
              <a:t>-	</a:t>
            </a:r>
            <a:r>
              <a:rPr lang="en-US" sz="1800" dirty="0"/>
              <a:t>U25E01AI055</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CONTENTS</a:t>
            </a:r>
            <a:endParaRPr lang="en-US" sz="4000" b="1" dirty="0">
              <a:solidFill>
                <a:srgbClr val="FF0000"/>
              </a:solidFill>
            </a:endParaRPr>
          </a:p>
        </p:txBody>
      </p:sp>
      <p:sp>
        <p:nvSpPr>
          <p:cNvPr id="12" name="object 4">
            <a:extLst>
              <a:ext uri="{FF2B5EF4-FFF2-40B4-BE49-F238E27FC236}">
                <a16:creationId xmlns:a16="http://schemas.microsoft.com/office/drawing/2014/main" id="{24D4CA09-A8BD-43B2-B6A0-339B66FABE38}"/>
              </a:ext>
            </a:extLst>
          </p:cNvPr>
          <p:cNvSpPr txBox="1"/>
          <p:nvPr/>
        </p:nvSpPr>
        <p:spPr>
          <a:xfrm>
            <a:off x="656935" y="843359"/>
            <a:ext cx="5719445" cy="5547801"/>
          </a:xfrm>
          <a:prstGeom prst="rect">
            <a:avLst/>
          </a:prstGeom>
        </p:spPr>
        <p:txBody>
          <a:bodyPr vert="horz" wrap="square" lIns="0" tIns="15875" rIns="0" bIns="0" rtlCol="0">
            <a:spAutoFit/>
          </a:bodyPr>
          <a:lstStyle/>
          <a:p>
            <a:pPr marL="12700">
              <a:lnSpc>
                <a:spcPct val="150000"/>
              </a:lnSpc>
              <a:spcBef>
                <a:spcPts val="2710"/>
              </a:spcBef>
              <a:tabLst>
                <a:tab pos="367665" algn="l"/>
              </a:tabLst>
            </a:pPr>
            <a:r>
              <a:rPr lang="en-IN" sz="2800" spc="-10" dirty="0">
                <a:latin typeface="Times New Roman"/>
                <a:cs typeface="Times New Roman"/>
              </a:rPr>
              <a:t>1. Abstracts</a:t>
            </a:r>
          </a:p>
          <a:p>
            <a:pPr marL="12700">
              <a:lnSpc>
                <a:spcPct val="150000"/>
              </a:lnSpc>
              <a:spcBef>
                <a:spcPts val="2710"/>
              </a:spcBef>
              <a:tabLst>
                <a:tab pos="367665" algn="l"/>
              </a:tabLst>
            </a:pPr>
            <a:r>
              <a:rPr lang="en-IN" sz="2800" spc="-10" dirty="0">
                <a:latin typeface="Times New Roman"/>
                <a:cs typeface="Times New Roman"/>
              </a:rPr>
              <a:t>2. </a:t>
            </a:r>
            <a:r>
              <a:rPr sz="2800" spc="-10" dirty="0">
                <a:latin typeface="Times New Roman"/>
                <a:cs typeface="Times New Roman"/>
              </a:rPr>
              <a:t>Introduction</a:t>
            </a:r>
            <a:endParaRPr sz="2800" dirty="0">
              <a:latin typeface="Times New Roman"/>
              <a:cs typeface="Times New Roman"/>
            </a:endParaRPr>
          </a:p>
          <a:p>
            <a:pPr marL="12700">
              <a:lnSpc>
                <a:spcPct val="150000"/>
              </a:lnSpc>
              <a:spcBef>
                <a:spcPts val="2710"/>
              </a:spcBef>
              <a:tabLst>
                <a:tab pos="367665" algn="l"/>
              </a:tabLst>
            </a:pPr>
            <a:r>
              <a:rPr lang="en-IN" sz="2800" dirty="0">
                <a:latin typeface="Times New Roman"/>
                <a:cs typeface="Times New Roman"/>
              </a:rPr>
              <a:t>3. </a:t>
            </a:r>
            <a:r>
              <a:rPr sz="2800" dirty="0">
                <a:latin typeface="Times New Roman"/>
                <a:cs typeface="Times New Roman"/>
              </a:rPr>
              <a:t>Problem</a:t>
            </a:r>
            <a:r>
              <a:rPr sz="2800" spc="165" dirty="0">
                <a:latin typeface="Times New Roman"/>
                <a:cs typeface="Times New Roman"/>
              </a:rPr>
              <a:t> </a:t>
            </a:r>
            <a:r>
              <a:rPr sz="2800" spc="-10" dirty="0">
                <a:latin typeface="Times New Roman"/>
                <a:cs typeface="Times New Roman"/>
              </a:rPr>
              <a:t>statement</a:t>
            </a:r>
            <a:endParaRPr sz="2800" dirty="0">
              <a:latin typeface="Times New Roman"/>
              <a:cs typeface="Times New Roman"/>
            </a:endParaRPr>
          </a:p>
          <a:p>
            <a:pPr marL="12700">
              <a:lnSpc>
                <a:spcPct val="150000"/>
              </a:lnSpc>
              <a:spcBef>
                <a:spcPts val="2705"/>
              </a:spcBef>
              <a:tabLst>
                <a:tab pos="367665" algn="l"/>
              </a:tabLst>
            </a:pPr>
            <a:r>
              <a:rPr lang="en-IN" sz="2800" dirty="0">
                <a:latin typeface="Times New Roman"/>
                <a:cs typeface="Times New Roman"/>
              </a:rPr>
              <a:t>4. </a:t>
            </a:r>
            <a:r>
              <a:rPr sz="2800" dirty="0">
                <a:latin typeface="Times New Roman"/>
                <a:cs typeface="Times New Roman"/>
              </a:rPr>
              <a:t>Objectives</a:t>
            </a:r>
          </a:p>
          <a:p>
            <a:pPr marL="12700">
              <a:lnSpc>
                <a:spcPct val="150000"/>
              </a:lnSpc>
              <a:spcBef>
                <a:spcPts val="2710"/>
              </a:spcBef>
              <a:tabLst>
                <a:tab pos="367665" algn="l"/>
              </a:tabLst>
            </a:pPr>
            <a:r>
              <a:rPr lang="en-IN" sz="2800" dirty="0">
                <a:latin typeface="Times New Roman"/>
                <a:cs typeface="Times New Roman"/>
              </a:rPr>
              <a:t>5. Methodology</a:t>
            </a:r>
          </a:p>
          <a:p>
            <a:pPr marL="12700">
              <a:lnSpc>
                <a:spcPct val="150000"/>
              </a:lnSpc>
              <a:spcBef>
                <a:spcPts val="2710"/>
              </a:spcBef>
              <a:tabLst>
                <a:tab pos="367665" algn="l"/>
              </a:tabLst>
            </a:pPr>
            <a:r>
              <a:rPr lang="en-IN" sz="2800" dirty="0">
                <a:latin typeface="Times New Roman"/>
                <a:cs typeface="Times New Roman"/>
              </a:rPr>
              <a:t>6. Software and hardware specifications</a:t>
            </a:r>
            <a:endParaRPr sz="2800" dirty="0">
              <a:latin typeface="Times New Roman"/>
              <a:cs typeface="Times New Roman"/>
            </a:endParaRPr>
          </a:p>
        </p:txBody>
      </p:sp>
    </p:spTree>
    <p:extLst>
      <p:ext uri="{BB962C8B-B14F-4D97-AF65-F5344CB8AC3E}">
        <p14:creationId xmlns:p14="http://schemas.microsoft.com/office/powerpoint/2010/main" val="1747906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ABSTRACT</a:t>
            </a:r>
            <a:endParaRPr lang="en-US" sz="4000" b="1" dirty="0">
              <a:solidFill>
                <a:srgbClr val="FF0000"/>
              </a:solidFill>
            </a:endParaRPr>
          </a:p>
        </p:txBody>
      </p:sp>
      <p:sp>
        <p:nvSpPr>
          <p:cNvPr id="4" name="TextBox 3">
            <a:extLst>
              <a:ext uri="{FF2B5EF4-FFF2-40B4-BE49-F238E27FC236}">
                <a16:creationId xmlns:a16="http://schemas.microsoft.com/office/drawing/2014/main" id="{F492C2C9-F00E-5118-CF82-79F372590F5E}"/>
              </a:ext>
            </a:extLst>
          </p:cNvPr>
          <p:cNvSpPr txBox="1"/>
          <p:nvPr/>
        </p:nvSpPr>
        <p:spPr>
          <a:xfrm>
            <a:off x="1618612" y="1193921"/>
            <a:ext cx="8232250" cy="4613058"/>
          </a:xfrm>
          <a:prstGeom prst="rect">
            <a:avLst/>
          </a:prstGeom>
          <a:noFill/>
        </p:spPr>
        <p:txBody>
          <a:bodyPr wrap="square">
            <a:spAutoFit/>
          </a:bodyPr>
          <a:lstStyle/>
          <a:p>
            <a:pPr algn="just">
              <a:lnSpc>
                <a:spcPct val="150000"/>
              </a:lnSpc>
              <a:buNone/>
            </a:pPr>
            <a:r>
              <a:rPr lang="en-US" sz="1800" dirty="0">
                <a:effectLst/>
                <a:latin typeface="Times New Roman" panose="02020603050405020304" pitchFamily="18" charset="0"/>
                <a:ea typeface="Times New Roman" panose="02020603050405020304" pitchFamily="18" charset="0"/>
              </a:rPr>
              <a:t>This project presents the frontend development of a </a:t>
            </a:r>
            <a:r>
              <a:rPr lang="en-US" sz="1800" b="1" dirty="0">
                <a:effectLst/>
                <a:latin typeface="Times New Roman" panose="02020603050405020304" pitchFamily="18" charset="0"/>
                <a:ea typeface="Times New Roman" panose="02020603050405020304" pitchFamily="18" charset="0"/>
              </a:rPr>
              <a:t>Digital Voting Simulation Application</a:t>
            </a:r>
            <a:r>
              <a:rPr lang="en-US" sz="1800" dirty="0">
                <a:effectLst/>
                <a:latin typeface="Times New Roman" panose="02020603050405020304" pitchFamily="18" charset="0"/>
                <a:ea typeface="Times New Roman" panose="02020603050405020304" pitchFamily="18" charset="0"/>
              </a:rPr>
              <a:t>, designed to replicate the core experience of electronic voting in a secure, educational, and user-friendly format. Built entirely using </a:t>
            </a:r>
            <a:r>
              <a:rPr lang="en-US" sz="1800" b="1" dirty="0">
                <a:effectLst/>
                <a:latin typeface="Times New Roman" panose="02020603050405020304" pitchFamily="18" charset="0"/>
                <a:ea typeface="Times New Roman" panose="02020603050405020304" pitchFamily="18" charset="0"/>
              </a:rPr>
              <a:t>HTML, CSS, and JavaScript</a:t>
            </a:r>
            <a:r>
              <a:rPr lang="en-US" sz="1800" dirty="0">
                <a:effectLst/>
                <a:latin typeface="Times New Roman" panose="02020603050405020304" pitchFamily="18" charset="0"/>
                <a:ea typeface="Times New Roman" panose="02020603050405020304" pitchFamily="18" charset="0"/>
              </a:rPr>
              <a:t>, and visually enhanced with design assets from </a:t>
            </a:r>
            <a:r>
              <a:rPr lang="en-US" sz="1800" b="1" dirty="0">
                <a:effectLst/>
                <a:latin typeface="Times New Roman" panose="02020603050405020304" pitchFamily="18" charset="0"/>
                <a:ea typeface="Times New Roman" panose="02020603050405020304" pitchFamily="18" charset="0"/>
              </a:rPr>
              <a:t>Canva</a:t>
            </a:r>
            <a:r>
              <a:rPr lang="en-US" sz="1800" dirty="0">
                <a:effectLst/>
                <a:latin typeface="Times New Roman" panose="02020603050405020304" pitchFamily="18" charset="0"/>
                <a:ea typeface="Times New Roman" panose="02020603050405020304" pitchFamily="18" charset="0"/>
              </a:rPr>
              <a:t>, the application simulates key stages of the voting process—voter login, candidate selection, vote casting, and result display—within a clean and responsive interface.</a:t>
            </a:r>
            <a:endParaRPr lang="en-US" sz="1600" dirty="0">
              <a:effectLst/>
              <a:latin typeface="Times New Roman" panose="02020603050405020304" pitchFamily="18" charset="0"/>
              <a:ea typeface="Times New Roman" panose="02020603050405020304" pitchFamily="18" charset="0"/>
            </a:endParaRPr>
          </a:p>
          <a:p>
            <a:pPr algn="just">
              <a:lnSpc>
                <a:spcPct val="150000"/>
              </a:lnSpc>
              <a:buNone/>
            </a:pPr>
            <a:r>
              <a:rPr lang="en-US" sz="1800" dirty="0">
                <a:effectLst/>
                <a:latin typeface="Times New Roman" panose="02020603050405020304" pitchFamily="18" charset="0"/>
                <a:ea typeface="Times New Roman" panose="02020603050405020304" pitchFamily="18" charset="0"/>
              </a:rPr>
              <a:t>The goal is to promote civic awareness and digital literacy by offering users an interactive platform that mimics real-world voting systems without relying on backend infrastructure. The interface is structured with semantic HTML, styled using responsive CSS, and powered by JavaScript to enable dynamic behaviors such as form validation, vote tracking, and real-time result updates.</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98740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INTRODUCTION</a:t>
            </a:r>
            <a:endParaRPr lang="en-US" sz="4000" b="1" dirty="0">
              <a:solidFill>
                <a:srgbClr val="FF0000"/>
              </a:solidFill>
            </a:endParaRPr>
          </a:p>
        </p:txBody>
      </p:sp>
      <p:sp>
        <p:nvSpPr>
          <p:cNvPr id="4" name="TextBox 3">
            <a:extLst>
              <a:ext uri="{FF2B5EF4-FFF2-40B4-BE49-F238E27FC236}">
                <a16:creationId xmlns:a16="http://schemas.microsoft.com/office/drawing/2014/main" id="{F1739914-6A5B-2875-E1CF-EC995972826F}"/>
              </a:ext>
            </a:extLst>
          </p:cNvPr>
          <p:cNvSpPr txBox="1"/>
          <p:nvPr/>
        </p:nvSpPr>
        <p:spPr>
          <a:xfrm>
            <a:off x="1527648" y="1435601"/>
            <a:ext cx="8305324" cy="4210383"/>
          </a:xfrm>
          <a:prstGeom prst="rect">
            <a:avLst/>
          </a:prstGeom>
          <a:noFill/>
        </p:spPr>
        <p:txBody>
          <a:bodyPr wrap="square">
            <a:spAutoFit/>
          </a:bodyPr>
          <a:lstStyle/>
          <a:p>
            <a:pPr algn="just">
              <a:lnSpc>
                <a:spcPct val="150000"/>
              </a:lnSpc>
              <a:spcBef>
                <a:spcPts val="60"/>
              </a:spcBef>
              <a:buNone/>
            </a:pPr>
            <a:r>
              <a:rPr lang="en-US" sz="1800" dirty="0">
                <a:effectLst/>
                <a:latin typeface="Times New Roman" panose="02020603050405020304" pitchFamily="18" charset="0"/>
                <a:ea typeface="Times New Roman" panose="02020603050405020304" pitchFamily="18" charset="0"/>
              </a:rPr>
              <a:t>Voting is the foundation of democratic participation, yet many individuals—especially students and first-time voters—lack exposure to how digital voting systems function. In an increasingly digital world, understanding the mechanics of electronic voting is essential for civic awareness and technological literacy.</a:t>
            </a:r>
          </a:p>
          <a:p>
            <a:pPr algn="just">
              <a:lnSpc>
                <a:spcPct val="150000"/>
              </a:lnSpc>
              <a:spcBef>
                <a:spcPts val="60"/>
              </a:spcBef>
              <a:buNone/>
            </a:pPr>
            <a:r>
              <a:rPr lang="en-US" sz="1800" dirty="0">
                <a:effectLst/>
                <a:latin typeface="Times New Roman" panose="02020603050405020304" pitchFamily="18" charset="0"/>
                <a:ea typeface="Times New Roman" panose="02020603050405020304" pitchFamily="18" charset="0"/>
              </a:rPr>
              <a:t>This project introduces a </a:t>
            </a:r>
            <a:r>
              <a:rPr lang="en-US" sz="1800" b="1" dirty="0">
                <a:effectLst/>
                <a:latin typeface="Times New Roman" panose="02020603050405020304" pitchFamily="18" charset="0"/>
                <a:ea typeface="Times New Roman" panose="02020603050405020304" pitchFamily="18" charset="0"/>
              </a:rPr>
              <a:t>Digital Voting Simulation Application</a:t>
            </a:r>
            <a:r>
              <a:rPr lang="en-US" sz="1800" dirty="0">
                <a:effectLst/>
                <a:latin typeface="Times New Roman" panose="02020603050405020304" pitchFamily="18" charset="0"/>
                <a:ea typeface="Times New Roman" panose="02020603050405020304" pitchFamily="18" charset="0"/>
              </a:rPr>
              <a:t>, developed entirely using </a:t>
            </a:r>
            <a:r>
              <a:rPr lang="en-US" sz="1800" b="1" dirty="0">
                <a:effectLst/>
                <a:latin typeface="Times New Roman" panose="02020603050405020304" pitchFamily="18" charset="0"/>
                <a:ea typeface="Times New Roman" panose="02020603050405020304" pitchFamily="18" charset="0"/>
              </a:rPr>
              <a:t>HTML, CSS, and JavaScript</a:t>
            </a:r>
            <a:r>
              <a:rPr lang="en-US" sz="1800" dirty="0">
                <a:effectLst/>
                <a:latin typeface="Times New Roman" panose="02020603050405020304" pitchFamily="18" charset="0"/>
                <a:ea typeface="Times New Roman" panose="02020603050405020304" pitchFamily="18" charset="0"/>
              </a:rPr>
              <a:t>, with visual assets designed in </a:t>
            </a:r>
            <a:r>
              <a:rPr lang="en-US" sz="1800" b="1" dirty="0">
                <a:effectLst/>
                <a:latin typeface="Times New Roman" panose="02020603050405020304" pitchFamily="18" charset="0"/>
                <a:ea typeface="Times New Roman" panose="02020603050405020304" pitchFamily="18" charset="0"/>
              </a:rPr>
              <a:t>Canva</a:t>
            </a:r>
            <a:r>
              <a:rPr lang="en-US" sz="1800" dirty="0">
                <a:effectLst/>
                <a:latin typeface="Times New Roman" panose="02020603050405020304" pitchFamily="18" charset="0"/>
                <a:ea typeface="Times New Roman" panose="02020603050405020304" pitchFamily="18" charset="0"/>
              </a:rPr>
              <a:t>. The goal is to create an interactive, educational platform that simulates the voting process in a secure and user-friendly environment. By mimicking real-world voting stages—such as voter login, candidate selection, vote casting, and result display—the app offers users a hands-on experience without requiring backend infrastructure or sensitive data handling.</a:t>
            </a:r>
          </a:p>
        </p:txBody>
      </p:sp>
    </p:spTree>
    <p:extLst>
      <p:ext uri="{BB962C8B-B14F-4D97-AF65-F5344CB8AC3E}">
        <p14:creationId xmlns:p14="http://schemas.microsoft.com/office/powerpoint/2010/main" val="2767264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PROBLEM STATEMENT</a:t>
            </a:r>
            <a:endParaRPr lang="en-US" sz="4000" b="1" dirty="0">
              <a:solidFill>
                <a:srgbClr val="FF0000"/>
              </a:solidFill>
            </a:endParaRPr>
          </a:p>
        </p:txBody>
      </p:sp>
      <p:sp>
        <p:nvSpPr>
          <p:cNvPr id="4" name="TextBox 3">
            <a:extLst>
              <a:ext uri="{FF2B5EF4-FFF2-40B4-BE49-F238E27FC236}">
                <a16:creationId xmlns:a16="http://schemas.microsoft.com/office/drawing/2014/main" id="{10AB5796-7B21-F09B-91CE-2C24B5713DFB}"/>
              </a:ext>
            </a:extLst>
          </p:cNvPr>
          <p:cNvSpPr txBox="1"/>
          <p:nvPr/>
        </p:nvSpPr>
        <p:spPr>
          <a:xfrm>
            <a:off x="1198562" y="1351265"/>
            <a:ext cx="9490075" cy="2120068"/>
          </a:xfrm>
          <a:prstGeom prst="rect">
            <a:avLst/>
          </a:prstGeom>
          <a:noFill/>
        </p:spPr>
        <p:txBody>
          <a:bodyPr wrap="square">
            <a:spAutoFit/>
          </a:bodyPr>
          <a:lstStyle/>
          <a:p>
            <a:pPr algn="just">
              <a:lnSpc>
                <a:spcPct val="150000"/>
              </a:lnSpc>
              <a:spcBef>
                <a:spcPts val="60"/>
              </a:spcBef>
              <a:buNone/>
            </a:pPr>
            <a:r>
              <a:rPr lang="en-US" sz="1800" dirty="0">
                <a:effectLst/>
                <a:latin typeface="Times New Roman" panose="02020603050405020304" pitchFamily="18" charset="0"/>
                <a:ea typeface="Times New Roman" panose="02020603050405020304" pitchFamily="18" charset="0"/>
              </a:rPr>
              <a:t>Traditional voting systems are often slow, manual, and prone to human errors. Our challenge: build a Digital Voting Simulation App that transforms abstract civic concepts into an interactive experience—using HTML, CSS, JavaScript, and Canva to create a story-driven, gamified, and visually rich platform. The goal is to make voting feel personal, accessible, and memorable for learners across diverse backgrounds.</a:t>
            </a:r>
          </a:p>
        </p:txBody>
      </p:sp>
    </p:spTree>
    <p:extLst>
      <p:ext uri="{BB962C8B-B14F-4D97-AF65-F5344CB8AC3E}">
        <p14:creationId xmlns:p14="http://schemas.microsoft.com/office/powerpoint/2010/main" val="2663632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OBJECTIVES</a:t>
            </a:r>
            <a:endParaRPr lang="en-US" sz="4000" b="1" dirty="0">
              <a:solidFill>
                <a:srgbClr val="FF0000"/>
              </a:solidFill>
            </a:endParaRPr>
          </a:p>
        </p:txBody>
      </p:sp>
      <p:sp>
        <p:nvSpPr>
          <p:cNvPr id="4" name="TextBox 3">
            <a:extLst>
              <a:ext uri="{FF2B5EF4-FFF2-40B4-BE49-F238E27FC236}">
                <a16:creationId xmlns:a16="http://schemas.microsoft.com/office/drawing/2014/main" id="{F23C0EDE-0223-61F0-1641-AC2D6A658F78}"/>
              </a:ext>
            </a:extLst>
          </p:cNvPr>
          <p:cNvSpPr txBox="1"/>
          <p:nvPr/>
        </p:nvSpPr>
        <p:spPr>
          <a:xfrm>
            <a:off x="1286248" y="1270152"/>
            <a:ext cx="7856550" cy="3028008"/>
          </a:xfrm>
          <a:prstGeom prst="rect">
            <a:avLst/>
          </a:prstGeom>
          <a:noFill/>
        </p:spPr>
        <p:txBody>
          <a:bodyPr wrap="square">
            <a:spAutoFit/>
          </a:bodyPr>
          <a:lstStyle/>
          <a:p>
            <a:pPr marL="342900" lvl="0" indent="-342900" algn="just" rtl="0">
              <a:lnSpc>
                <a:spcPct val="150000"/>
              </a:lnSpc>
              <a:spcBef>
                <a:spcPts val="300"/>
              </a:spcBef>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Build a structured frontend interface</a:t>
            </a:r>
            <a:r>
              <a:rPr lang="en-US" sz="1800" dirty="0">
                <a:effectLst/>
                <a:latin typeface="Times New Roman" panose="02020603050405020304" pitchFamily="18" charset="0"/>
                <a:ea typeface="Times New Roman" panose="02020603050405020304" pitchFamily="18" charset="0"/>
              </a:rPr>
              <a:t> using semantic </a:t>
            </a:r>
            <a:r>
              <a:rPr lang="en-US" sz="1800" b="1" dirty="0">
                <a:effectLst/>
                <a:latin typeface="Times New Roman" panose="02020603050405020304" pitchFamily="18" charset="0"/>
                <a:ea typeface="Times New Roman" panose="02020603050405020304" pitchFamily="18" charset="0"/>
              </a:rPr>
              <a:t>HTML5</a:t>
            </a:r>
            <a:r>
              <a:rPr lang="en-US" sz="1800" dirty="0">
                <a:effectLst/>
                <a:latin typeface="Times New Roman" panose="02020603050405020304" pitchFamily="18" charset="0"/>
                <a:ea typeface="Times New Roman" panose="02020603050405020304" pitchFamily="18" charset="0"/>
              </a:rPr>
              <a:t> to represent key stages of the voting process: login, candidate selection, vote casting, and result display.</a:t>
            </a:r>
            <a:endParaRPr lang="en-US" sz="1600" dirty="0">
              <a:latin typeface="Times New Roman" panose="02020603050405020304" pitchFamily="18" charset="0"/>
              <a:ea typeface="Times New Roman" panose="02020603050405020304" pitchFamily="18" charset="0"/>
            </a:endParaRPr>
          </a:p>
          <a:p>
            <a:pPr marL="342900" lvl="0" indent="-342900" algn="just" rtl="0">
              <a:lnSpc>
                <a:spcPct val="150000"/>
              </a:lnSpc>
              <a:spcBef>
                <a:spcPts val="300"/>
              </a:spcBef>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Design civic-themed visual assets</a:t>
            </a:r>
            <a:r>
              <a:rPr lang="en-US" sz="1800" dirty="0">
                <a:effectLst/>
                <a:latin typeface="Times New Roman" panose="02020603050405020304" pitchFamily="18" charset="0"/>
                <a:ea typeface="Times New Roman" panose="02020603050405020304" pitchFamily="18" charset="0"/>
              </a:rPr>
              <a:t> using </a:t>
            </a:r>
            <a:r>
              <a:rPr lang="en-US" sz="1800" b="1" dirty="0">
                <a:effectLst/>
                <a:latin typeface="Times New Roman" panose="02020603050405020304" pitchFamily="18" charset="0"/>
                <a:ea typeface="Times New Roman" panose="02020603050405020304" pitchFamily="18" charset="0"/>
              </a:rPr>
              <a:t>Canva</a:t>
            </a:r>
            <a:r>
              <a:rPr lang="en-US" sz="1800" dirty="0">
                <a:effectLst/>
                <a:latin typeface="Times New Roman" panose="02020603050405020304" pitchFamily="18" charset="0"/>
                <a:ea typeface="Times New Roman" panose="02020603050405020304" pitchFamily="18" charset="0"/>
              </a:rPr>
              <a:t>, including banners, icons, and UI mockups that reflect democratic values and enhance user engagement.</a:t>
            </a:r>
            <a:endParaRPr lang="en-US" sz="1600" dirty="0">
              <a:latin typeface="Times New Roman" panose="02020603050405020304" pitchFamily="18" charset="0"/>
              <a:ea typeface="Times New Roman" panose="02020603050405020304" pitchFamily="18" charset="0"/>
            </a:endParaRPr>
          </a:p>
          <a:p>
            <a:pPr marL="342900" lvl="0" indent="-342900" algn="just" rtl="0">
              <a:lnSpc>
                <a:spcPct val="150000"/>
              </a:lnSpc>
              <a:spcBef>
                <a:spcPts val="300"/>
              </a:spcBef>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Style the application with responsive CSS3</a:t>
            </a:r>
            <a:r>
              <a:rPr lang="en-US" sz="1800" dirty="0">
                <a:effectLst/>
                <a:latin typeface="Times New Roman" panose="02020603050405020304" pitchFamily="18" charset="0"/>
                <a:ea typeface="Times New Roman" panose="02020603050405020304" pitchFamily="18" charset="0"/>
              </a:rPr>
              <a:t>, ensuring compatibility across devices and screen sizes while maintaining a clean and professional look.</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84137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304800" y="201771"/>
            <a:ext cx="11726795"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SOFTWARE REQUIREMENTS</a:t>
            </a:r>
            <a:endParaRPr lang="en-US" sz="4000" b="1" dirty="0">
              <a:solidFill>
                <a:srgbClr val="FF0000"/>
              </a:solidFill>
            </a:endParaRPr>
          </a:p>
        </p:txBody>
      </p:sp>
      <p:sp>
        <p:nvSpPr>
          <p:cNvPr id="3" name="TextBox 2">
            <a:extLst>
              <a:ext uri="{FF2B5EF4-FFF2-40B4-BE49-F238E27FC236}">
                <a16:creationId xmlns:a16="http://schemas.microsoft.com/office/drawing/2014/main" id="{A2B8BFAE-0353-B33E-E552-F0F579A3187D}"/>
              </a:ext>
            </a:extLst>
          </p:cNvPr>
          <p:cNvSpPr txBox="1"/>
          <p:nvPr/>
        </p:nvSpPr>
        <p:spPr>
          <a:xfrm>
            <a:off x="1600200" y="1544125"/>
            <a:ext cx="7551750" cy="4051365"/>
          </a:xfrm>
          <a:prstGeom prst="rect">
            <a:avLst/>
          </a:prstGeom>
          <a:noFill/>
        </p:spPr>
        <p:txBody>
          <a:bodyPr wrap="square">
            <a:spAutoFit/>
          </a:bodyPr>
          <a:lstStyle/>
          <a:p>
            <a:pPr marL="285750" lvl="0" indent="-285750" rtl="0">
              <a:lnSpc>
                <a:spcPct val="150000"/>
              </a:lnSpc>
              <a:spcBef>
                <a:spcPts val="300"/>
              </a:spcBef>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HTML5 – Structure the voting interface</a:t>
            </a:r>
            <a:endParaRPr lang="en-US" sz="1600" dirty="0">
              <a:latin typeface="Times New Roman" panose="02020603050405020304" pitchFamily="18" charset="0"/>
              <a:ea typeface="Times New Roman" panose="02020603050405020304" pitchFamily="18" charset="0"/>
            </a:endParaRPr>
          </a:p>
          <a:p>
            <a:pPr marL="285750" lvl="0" indent="-285750" rtl="0">
              <a:lnSpc>
                <a:spcPct val="150000"/>
              </a:lnSpc>
              <a:spcBef>
                <a:spcPts val="300"/>
              </a:spcBef>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CSS3 – Style the layout with civic-themed visuals</a:t>
            </a:r>
            <a:endParaRPr lang="en-US" sz="1600" dirty="0">
              <a:latin typeface="Times New Roman" panose="02020603050405020304" pitchFamily="18" charset="0"/>
              <a:ea typeface="Times New Roman" panose="02020603050405020304" pitchFamily="18" charset="0"/>
            </a:endParaRPr>
          </a:p>
          <a:p>
            <a:pPr marL="285750" lvl="0" indent="-285750" rtl="0">
              <a:lnSpc>
                <a:spcPct val="150000"/>
              </a:lnSpc>
              <a:spcBef>
                <a:spcPts val="300"/>
              </a:spcBef>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JavaScript – Power vote logic and interactivity</a:t>
            </a:r>
            <a:endParaRPr lang="en-US" sz="1600" dirty="0">
              <a:latin typeface="Times New Roman" panose="02020603050405020304" pitchFamily="18" charset="0"/>
              <a:ea typeface="Times New Roman" panose="02020603050405020304" pitchFamily="18" charset="0"/>
            </a:endParaRPr>
          </a:p>
          <a:p>
            <a:pPr marL="285750" lvl="0" indent="-285750" rtl="0">
              <a:lnSpc>
                <a:spcPct val="150000"/>
              </a:lnSpc>
              <a:spcBef>
                <a:spcPts val="300"/>
              </a:spcBef>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Canva – Design banners, icons, and UI mockups</a:t>
            </a:r>
            <a:endParaRPr lang="en-US" sz="1600" dirty="0">
              <a:latin typeface="Times New Roman" panose="02020603050405020304" pitchFamily="18" charset="0"/>
              <a:ea typeface="Times New Roman" panose="02020603050405020304" pitchFamily="18" charset="0"/>
            </a:endParaRPr>
          </a:p>
          <a:p>
            <a:pPr marL="285750" lvl="0" indent="-285750" rtl="0">
              <a:lnSpc>
                <a:spcPct val="150000"/>
              </a:lnSpc>
              <a:spcBef>
                <a:spcPts val="300"/>
              </a:spcBef>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Visual Studio Code – Code editor for development</a:t>
            </a:r>
            <a:endParaRPr lang="en-US" sz="1600" dirty="0">
              <a:latin typeface="Times New Roman" panose="02020603050405020304" pitchFamily="18" charset="0"/>
              <a:ea typeface="Times New Roman" panose="02020603050405020304" pitchFamily="18" charset="0"/>
            </a:endParaRPr>
          </a:p>
          <a:p>
            <a:pPr marL="285750" lvl="0" indent="-285750" rtl="0">
              <a:lnSpc>
                <a:spcPct val="150000"/>
              </a:lnSpc>
              <a:spcBef>
                <a:spcPts val="300"/>
              </a:spcBef>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Live Server – Real-time preview while coding</a:t>
            </a:r>
            <a:endParaRPr lang="en-US" sz="1600" dirty="0">
              <a:latin typeface="Times New Roman" panose="02020603050405020304" pitchFamily="18" charset="0"/>
              <a:ea typeface="Times New Roman" panose="02020603050405020304" pitchFamily="18" charset="0"/>
            </a:endParaRPr>
          </a:p>
          <a:p>
            <a:pPr marL="285750" lvl="0" indent="-285750" rtl="0">
              <a:lnSpc>
                <a:spcPct val="150000"/>
              </a:lnSpc>
              <a:spcBef>
                <a:spcPts val="300"/>
              </a:spcBef>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Web Browser – Test and demo the simulation</a:t>
            </a:r>
            <a:endParaRPr lang="en-US" sz="1600" dirty="0">
              <a:latin typeface="Times New Roman" panose="02020603050405020304" pitchFamily="18" charset="0"/>
              <a:ea typeface="Times New Roman" panose="02020603050405020304" pitchFamily="18" charset="0"/>
            </a:endParaRPr>
          </a:p>
          <a:p>
            <a:pPr marL="285750" lvl="0" indent="-285750" rtl="0">
              <a:lnSpc>
                <a:spcPct val="150000"/>
              </a:lnSpc>
              <a:spcBef>
                <a:spcPts val="300"/>
              </a:spcBef>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Git &amp; GitHub – Version control and project hosting</a:t>
            </a:r>
            <a:endParaRPr lang="en-US" sz="1600" dirty="0">
              <a:latin typeface="Times New Roman" panose="02020603050405020304" pitchFamily="18" charset="0"/>
              <a:ea typeface="Times New Roman" panose="02020603050405020304" pitchFamily="18" charset="0"/>
            </a:endParaRPr>
          </a:p>
          <a:p>
            <a:pPr marL="285750" lvl="0" indent="-285750" rtl="0">
              <a:lnSpc>
                <a:spcPct val="150000"/>
              </a:lnSpc>
              <a:spcBef>
                <a:spcPts val="300"/>
              </a:spcBef>
              <a:buFont typeface="Arial" panose="020B0604020202020204" pitchFamily="34" charset="0"/>
              <a:buChar char="•"/>
            </a:pPr>
            <a:r>
              <a:rPr lang="en-US" sz="1800" dirty="0" err="1">
                <a:effectLst/>
                <a:latin typeface="Times New Roman" panose="02020603050405020304" pitchFamily="18" charset="0"/>
                <a:ea typeface="Times New Roman" panose="02020603050405020304" pitchFamily="18" charset="0"/>
              </a:rPr>
              <a:t>DevTools</a:t>
            </a:r>
            <a:r>
              <a:rPr lang="en-US" sz="1800" dirty="0">
                <a:effectLst/>
                <a:latin typeface="Times New Roman" panose="02020603050405020304" pitchFamily="18" charset="0"/>
                <a:ea typeface="Times New Roman" panose="02020603050405020304" pitchFamily="18" charset="0"/>
              </a:rPr>
              <a:t> – Inspect, debug, and refine the frontend</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96074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4A6BC6A-384F-4F51-8DFD-D983F68FDBD7}"/>
              </a:ext>
            </a:extLst>
          </p:cNvPr>
          <p:cNvSpPr/>
          <p:nvPr/>
        </p:nvSpPr>
        <p:spPr>
          <a:xfrm>
            <a:off x="3352801" y="5638800"/>
            <a:ext cx="4724400" cy="45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METHODOLOGY</a:t>
            </a:r>
            <a:endParaRPr lang="en-US" sz="4000" b="1" dirty="0">
              <a:solidFill>
                <a:srgbClr val="FF0000"/>
              </a:solidFill>
            </a:endParaRPr>
          </a:p>
        </p:txBody>
      </p:sp>
      <p:pic>
        <p:nvPicPr>
          <p:cNvPr id="2" name="Picture 1">
            <a:extLst>
              <a:ext uri="{FF2B5EF4-FFF2-40B4-BE49-F238E27FC236}">
                <a16:creationId xmlns:a16="http://schemas.microsoft.com/office/drawing/2014/main" id="{38334CC5-1937-4AEC-A109-B0A5CFE039DF}"/>
              </a:ext>
            </a:extLst>
          </p:cNvPr>
          <p:cNvPicPr>
            <a:picLocks noChangeAspect="1"/>
          </p:cNvPicPr>
          <p:nvPr/>
        </p:nvPicPr>
        <p:blipFill>
          <a:blip r:embed="rId3"/>
          <a:stretch>
            <a:fillRect/>
          </a:stretch>
        </p:blipFill>
        <p:spPr>
          <a:xfrm>
            <a:off x="3352801" y="1003379"/>
            <a:ext cx="4724400" cy="4635421"/>
          </a:xfrm>
          <a:prstGeom prst="rect">
            <a:avLst/>
          </a:prstGeom>
        </p:spPr>
      </p:pic>
      <p:sp>
        <p:nvSpPr>
          <p:cNvPr id="4" name="Rectangle: Top Corners Rounded 3">
            <a:extLst>
              <a:ext uri="{FF2B5EF4-FFF2-40B4-BE49-F238E27FC236}">
                <a16:creationId xmlns:a16="http://schemas.microsoft.com/office/drawing/2014/main" id="{0F73F14C-2E49-AD4C-C364-0EF3E18B4116}"/>
              </a:ext>
            </a:extLst>
          </p:cNvPr>
          <p:cNvSpPr/>
          <p:nvPr/>
        </p:nvSpPr>
        <p:spPr>
          <a:xfrm>
            <a:off x="4647919" y="5319892"/>
            <a:ext cx="2846070" cy="637816"/>
          </a:xfrm>
          <a:prstGeom prst="round2SameRect">
            <a:avLst/>
          </a:prstGeom>
          <a:solidFill>
            <a:schemeClr val="bg1"/>
          </a:solidFill>
          <a:ln>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457200" indent="-228600">
              <a:lnSpc>
                <a:spcPct val="150000"/>
              </a:lnSpc>
              <a:buNone/>
            </a:pPr>
            <a:r>
              <a:rPr lang="en-US" sz="1100" dirty="0">
                <a:effectLst/>
                <a:latin typeface="Times New Roman" panose="02020603050405020304" pitchFamily="18" charset="0"/>
                <a:ea typeface="Times New Roman" panose="02020603050405020304" pitchFamily="18" charset="0"/>
              </a:rPr>
              <a:t> </a:t>
            </a:r>
          </a:p>
          <a:p>
            <a:pPr marL="457200" indent="-228600">
              <a:lnSpc>
                <a:spcPct val="150000"/>
              </a:lnSpc>
              <a:spcBef>
                <a:spcPts val="300"/>
              </a:spcBef>
              <a:buNone/>
            </a:pPr>
            <a:r>
              <a:rPr lang="en-IN" sz="1000" dirty="0">
                <a:solidFill>
                  <a:srgbClr val="000000"/>
                </a:solidFill>
                <a:effectLst/>
                <a:latin typeface="Times New Roman" panose="02020603050405020304" pitchFamily="18" charset="0"/>
                <a:ea typeface="Times New Roman" panose="02020603050405020304" pitchFamily="18" charset="0"/>
              </a:rPr>
              <a:t>Manually tested across browsers and devices.</a:t>
            </a:r>
            <a:endParaRPr lang="en-US" sz="1000" dirty="0">
              <a:effectLst/>
              <a:latin typeface="Times New Roman" panose="02020603050405020304" pitchFamily="18" charset="0"/>
              <a:ea typeface="Times New Roman" panose="02020603050405020304" pitchFamily="18" charset="0"/>
            </a:endParaRPr>
          </a:p>
        </p:txBody>
      </p:sp>
      <p:sp>
        <p:nvSpPr>
          <p:cNvPr id="9" name="Rectangle: Top Corners Rounded 8">
            <a:extLst>
              <a:ext uri="{FF2B5EF4-FFF2-40B4-BE49-F238E27FC236}">
                <a16:creationId xmlns:a16="http://schemas.microsoft.com/office/drawing/2014/main" id="{8E810456-6774-DB7C-0397-502AB462C1DC}"/>
              </a:ext>
            </a:extLst>
          </p:cNvPr>
          <p:cNvSpPr/>
          <p:nvPr/>
        </p:nvSpPr>
        <p:spPr>
          <a:xfrm>
            <a:off x="4647919" y="5296031"/>
            <a:ext cx="2846070" cy="297180"/>
          </a:xfrm>
          <a:prstGeom prst="round2SameRect">
            <a:avLst/>
          </a:prstGeom>
          <a:solidFill>
            <a:srgbClr val="EE0000"/>
          </a:solidFill>
          <a:ln>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buNone/>
            </a:pPr>
            <a:r>
              <a:rPr lang="en-IN" sz="1100">
                <a:effectLst/>
                <a:latin typeface="Times New Roman" panose="02020603050405020304" pitchFamily="18" charset="0"/>
                <a:ea typeface="Times New Roman" panose="02020603050405020304" pitchFamily="18" charset="0"/>
              </a:rPr>
              <a:t>Testing &amp; Optimization</a:t>
            </a:r>
            <a:endParaRPr lang="en-US" sz="11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80172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1172" y="6406222"/>
            <a:ext cx="133985" cy="169545"/>
          </a:xfrm>
          <a:prstGeom prst="rect">
            <a:avLst/>
          </a:prstGeom>
        </p:spPr>
        <p:txBody>
          <a:bodyPr vert="horz" wrap="square" lIns="0" tIns="12065" rIns="0" bIns="0" rtlCol="0">
            <a:spAutoFit/>
          </a:bodyPr>
          <a:lstStyle/>
          <a:p>
            <a:pPr>
              <a:lnSpc>
                <a:spcPct val="100000"/>
              </a:lnSpc>
              <a:spcBef>
                <a:spcPts val="95"/>
              </a:spcBef>
            </a:pPr>
            <a:r>
              <a:rPr sz="950" spc="-55" dirty="0">
                <a:latin typeface="Microsoft JhengHei"/>
                <a:cs typeface="Microsoft JhengHei"/>
              </a:rPr>
              <a:t>12</a:t>
            </a:r>
            <a:endParaRPr sz="950">
              <a:latin typeface="Microsoft JhengHei"/>
              <a:cs typeface="Microsoft JhengHei"/>
            </a:endParaRPr>
          </a:p>
        </p:txBody>
      </p:sp>
      <p:grpSp>
        <p:nvGrpSpPr>
          <p:cNvPr id="3" name="object 3"/>
          <p:cNvGrpSpPr/>
          <p:nvPr/>
        </p:nvGrpSpPr>
        <p:grpSpPr>
          <a:xfrm>
            <a:off x="-7936" y="3002026"/>
            <a:ext cx="12212955" cy="863600"/>
            <a:chOff x="-7936" y="3002026"/>
            <a:chExt cx="12212955" cy="863600"/>
          </a:xfrm>
        </p:grpSpPr>
        <p:sp>
          <p:nvSpPr>
            <p:cNvPr id="4" name="object 4"/>
            <p:cNvSpPr/>
            <p:nvPr/>
          </p:nvSpPr>
          <p:spPr>
            <a:xfrm>
              <a:off x="4763" y="3014726"/>
              <a:ext cx="12187555" cy="838200"/>
            </a:xfrm>
            <a:custGeom>
              <a:avLst/>
              <a:gdLst/>
              <a:ahLst/>
              <a:cxnLst/>
              <a:rect l="l" t="t" r="r" b="b"/>
              <a:pathLst>
                <a:path w="12187555" h="838200">
                  <a:moveTo>
                    <a:pt x="12187236" y="0"/>
                  </a:moveTo>
                  <a:lnTo>
                    <a:pt x="0" y="0"/>
                  </a:lnTo>
                  <a:lnTo>
                    <a:pt x="0" y="838200"/>
                  </a:lnTo>
                  <a:lnTo>
                    <a:pt x="12187236" y="838200"/>
                  </a:lnTo>
                  <a:lnTo>
                    <a:pt x="12187236" y="0"/>
                  </a:lnTo>
                  <a:close/>
                </a:path>
              </a:pathLst>
            </a:custGeom>
            <a:solidFill>
              <a:srgbClr val="622422"/>
            </a:solidFill>
          </p:spPr>
          <p:txBody>
            <a:bodyPr wrap="square" lIns="0" tIns="0" rIns="0" bIns="0" rtlCol="0"/>
            <a:lstStyle/>
            <a:p>
              <a:endParaRPr/>
            </a:p>
          </p:txBody>
        </p:sp>
        <p:sp>
          <p:nvSpPr>
            <p:cNvPr id="5" name="object 5"/>
            <p:cNvSpPr/>
            <p:nvPr/>
          </p:nvSpPr>
          <p:spPr>
            <a:xfrm>
              <a:off x="4763" y="3014726"/>
              <a:ext cx="12187555" cy="838200"/>
            </a:xfrm>
            <a:custGeom>
              <a:avLst/>
              <a:gdLst/>
              <a:ahLst/>
              <a:cxnLst/>
              <a:rect l="l" t="t" r="r" b="b"/>
              <a:pathLst>
                <a:path w="12187555" h="838200">
                  <a:moveTo>
                    <a:pt x="12187236" y="0"/>
                  </a:moveTo>
                  <a:lnTo>
                    <a:pt x="0" y="0"/>
                  </a:lnTo>
                  <a:lnTo>
                    <a:pt x="0" y="838200"/>
                  </a:lnTo>
                  <a:lnTo>
                    <a:pt x="12187236" y="838200"/>
                  </a:lnTo>
                </a:path>
              </a:pathLst>
            </a:custGeom>
            <a:ln w="25400">
              <a:solidFill>
                <a:srgbClr val="622422"/>
              </a:solidFill>
            </a:ln>
          </p:spPr>
          <p:txBody>
            <a:bodyPr wrap="square" lIns="0" tIns="0" rIns="0" bIns="0" rtlCol="0"/>
            <a:lstStyle/>
            <a:p>
              <a:endParaRPr/>
            </a:p>
          </p:txBody>
        </p:sp>
      </p:grpSp>
      <p:sp>
        <p:nvSpPr>
          <p:cNvPr id="6" name="object 6"/>
          <p:cNvSpPr txBox="1">
            <a:spLocks noGrp="1"/>
          </p:cNvSpPr>
          <p:nvPr>
            <p:ph type="title"/>
          </p:nvPr>
        </p:nvSpPr>
        <p:spPr>
          <a:xfrm>
            <a:off x="3990975" y="2971984"/>
            <a:ext cx="4210050" cy="847668"/>
          </a:xfrm>
          <a:prstGeom prst="rect">
            <a:avLst/>
          </a:prstGeom>
        </p:spPr>
        <p:txBody>
          <a:bodyPr vert="horz" wrap="square" lIns="0" tIns="16510" rIns="0" bIns="0" rtlCol="0">
            <a:spAutoFit/>
          </a:bodyPr>
          <a:lstStyle/>
          <a:p>
            <a:pPr marL="12700">
              <a:lnSpc>
                <a:spcPct val="100000"/>
              </a:lnSpc>
              <a:spcBef>
                <a:spcPts val="130"/>
              </a:spcBef>
            </a:pPr>
            <a:r>
              <a:rPr sz="5400" b="0" spc="250" dirty="0">
                <a:solidFill>
                  <a:srgbClr val="C99648"/>
                </a:solidFill>
                <a:latin typeface="Times New Roman" panose="02020603050405020304" pitchFamily="18" charset="0"/>
                <a:cs typeface="Times New Roman" panose="02020603050405020304" pitchFamily="18" charset="0"/>
              </a:rPr>
              <a:t>Thank</a:t>
            </a:r>
            <a:r>
              <a:rPr sz="5400" b="0" spc="125" dirty="0">
                <a:solidFill>
                  <a:srgbClr val="C99648"/>
                </a:solidFill>
                <a:latin typeface="Times New Roman" panose="02020603050405020304" pitchFamily="18" charset="0"/>
                <a:cs typeface="Times New Roman" panose="02020603050405020304" pitchFamily="18" charset="0"/>
              </a:rPr>
              <a:t> </a:t>
            </a:r>
            <a:r>
              <a:rPr sz="5400" b="0" spc="275" dirty="0">
                <a:solidFill>
                  <a:srgbClr val="C99648"/>
                </a:solidFill>
                <a:latin typeface="Times New Roman" panose="02020603050405020304" pitchFamily="18" charset="0"/>
                <a:cs typeface="Times New Roman" panose="02020603050405020304" pitchFamily="18" charset="0"/>
              </a:rPr>
              <a:t>you</a:t>
            </a:r>
            <a:r>
              <a:rPr sz="5400" b="0" spc="110" dirty="0">
                <a:solidFill>
                  <a:srgbClr val="C99648"/>
                </a:solidFill>
                <a:latin typeface="Times New Roman" panose="02020603050405020304" pitchFamily="18" charset="0"/>
                <a:cs typeface="Times New Roman" panose="02020603050405020304" pitchFamily="18" charset="0"/>
              </a:rPr>
              <a:t> </a:t>
            </a:r>
            <a:r>
              <a:rPr sz="5400" b="0" spc="220" dirty="0">
                <a:solidFill>
                  <a:srgbClr val="C99648"/>
                </a:solidFill>
                <a:latin typeface="Times New Roman" panose="02020603050405020304" pitchFamily="18" charset="0"/>
                <a:cs typeface="Times New Roman" panose="02020603050405020304" pitchFamily="18" charset="0"/>
              </a:rPr>
              <a:t>all</a:t>
            </a:r>
            <a:endParaRPr sz="5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7936" y="-12700"/>
            <a:ext cx="12212955" cy="6870700"/>
            <a:chOff x="-7936" y="-12700"/>
            <a:chExt cx="12212955" cy="6870700"/>
          </a:xfrm>
        </p:grpSpPr>
        <p:sp>
          <p:nvSpPr>
            <p:cNvPr id="8" name="object 8"/>
            <p:cNvSpPr/>
            <p:nvPr/>
          </p:nvSpPr>
          <p:spPr>
            <a:xfrm>
              <a:off x="4763" y="0"/>
              <a:ext cx="628650" cy="6858000"/>
            </a:xfrm>
            <a:custGeom>
              <a:avLst/>
              <a:gdLst/>
              <a:ahLst/>
              <a:cxnLst/>
              <a:rect l="l" t="t" r="r" b="b"/>
              <a:pathLst>
                <a:path w="628650" h="6858000">
                  <a:moveTo>
                    <a:pt x="0" y="6857997"/>
                  </a:moveTo>
                  <a:lnTo>
                    <a:pt x="628650" y="6857997"/>
                  </a:lnTo>
                  <a:lnTo>
                    <a:pt x="628650" y="0"/>
                  </a:lnTo>
                  <a:lnTo>
                    <a:pt x="0" y="0"/>
                  </a:lnTo>
                  <a:lnTo>
                    <a:pt x="0" y="6857997"/>
                  </a:lnTo>
                  <a:close/>
                </a:path>
              </a:pathLst>
            </a:custGeom>
            <a:solidFill>
              <a:srgbClr val="622422"/>
            </a:solidFill>
          </p:spPr>
          <p:txBody>
            <a:bodyPr wrap="square" lIns="0" tIns="0" rIns="0" bIns="0" rtlCol="0"/>
            <a:lstStyle/>
            <a:p>
              <a:endParaRPr/>
            </a:p>
          </p:txBody>
        </p:sp>
        <p:sp>
          <p:nvSpPr>
            <p:cNvPr id="9" name="object 9"/>
            <p:cNvSpPr/>
            <p:nvPr/>
          </p:nvSpPr>
          <p:spPr>
            <a:xfrm>
              <a:off x="4763" y="0"/>
              <a:ext cx="628650" cy="6858000"/>
            </a:xfrm>
            <a:custGeom>
              <a:avLst/>
              <a:gdLst/>
              <a:ahLst/>
              <a:cxnLst/>
              <a:rect l="l" t="t" r="r" b="b"/>
              <a:pathLst>
                <a:path w="628650" h="6858000">
                  <a:moveTo>
                    <a:pt x="628650" y="6857997"/>
                  </a:moveTo>
                  <a:lnTo>
                    <a:pt x="628650" y="0"/>
                  </a:lnTo>
                </a:path>
                <a:path w="628650" h="6858000">
                  <a:moveTo>
                    <a:pt x="0" y="0"/>
                  </a:moveTo>
                  <a:lnTo>
                    <a:pt x="0" y="6857997"/>
                  </a:lnTo>
                </a:path>
              </a:pathLst>
            </a:custGeom>
            <a:ln w="25400">
              <a:solidFill>
                <a:srgbClr val="622422"/>
              </a:solidFill>
            </a:ln>
          </p:spPr>
          <p:txBody>
            <a:bodyPr wrap="square" lIns="0" tIns="0" rIns="0" bIns="0" rtlCol="0"/>
            <a:lstStyle/>
            <a:p>
              <a:endParaRPr/>
            </a:p>
          </p:txBody>
        </p:sp>
        <p:sp>
          <p:nvSpPr>
            <p:cNvPr id="10" name="object 10"/>
            <p:cNvSpPr/>
            <p:nvPr/>
          </p:nvSpPr>
          <p:spPr>
            <a:xfrm>
              <a:off x="9839261" y="0"/>
              <a:ext cx="2353310" cy="2371725"/>
            </a:xfrm>
            <a:custGeom>
              <a:avLst/>
              <a:gdLst/>
              <a:ahLst/>
              <a:cxnLst/>
              <a:rect l="l" t="t" r="r" b="b"/>
              <a:pathLst>
                <a:path w="2353309" h="2371725">
                  <a:moveTo>
                    <a:pt x="2352738" y="0"/>
                  </a:moveTo>
                  <a:lnTo>
                    <a:pt x="0" y="0"/>
                  </a:lnTo>
                  <a:lnTo>
                    <a:pt x="2352738" y="2371686"/>
                  </a:lnTo>
                  <a:lnTo>
                    <a:pt x="2352738" y="0"/>
                  </a:lnTo>
                  <a:close/>
                </a:path>
              </a:pathLst>
            </a:custGeom>
            <a:solidFill>
              <a:srgbClr val="5B1F1F"/>
            </a:solidFill>
          </p:spPr>
          <p:txBody>
            <a:bodyPr wrap="square" lIns="0" tIns="0" rIns="0" bIns="0" rtlCol="0"/>
            <a:lstStyle/>
            <a:p>
              <a:endParaRPr/>
            </a:p>
          </p:txBody>
        </p:sp>
        <p:sp>
          <p:nvSpPr>
            <p:cNvPr id="11" name="object 11"/>
            <p:cNvSpPr/>
            <p:nvPr/>
          </p:nvSpPr>
          <p:spPr>
            <a:xfrm>
              <a:off x="9839261" y="0"/>
              <a:ext cx="2353310" cy="2371725"/>
            </a:xfrm>
            <a:custGeom>
              <a:avLst/>
              <a:gdLst/>
              <a:ahLst/>
              <a:cxnLst/>
              <a:rect l="l" t="t" r="r" b="b"/>
              <a:pathLst>
                <a:path w="2353309" h="2371725">
                  <a:moveTo>
                    <a:pt x="2352738" y="2371686"/>
                  </a:moveTo>
                  <a:lnTo>
                    <a:pt x="0" y="0"/>
                  </a:lnTo>
                </a:path>
              </a:pathLst>
            </a:custGeom>
            <a:ln w="25400">
              <a:solidFill>
                <a:srgbClr val="1C334E"/>
              </a:solidFill>
            </a:ln>
          </p:spPr>
          <p:txBody>
            <a:bodyPr wrap="square" lIns="0" tIns="0" rIns="0" bIns="0" rtlCol="0"/>
            <a:lstStyle/>
            <a:p>
              <a:endParaRPr/>
            </a:p>
          </p:txBody>
        </p:sp>
        <p:pic>
          <p:nvPicPr>
            <p:cNvPr id="12" name="object 12"/>
            <p:cNvPicPr/>
            <p:nvPr/>
          </p:nvPicPr>
          <p:blipFill>
            <a:blip r:embed="rId2" cstate="print"/>
            <a:stretch>
              <a:fillRect/>
            </a:stretch>
          </p:blipFill>
          <p:spPr>
            <a:xfrm>
              <a:off x="11048999" y="28575"/>
              <a:ext cx="1143000" cy="1190625"/>
            </a:xfrm>
            <a:prstGeom prst="rect">
              <a:avLst/>
            </a:prstGeom>
          </p:spPr>
        </p:pic>
      </p:gr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546100">
              <a:lnSpc>
                <a:spcPts val="2115"/>
              </a:lnSpc>
            </a:pPr>
            <a:r>
              <a:rPr dirty="0"/>
              <a:t>Faculty</a:t>
            </a:r>
            <a:r>
              <a:rPr spc="15" dirty="0"/>
              <a:t> </a:t>
            </a:r>
            <a:r>
              <a:rPr dirty="0"/>
              <a:t>of</a:t>
            </a:r>
            <a:r>
              <a:rPr spc="245" dirty="0"/>
              <a:t> </a:t>
            </a:r>
            <a:r>
              <a:rPr spc="-10" dirty="0"/>
              <a:t>Engineering</a:t>
            </a:r>
            <a:r>
              <a:rPr spc="30" dirty="0"/>
              <a:t> </a:t>
            </a:r>
            <a:r>
              <a:rPr dirty="0"/>
              <a:t>and</a:t>
            </a:r>
            <a:r>
              <a:rPr spc="-35" dirty="0"/>
              <a:t> </a:t>
            </a:r>
            <a:r>
              <a:rPr spc="-10" dirty="0"/>
              <a:t>Technology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305</TotalTime>
  <Words>640</Words>
  <Application>Microsoft Office PowerPoint</Application>
  <PresentationFormat>Widescreen</PresentationFormat>
  <Paragraphs>72</Paragraphs>
  <Slides>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Microsoft JhengHei</vt:lpstr>
      <vt:lpstr>Aptos</vt:lpstr>
      <vt:lpstr>Arial</vt:lpstr>
      <vt:lpstr>Calibri</vt:lpstr>
      <vt:lpstr>Cambria</vt:lpstr>
      <vt:lpstr>Symbol</vt:lpstr>
      <vt:lpstr>Times New Roman</vt:lpstr>
      <vt:lpstr>Verdana</vt:lpstr>
      <vt:lpstr>Office Theme</vt:lpstr>
      <vt:lpstr>GM UNIVERSITY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all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 UNIVERSITY</dc:title>
  <dc:creator>keerthana r</dc:creator>
  <cp:lastModifiedBy>Imran Hashmi</cp:lastModifiedBy>
  <cp:revision>18</cp:revision>
  <dcterms:created xsi:type="dcterms:W3CDTF">2025-04-12T03:51:56Z</dcterms:created>
  <dcterms:modified xsi:type="dcterms:W3CDTF">2025-11-04T08:29:44Z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2025-03-24T00:00:00Z</vt:filetime>
  </property>
  <property fmtid="{D5CDD505-2E9C-101B-9397-08002B2CF9AE}" pid="3" name="LastSaved">
    <vt:filetime>2025-04-12T00:00:00Z</vt:filetime>
  </property>
</Properties>
</file>