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324" r:id="rId3"/>
    <p:sldId id="325" r:id="rId4"/>
    <p:sldId id="326" r:id="rId5"/>
    <p:sldId id="327" r:id="rId6"/>
    <p:sldId id="328" r:id="rId7"/>
    <p:sldId id="329" r:id="rId8"/>
    <p:sldId id="330" r:id="rId9"/>
    <p:sldId id="268"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877" autoAdjust="0"/>
  </p:normalViewPr>
  <p:slideViewPr>
    <p:cSldViewPr>
      <p:cViewPr>
        <p:scale>
          <a:sx n="91" d="100"/>
          <a:sy n="91" d="100"/>
        </p:scale>
        <p:origin x="341"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570AB55-2BE1-4CAF-B32C-1479D387789B}" type="datetimeFigureOut">
              <a:rPr lang="en-US" smtClean="0"/>
              <a:t>11/4/2025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7BBC07F-B4E1-4AAA-8DDF-9730D5C3076B}" type="slidenum">
              <a:rPr lang="en-US" smtClean="0"/>
              <a:t>‹#›</a:t>
            </a:fld>
            <a:endParaRPr lang="en-US"/>
          </a:p>
        </p:txBody>
      </p:sp>
    </p:spTree>
    <p:extLst>
      <p:ext uri="{BB962C8B-B14F-4D97-AF65-F5344CB8AC3E}">
        <p14:creationId xmlns:p14="http://schemas.microsoft.com/office/powerpoint/2010/main" val="2757905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BBC07F-B4E1-4AAA-8DDF-9730D5C3076B}" type="slidenum">
              <a:rPr lang="en-US" smtClean="0"/>
              <a:t>6</a:t>
            </a:fld>
            <a:endParaRPr lang="en-US"/>
          </a:p>
        </p:txBody>
      </p:sp>
    </p:spTree>
    <p:extLst>
      <p:ext uri="{BB962C8B-B14F-4D97-AF65-F5344CB8AC3E}">
        <p14:creationId xmlns:p14="http://schemas.microsoft.com/office/powerpoint/2010/main" val="3513969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17" name="bg object 17"/>
          <p:cNvSpPr/>
          <p:nvPr/>
        </p:nvSpPr>
        <p:spPr>
          <a:xfrm>
            <a:off x="238353" y="159060"/>
            <a:ext cx="11792585" cy="6464935"/>
          </a:xfrm>
          <a:custGeom>
            <a:avLst/>
            <a:gdLst/>
            <a:ahLst/>
            <a:cxnLst/>
            <a:rect l="l" t="t" r="r" b="b"/>
            <a:pathLst>
              <a:path w="11792585" h="6464934">
                <a:moveTo>
                  <a:pt x="11791976" y="0"/>
                </a:moveTo>
                <a:lnTo>
                  <a:pt x="0" y="0"/>
                </a:lnTo>
                <a:lnTo>
                  <a:pt x="0" y="6464518"/>
                </a:lnTo>
                <a:lnTo>
                  <a:pt x="11791977" y="6464518"/>
                </a:lnTo>
                <a:lnTo>
                  <a:pt x="11791977" y="6445655"/>
                </a:lnTo>
                <a:lnTo>
                  <a:pt x="38466" y="6445655"/>
                </a:lnTo>
                <a:lnTo>
                  <a:pt x="19232" y="6426793"/>
                </a:lnTo>
                <a:lnTo>
                  <a:pt x="38466" y="6426793"/>
                </a:lnTo>
                <a:lnTo>
                  <a:pt x="38466" y="37730"/>
                </a:lnTo>
                <a:lnTo>
                  <a:pt x="19232" y="37730"/>
                </a:lnTo>
                <a:lnTo>
                  <a:pt x="38466" y="18949"/>
                </a:lnTo>
                <a:lnTo>
                  <a:pt x="11791976" y="18949"/>
                </a:lnTo>
                <a:lnTo>
                  <a:pt x="11791976" y="0"/>
                </a:lnTo>
                <a:close/>
              </a:path>
              <a:path w="11792585" h="6464934">
                <a:moveTo>
                  <a:pt x="38466" y="6426793"/>
                </a:moveTo>
                <a:lnTo>
                  <a:pt x="19232" y="6426793"/>
                </a:lnTo>
                <a:lnTo>
                  <a:pt x="38466" y="6445655"/>
                </a:lnTo>
                <a:lnTo>
                  <a:pt x="38466" y="6426793"/>
                </a:lnTo>
                <a:close/>
              </a:path>
              <a:path w="11792585" h="6464934">
                <a:moveTo>
                  <a:pt x="11753505" y="6426793"/>
                </a:moveTo>
                <a:lnTo>
                  <a:pt x="38466" y="6426793"/>
                </a:lnTo>
                <a:lnTo>
                  <a:pt x="38466" y="6445655"/>
                </a:lnTo>
                <a:lnTo>
                  <a:pt x="11753505" y="6445655"/>
                </a:lnTo>
                <a:lnTo>
                  <a:pt x="11753505" y="6426793"/>
                </a:lnTo>
                <a:close/>
              </a:path>
              <a:path w="11792585" h="6464934">
                <a:moveTo>
                  <a:pt x="11753505" y="18949"/>
                </a:moveTo>
                <a:lnTo>
                  <a:pt x="11753505" y="6445655"/>
                </a:lnTo>
                <a:lnTo>
                  <a:pt x="11772826" y="6426793"/>
                </a:lnTo>
                <a:lnTo>
                  <a:pt x="11791977" y="6426793"/>
                </a:lnTo>
                <a:lnTo>
                  <a:pt x="11791976" y="37730"/>
                </a:lnTo>
                <a:lnTo>
                  <a:pt x="11772826" y="37730"/>
                </a:lnTo>
                <a:lnTo>
                  <a:pt x="11753505" y="18949"/>
                </a:lnTo>
                <a:close/>
              </a:path>
              <a:path w="11792585" h="6464934">
                <a:moveTo>
                  <a:pt x="11791977" y="6426793"/>
                </a:moveTo>
                <a:lnTo>
                  <a:pt x="11772826" y="6426793"/>
                </a:lnTo>
                <a:lnTo>
                  <a:pt x="11753505" y="6445655"/>
                </a:lnTo>
                <a:lnTo>
                  <a:pt x="11791977" y="6445655"/>
                </a:lnTo>
                <a:lnTo>
                  <a:pt x="11791977" y="6426793"/>
                </a:lnTo>
                <a:close/>
              </a:path>
              <a:path w="11792585" h="6464934">
                <a:moveTo>
                  <a:pt x="38466" y="18949"/>
                </a:moveTo>
                <a:lnTo>
                  <a:pt x="19232" y="37730"/>
                </a:lnTo>
                <a:lnTo>
                  <a:pt x="38466" y="37730"/>
                </a:lnTo>
                <a:lnTo>
                  <a:pt x="38466" y="18949"/>
                </a:lnTo>
                <a:close/>
              </a:path>
              <a:path w="11792585" h="6464934">
                <a:moveTo>
                  <a:pt x="11753505" y="18949"/>
                </a:moveTo>
                <a:lnTo>
                  <a:pt x="38466" y="18949"/>
                </a:lnTo>
                <a:lnTo>
                  <a:pt x="38466" y="37730"/>
                </a:lnTo>
                <a:lnTo>
                  <a:pt x="11753505" y="37730"/>
                </a:lnTo>
                <a:lnTo>
                  <a:pt x="11753505" y="18949"/>
                </a:lnTo>
                <a:close/>
              </a:path>
              <a:path w="11792585" h="6464934">
                <a:moveTo>
                  <a:pt x="11791976" y="18949"/>
                </a:moveTo>
                <a:lnTo>
                  <a:pt x="11753505" y="18949"/>
                </a:lnTo>
                <a:lnTo>
                  <a:pt x="11772826" y="37730"/>
                </a:lnTo>
                <a:lnTo>
                  <a:pt x="11791976" y="37730"/>
                </a:lnTo>
                <a:lnTo>
                  <a:pt x="11791976" y="18949"/>
                </a:lnTo>
                <a:close/>
              </a:path>
            </a:pathLst>
          </a:custGeom>
          <a:solidFill>
            <a:srgbClr val="C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2" name="Holder 2"/>
          <p:cNvSpPr>
            <a:spLocks noGrp="1"/>
          </p:cNvSpPr>
          <p:nvPr>
            <p:ph type="title"/>
          </p:nvPr>
        </p:nvSpPr>
        <p:spPr>
          <a:xfrm>
            <a:off x="436244" y="235330"/>
            <a:ext cx="8965565" cy="747014"/>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563321" y="1212850"/>
            <a:ext cx="9641205" cy="4083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044315" y="6512511"/>
            <a:ext cx="4651375" cy="416927"/>
          </a:xfrm>
          <a:prstGeom prst="rect">
            <a:avLst/>
          </a:prstGeom>
        </p:spPr>
        <p:txBody>
          <a:bodyPr wrap="square" lIns="0" tIns="0" rIns="0" bIns="0">
            <a:spAutoFit/>
          </a:bodyPr>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142998"/>
            <a:ext cx="12197081" cy="5715001"/>
          </a:xfrm>
          <a:custGeom>
            <a:avLst/>
            <a:gdLst/>
            <a:ahLst/>
            <a:cxnLst/>
            <a:rect l="l" t="t" r="r" b="b"/>
            <a:pathLst>
              <a:path w="12192000" h="5739130">
                <a:moveTo>
                  <a:pt x="0" y="5738748"/>
                </a:moveTo>
                <a:lnTo>
                  <a:pt x="12192000" y="5738748"/>
                </a:lnTo>
                <a:lnTo>
                  <a:pt x="12192000" y="0"/>
                </a:lnTo>
                <a:lnTo>
                  <a:pt x="0" y="0"/>
                </a:lnTo>
                <a:lnTo>
                  <a:pt x="0" y="5738748"/>
                </a:lnTo>
                <a:close/>
              </a:path>
            </a:pathLst>
          </a:custGeom>
          <a:solidFill>
            <a:srgbClr val="EDEBE0"/>
          </a:solidFill>
        </p:spPr>
        <p:txBody>
          <a:bodyPr wrap="square" lIns="0" tIns="0" rIns="0" bIns="0" rtlCol="0"/>
          <a:lstStyle/>
          <a:p>
            <a:r>
              <a:rPr lang="en-IN" dirty="0"/>
              <a:t> </a:t>
            </a:r>
            <a:endParaRPr dirty="0"/>
          </a:p>
        </p:txBody>
      </p:sp>
      <p:sp>
        <p:nvSpPr>
          <p:cNvPr id="3" name="object 3"/>
          <p:cNvSpPr/>
          <p:nvPr/>
        </p:nvSpPr>
        <p:spPr>
          <a:xfrm>
            <a:off x="0" y="0"/>
            <a:ext cx="12192000" cy="5080"/>
          </a:xfrm>
          <a:custGeom>
            <a:avLst/>
            <a:gdLst/>
            <a:ahLst/>
            <a:cxnLst/>
            <a:rect l="l" t="t" r="r" b="b"/>
            <a:pathLst>
              <a:path w="12192000" h="5080">
                <a:moveTo>
                  <a:pt x="0" y="4826"/>
                </a:moveTo>
                <a:lnTo>
                  <a:pt x="12192000" y="4826"/>
                </a:lnTo>
                <a:lnTo>
                  <a:pt x="12192000" y="0"/>
                </a:lnTo>
                <a:lnTo>
                  <a:pt x="0" y="0"/>
                </a:lnTo>
                <a:lnTo>
                  <a:pt x="0" y="4826"/>
                </a:lnTo>
                <a:close/>
              </a:path>
            </a:pathLst>
          </a:custGeom>
          <a:solidFill>
            <a:srgbClr val="EDEBE0"/>
          </a:solidFill>
        </p:spPr>
        <p:txBody>
          <a:bodyPr wrap="square" lIns="0" tIns="0" rIns="0" bIns="0" rtlCol="0"/>
          <a:lstStyle/>
          <a:p>
            <a:endParaRPr/>
          </a:p>
        </p:txBody>
      </p:sp>
      <p:sp>
        <p:nvSpPr>
          <p:cNvPr id="4" name="object 4"/>
          <p:cNvSpPr txBox="1"/>
          <p:nvPr/>
        </p:nvSpPr>
        <p:spPr>
          <a:xfrm>
            <a:off x="491172" y="5558234"/>
            <a:ext cx="2450465" cy="1017269"/>
          </a:xfrm>
          <a:prstGeom prst="rect">
            <a:avLst/>
          </a:prstGeom>
        </p:spPr>
        <p:txBody>
          <a:bodyPr vert="horz" wrap="square" lIns="0" tIns="6350" rIns="0" bIns="0" rtlCol="0">
            <a:spAutoFit/>
          </a:bodyPr>
          <a:lstStyle/>
          <a:p>
            <a:pPr algn="r">
              <a:lnSpc>
                <a:spcPct val="100000"/>
              </a:lnSpc>
              <a:spcBef>
                <a:spcPts val="50"/>
              </a:spcBef>
            </a:pPr>
            <a:r>
              <a:rPr sz="950" spc="-80" dirty="0">
                <a:latin typeface="Verdana"/>
                <a:cs typeface="Verdana"/>
              </a:rPr>
              <a:t>B.E,</a:t>
            </a:r>
            <a:r>
              <a:rPr sz="950" spc="-120" dirty="0">
                <a:latin typeface="Verdana"/>
                <a:cs typeface="Verdana"/>
              </a:rPr>
              <a:t> </a:t>
            </a:r>
            <a:r>
              <a:rPr sz="950" spc="-10" dirty="0">
                <a:latin typeface="Verdana"/>
                <a:cs typeface="Verdana"/>
              </a:rPr>
              <a:t>M.Tech</a:t>
            </a: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spcBef>
                <a:spcPts val="960"/>
              </a:spcBef>
            </a:pPr>
            <a:endParaRPr sz="950">
              <a:latin typeface="Verdana"/>
              <a:cs typeface="Verdana"/>
            </a:endParaRPr>
          </a:p>
          <a:p>
            <a:pPr>
              <a:lnSpc>
                <a:spcPct val="100000"/>
              </a:lnSpc>
            </a:pPr>
            <a:r>
              <a:rPr sz="950" spc="-50" dirty="0">
                <a:latin typeface="Microsoft JhengHei"/>
                <a:cs typeface="Microsoft JhengHei"/>
              </a:rPr>
              <a:t>1</a:t>
            </a:r>
            <a:endParaRPr sz="950">
              <a:latin typeface="Microsoft JhengHei"/>
              <a:cs typeface="Microsoft JhengHei"/>
            </a:endParaRPr>
          </a:p>
        </p:txBody>
      </p:sp>
      <p:grpSp>
        <p:nvGrpSpPr>
          <p:cNvPr id="5" name="object 5"/>
          <p:cNvGrpSpPr/>
          <p:nvPr/>
        </p:nvGrpSpPr>
        <p:grpSpPr>
          <a:xfrm>
            <a:off x="-7936" y="-7874"/>
            <a:ext cx="12212955" cy="6866255"/>
            <a:chOff x="-7936" y="-7874"/>
            <a:chExt cx="12212955" cy="6866255"/>
          </a:xfrm>
        </p:grpSpPr>
        <p:sp>
          <p:nvSpPr>
            <p:cNvPr id="6" name="object 6"/>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lnTo>
                    <a:pt x="12187236" y="0"/>
                  </a:lnTo>
                  <a:close/>
                </a:path>
              </a:pathLst>
            </a:custGeom>
            <a:solidFill>
              <a:srgbClr val="5B1F1F"/>
            </a:solidFill>
          </p:spPr>
          <p:txBody>
            <a:bodyPr wrap="square" lIns="0" tIns="0" rIns="0" bIns="0" rtlCol="0"/>
            <a:lstStyle/>
            <a:p>
              <a:endParaRPr/>
            </a:p>
          </p:txBody>
        </p:sp>
        <p:sp>
          <p:nvSpPr>
            <p:cNvPr id="7" name="object 7"/>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path>
              </a:pathLst>
            </a:custGeom>
            <a:ln w="25400">
              <a:solidFill>
                <a:srgbClr val="622422"/>
              </a:solidFill>
            </a:ln>
          </p:spPr>
          <p:txBody>
            <a:bodyPr wrap="square" lIns="0" tIns="0" rIns="0" bIns="0" rtlCol="0"/>
            <a:lstStyle/>
            <a:p>
              <a:endParaRPr/>
            </a:p>
          </p:txBody>
        </p:sp>
        <p:pic>
          <p:nvPicPr>
            <p:cNvPr id="8" name="object 8"/>
            <p:cNvPicPr/>
            <p:nvPr/>
          </p:nvPicPr>
          <p:blipFill>
            <a:blip r:embed="rId2" cstate="print"/>
            <a:stretch>
              <a:fillRect/>
            </a:stretch>
          </p:blipFill>
          <p:spPr>
            <a:xfrm>
              <a:off x="10896599" y="0"/>
              <a:ext cx="1295400" cy="1114425"/>
            </a:xfrm>
            <a:prstGeom prst="rect">
              <a:avLst/>
            </a:prstGeom>
          </p:spPr>
        </p:pic>
        <p:pic>
          <p:nvPicPr>
            <p:cNvPr id="9" name="object 9"/>
            <p:cNvPicPr/>
            <p:nvPr/>
          </p:nvPicPr>
          <p:blipFill>
            <a:blip r:embed="rId3" cstate="print"/>
            <a:stretch>
              <a:fillRect/>
            </a:stretch>
          </p:blipFill>
          <p:spPr>
            <a:xfrm>
              <a:off x="0" y="1142999"/>
              <a:ext cx="4000499" cy="5714998"/>
            </a:xfrm>
            <a:prstGeom prst="rect">
              <a:avLst/>
            </a:prstGeom>
          </p:spPr>
        </p:pic>
      </p:grpSp>
      <p:sp>
        <p:nvSpPr>
          <p:cNvPr id="10" name="object 10"/>
          <p:cNvSpPr txBox="1">
            <a:spLocks noGrp="1"/>
          </p:cNvSpPr>
          <p:nvPr>
            <p:ph type="title"/>
          </p:nvPr>
        </p:nvSpPr>
        <p:spPr>
          <a:xfrm>
            <a:off x="4883150" y="85343"/>
            <a:ext cx="3618865" cy="575310"/>
          </a:xfrm>
          <a:prstGeom prst="rect">
            <a:avLst/>
          </a:prstGeom>
        </p:spPr>
        <p:txBody>
          <a:bodyPr vert="horz" wrap="square" lIns="0" tIns="13335" rIns="0" bIns="0" rtlCol="0">
            <a:spAutoFit/>
          </a:bodyPr>
          <a:lstStyle/>
          <a:p>
            <a:pPr marL="12700">
              <a:lnSpc>
                <a:spcPct val="100000"/>
              </a:lnSpc>
              <a:spcBef>
                <a:spcPts val="105"/>
              </a:spcBef>
            </a:pPr>
            <a:r>
              <a:rPr sz="3600" b="0" dirty="0">
                <a:solidFill>
                  <a:srgbClr val="FFC000"/>
                </a:solidFill>
                <a:latin typeface="Times New Roman"/>
                <a:cs typeface="Times New Roman"/>
              </a:rPr>
              <a:t>GM</a:t>
            </a:r>
            <a:r>
              <a:rPr sz="3600" b="0" spc="-10" dirty="0">
                <a:solidFill>
                  <a:srgbClr val="FFC000"/>
                </a:solidFill>
                <a:latin typeface="Times New Roman"/>
                <a:cs typeface="Times New Roman"/>
              </a:rPr>
              <a:t> UNIVERSITY</a:t>
            </a:r>
            <a:endParaRPr sz="3600">
              <a:latin typeface="Times New Roman"/>
              <a:cs typeface="Times New Roman"/>
            </a:endParaRPr>
          </a:p>
        </p:txBody>
      </p:sp>
      <p:sp>
        <p:nvSpPr>
          <p:cNvPr id="11" name="object 11"/>
          <p:cNvSpPr txBox="1"/>
          <p:nvPr/>
        </p:nvSpPr>
        <p:spPr>
          <a:xfrm>
            <a:off x="4635119" y="421300"/>
            <a:ext cx="6311900" cy="2464136"/>
          </a:xfrm>
          <a:prstGeom prst="rect">
            <a:avLst/>
          </a:prstGeom>
        </p:spPr>
        <p:txBody>
          <a:bodyPr vert="horz" wrap="square" lIns="0" tIns="266065" rIns="0" bIns="0" rtlCol="0">
            <a:spAutoFit/>
          </a:bodyPr>
          <a:lstStyle/>
          <a:p>
            <a:pPr marL="946785">
              <a:lnSpc>
                <a:spcPct val="100000"/>
              </a:lnSpc>
              <a:spcBef>
                <a:spcPts val="2095"/>
              </a:spcBef>
            </a:pPr>
            <a:r>
              <a:rPr sz="2750" spc="-10" dirty="0">
                <a:solidFill>
                  <a:srgbClr val="FFC000"/>
                </a:solidFill>
                <a:latin typeface="Cambria"/>
                <a:cs typeface="Cambria"/>
              </a:rPr>
              <a:t>Davanagere</a:t>
            </a:r>
            <a:endParaRPr lang="en-IN" sz="2750" dirty="0">
              <a:latin typeface="Cambria"/>
              <a:cs typeface="Cambria"/>
            </a:endParaRPr>
          </a:p>
          <a:p>
            <a:pPr marL="1108075">
              <a:lnSpc>
                <a:spcPct val="100000"/>
              </a:lnSpc>
              <a:spcBef>
                <a:spcPts val="2850"/>
              </a:spcBef>
            </a:pPr>
            <a:r>
              <a:rPr lang="en-IN" sz="3200" b="1" dirty="0">
                <a:latin typeface="Times New Roman"/>
                <a:cs typeface="Times New Roman"/>
              </a:rPr>
              <a:t> PBL</a:t>
            </a:r>
            <a:r>
              <a:rPr lang="en-IN" sz="3200" b="1" spc="-165" dirty="0">
                <a:latin typeface="Times New Roman"/>
                <a:cs typeface="Times New Roman"/>
              </a:rPr>
              <a:t> </a:t>
            </a:r>
            <a:r>
              <a:rPr lang="en-IN" sz="3200" b="1" dirty="0">
                <a:latin typeface="Times New Roman"/>
                <a:cs typeface="Times New Roman"/>
              </a:rPr>
              <a:t>PRESENTATION  ON</a:t>
            </a:r>
            <a:endParaRPr lang="en-IN" sz="3200" dirty="0">
              <a:latin typeface="Times New Roman"/>
              <a:cs typeface="Times New Roman"/>
            </a:endParaRPr>
          </a:p>
          <a:p>
            <a:pPr marL="704850" marR="5080" indent="-692785" algn="ctr">
              <a:lnSpc>
                <a:spcPct val="100000"/>
              </a:lnSpc>
              <a:spcBef>
                <a:spcPts val="65"/>
              </a:spcBef>
            </a:pPr>
            <a:r>
              <a:rPr lang="en-IN" sz="2750" dirty="0">
                <a:solidFill>
                  <a:srgbClr val="FF0000"/>
                </a:solidFill>
                <a:latin typeface="Times New Roman"/>
                <a:cs typeface="Times New Roman"/>
              </a:rPr>
              <a:t>            “TITLE OF THE PROJECT”</a:t>
            </a:r>
            <a:endParaRPr lang="en-IN" sz="2750" dirty="0">
              <a:latin typeface="Times New Roman"/>
              <a:cs typeface="Times New Roman"/>
            </a:endParaRPr>
          </a:p>
          <a:p>
            <a:pPr marL="2700655">
              <a:lnSpc>
                <a:spcPct val="100000"/>
              </a:lnSpc>
              <a:spcBef>
                <a:spcPts val="844"/>
              </a:spcBef>
            </a:pPr>
            <a:r>
              <a:rPr sz="2400" b="1" dirty="0">
                <a:solidFill>
                  <a:srgbClr val="00AF50"/>
                </a:solidFill>
                <a:latin typeface="Times New Roman"/>
                <a:cs typeface="Times New Roman"/>
              </a:rPr>
              <a:t>Presented</a:t>
            </a:r>
            <a:r>
              <a:rPr sz="2400" b="1" spc="-95" dirty="0">
                <a:solidFill>
                  <a:srgbClr val="00AF50"/>
                </a:solidFill>
                <a:latin typeface="Times New Roman"/>
                <a:cs typeface="Times New Roman"/>
              </a:rPr>
              <a:t> </a:t>
            </a:r>
            <a:r>
              <a:rPr sz="2400" b="1" spc="-25" dirty="0">
                <a:solidFill>
                  <a:srgbClr val="00AF50"/>
                </a:solidFill>
                <a:latin typeface="Times New Roman"/>
                <a:cs typeface="Times New Roman"/>
              </a:rPr>
              <a:t>by,</a:t>
            </a:r>
            <a:endParaRPr sz="2400" dirty="0">
              <a:latin typeface="Times New Roman"/>
              <a:cs typeface="Times New Roman"/>
            </a:endParaRPr>
          </a:p>
        </p:txBody>
      </p:sp>
      <p:sp>
        <p:nvSpPr>
          <p:cNvPr id="12" name="object 12"/>
          <p:cNvSpPr txBox="1"/>
          <p:nvPr/>
        </p:nvSpPr>
        <p:spPr>
          <a:xfrm>
            <a:off x="5950584" y="3467163"/>
            <a:ext cx="2526030" cy="1575431"/>
          </a:xfrm>
          <a:prstGeom prst="rect">
            <a:avLst/>
          </a:prstGeom>
        </p:spPr>
        <p:txBody>
          <a:bodyPr vert="horz" wrap="square" lIns="0" tIns="120015" rIns="0" bIns="0" rtlCol="0">
            <a:spAutoFit/>
          </a:bodyPr>
          <a:lstStyle/>
          <a:p>
            <a:pPr marL="228600" indent="-215900">
              <a:lnSpc>
                <a:spcPct val="100000"/>
              </a:lnSpc>
              <a:spcBef>
                <a:spcPts val="945"/>
              </a:spcBef>
              <a:buAutoNum type="arabicPeriod"/>
              <a:tabLst>
                <a:tab pos="228600" algn="l"/>
              </a:tabLst>
            </a:pPr>
            <a:r>
              <a:rPr lang="en-US" dirty="0" err="1">
                <a:latin typeface="Times New Roman"/>
                <a:cs typeface="Times New Roman"/>
              </a:rPr>
              <a:t>Abhhishek</a:t>
            </a:r>
            <a:r>
              <a:rPr lang="en-US" dirty="0">
                <a:latin typeface="Times New Roman"/>
                <a:cs typeface="Times New Roman"/>
              </a:rPr>
              <a:t> M.P	-</a:t>
            </a:r>
            <a:endParaRPr lang="en-US" sz="1800" dirty="0">
              <a:latin typeface="Times New Roman"/>
              <a:cs typeface="Times New Roman"/>
            </a:endParaRPr>
          </a:p>
          <a:p>
            <a:pPr marL="228600" indent="-215900">
              <a:lnSpc>
                <a:spcPct val="100000"/>
              </a:lnSpc>
              <a:spcBef>
                <a:spcPts val="945"/>
              </a:spcBef>
              <a:buAutoNum type="arabicPeriod"/>
              <a:tabLst>
                <a:tab pos="228600" algn="l"/>
              </a:tabLst>
            </a:pPr>
            <a:r>
              <a:rPr lang="en-US" dirty="0">
                <a:latin typeface="Times New Roman"/>
                <a:cs typeface="Times New Roman"/>
              </a:rPr>
              <a:t>Adarsh D.S	-</a:t>
            </a:r>
          </a:p>
          <a:p>
            <a:pPr marL="228600" indent="-215900">
              <a:lnSpc>
                <a:spcPct val="100000"/>
              </a:lnSpc>
              <a:spcBef>
                <a:spcPts val="945"/>
              </a:spcBef>
              <a:buAutoNum type="arabicPeriod"/>
              <a:tabLst>
                <a:tab pos="228600" algn="l"/>
              </a:tabLst>
            </a:pPr>
            <a:r>
              <a:rPr lang="en-US" dirty="0" err="1">
                <a:latin typeface="Times New Roman"/>
                <a:cs typeface="Times New Roman"/>
              </a:rPr>
              <a:t>Alsamad</a:t>
            </a:r>
            <a:r>
              <a:rPr lang="en-US" dirty="0">
                <a:latin typeface="Times New Roman"/>
                <a:cs typeface="Times New Roman"/>
              </a:rPr>
              <a:t> H.M	-</a:t>
            </a:r>
            <a:endParaRPr lang="en-US" sz="1800" dirty="0">
              <a:latin typeface="Times New Roman"/>
              <a:cs typeface="Times New Roman"/>
            </a:endParaRPr>
          </a:p>
          <a:p>
            <a:pPr marL="228600" indent="-215900">
              <a:lnSpc>
                <a:spcPct val="100000"/>
              </a:lnSpc>
              <a:spcBef>
                <a:spcPts val="945"/>
              </a:spcBef>
              <a:buAutoNum type="arabicPeriod"/>
              <a:tabLst>
                <a:tab pos="228600" algn="l"/>
              </a:tabLst>
            </a:pPr>
            <a:r>
              <a:rPr lang="en-US" dirty="0">
                <a:latin typeface="Times New Roman"/>
                <a:cs typeface="Times New Roman"/>
              </a:rPr>
              <a:t>Chetan S.J	-</a:t>
            </a:r>
            <a:endParaRPr sz="1800" dirty="0">
              <a:latin typeface="Times New Roman"/>
              <a:cs typeface="Times New Roman"/>
            </a:endParaRPr>
          </a:p>
        </p:txBody>
      </p:sp>
      <p:sp>
        <p:nvSpPr>
          <p:cNvPr id="13" name="object 13"/>
          <p:cNvSpPr txBox="1"/>
          <p:nvPr/>
        </p:nvSpPr>
        <p:spPr>
          <a:xfrm>
            <a:off x="9345204" y="3480210"/>
            <a:ext cx="1571625" cy="1549335"/>
          </a:xfrm>
          <a:prstGeom prst="rect">
            <a:avLst/>
          </a:prstGeom>
        </p:spPr>
        <p:txBody>
          <a:bodyPr vert="horz" wrap="square" lIns="0" tIns="12700" rIns="0" bIns="0" rtlCol="0">
            <a:spAutoFit/>
          </a:bodyPr>
          <a:lstStyle/>
          <a:p>
            <a:pPr marL="34925" marR="5080" indent="-22860" algn="just">
              <a:lnSpc>
                <a:spcPct val="139100"/>
              </a:lnSpc>
              <a:spcBef>
                <a:spcPts val="100"/>
              </a:spcBef>
            </a:pPr>
            <a:r>
              <a:rPr lang="en-US" sz="1800" spc="-10" dirty="0">
                <a:latin typeface="Times New Roman"/>
                <a:cs typeface="Times New Roman"/>
              </a:rPr>
              <a:t>U25E01AI002</a:t>
            </a:r>
          </a:p>
          <a:p>
            <a:pPr marL="34925" marR="5080" indent="-22860" algn="just">
              <a:lnSpc>
                <a:spcPct val="139100"/>
              </a:lnSpc>
              <a:spcBef>
                <a:spcPts val="100"/>
              </a:spcBef>
            </a:pPr>
            <a:r>
              <a:rPr lang="en-US" sz="1800" spc="-10" dirty="0">
                <a:latin typeface="Times New Roman"/>
                <a:cs typeface="Times New Roman"/>
              </a:rPr>
              <a:t>U25E01AI003</a:t>
            </a:r>
          </a:p>
          <a:p>
            <a:pPr marL="34925" marR="5080" indent="-22860" algn="just">
              <a:lnSpc>
                <a:spcPct val="139100"/>
              </a:lnSpc>
              <a:spcBef>
                <a:spcPts val="100"/>
              </a:spcBef>
            </a:pPr>
            <a:r>
              <a:rPr lang="en-US" spc="-10" dirty="0">
                <a:latin typeface="Times New Roman"/>
                <a:cs typeface="Times New Roman"/>
              </a:rPr>
              <a:t>U25E01AI009</a:t>
            </a:r>
            <a:endParaRPr lang="en-US" sz="1800" spc="-10" dirty="0">
              <a:latin typeface="Times New Roman"/>
              <a:cs typeface="Times New Roman"/>
            </a:endParaRPr>
          </a:p>
          <a:p>
            <a:pPr marL="34925" marR="5080" indent="-22860" algn="just">
              <a:lnSpc>
                <a:spcPct val="139100"/>
              </a:lnSpc>
              <a:spcBef>
                <a:spcPts val="100"/>
              </a:spcBef>
            </a:pPr>
            <a:r>
              <a:rPr lang="en-IN" spc="-10" dirty="0">
                <a:latin typeface="Times New Roman"/>
                <a:cs typeface="Times New Roman"/>
              </a:rPr>
              <a:t>U25E01AI031</a:t>
            </a:r>
            <a:endParaRPr sz="1800" dirty="0">
              <a:latin typeface="Times New Roman"/>
              <a:cs typeface="Times New Roman"/>
            </a:endParaRPr>
          </a:p>
        </p:txBody>
      </p:sp>
      <p:graphicFrame>
        <p:nvGraphicFramePr>
          <p:cNvPr id="14" name="object 14"/>
          <p:cNvGraphicFramePr>
            <a:graphicFrameLocks noGrp="1"/>
          </p:cNvGraphicFramePr>
          <p:nvPr>
            <p:extLst>
              <p:ext uri="{D42A27DB-BD31-4B8C-83A1-F6EECF244321}">
                <p14:modId xmlns:p14="http://schemas.microsoft.com/office/powerpoint/2010/main" val="1484784067"/>
              </p:ext>
            </p:extLst>
          </p:nvPr>
        </p:nvGraphicFramePr>
        <p:xfrm>
          <a:off x="4038600" y="5216843"/>
          <a:ext cx="8187056" cy="1381759"/>
        </p:xfrm>
        <a:graphic>
          <a:graphicData uri="http://schemas.openxmlformats.org/drawingml/2006/table">
            <a:tbl>
              <a:tblPr firstRow="1" bandRow="1">
                <a:tableStyleId>{2D5ABB26-0587-4C30-8999-92F81FD0307C}</a:tableStyleId>
              </a:tblPr>
              <a:tblGrid>
                <a:gridCol w="2614185">
                  <a:extLst>
                    <a:ext uri="{9D8B030D-6E8A-4147-A177-3AD203B41FA5}">
                      <a16:colId xmlns:a16="http://schemas.microsoft.com/office/drawing/2014/main" val="20000"/>
                    </a:ext>
                  </a:extLst>
                </a:gridCol>
                <a:gridCol w="3549035">
                  <a:extLst>
                    <a:ext uri="{9D8B030D-6E8A-4147-A177-3AD203B41FA5}">
                      <a16:colId xmlns:a16="http://schemas.microsoft.com/office/drawing/2014/main" val="20001"/>
                    </a:ext>
                  </a:extLst>
                </a:gridCol>
                <a:gridCol w="2023836">
                  <a:extLst>
                    <a:ext uri="{9D8B030D-6E8A-4147-A177-3AD203B41FA5}">
                      <a16:colId xmlns:a16="http://schemas.microsoft.com/office/drawing/2014/main" val="20002"/>
                    </a:ext>
                  </a:extLst>
                </a:gridCol>
              </a:tblGrid>
              <a:tr h="558645">
                <a:tc>
                  <a:txBody>
                    <a:bodyPr/>
                    <a:lstStyle/>
                    <a:p>
                      <a:pPr marL="31750">
                        <a:lnSpc>
                          <a:spcPts val="1964"/>
                        </a:lnSpc>
                      </a:pPr>
                      <a:r>
                        <a:rPr lang="en-IN" sz="1800" b="1" spc="-10" dirty="0">
                          <a:solidFill>
                            <a:srgbClr val="00AFEF"/>
                          </a:solidFill>
                          <a:latin typeface="Times New Roman"/>
                          <a:cs typeface="Times New Roman"/>
                        </a:rPr>
                        <a:t>      G</a:t>
                      </a:r>
                      <a:r>
                        <a:rPr sz="1800" b="1" spc="-10" dirty="0">
                          <a:solidFill>
                            <a:srgbClr val="00AFEF"/>
                          </a:solidFill>
                          <a:latin typeface="Times New Roman"/>
                          <a:cs typeface="Times New Roman"/>
                        </a:rPr>
                        <a:t>u</a:t>
                      </a:r>
                      <a:r>
                        <a:rPr lang="en-IN" sz="1800" b="1" spc="-10" dirty="0">
                          <a:solidFill>
                            <a:srgbClr val="00AFEF"/>
                          </a:solidFill>
                          <a:latin typeface="Times New Roman"/>
                          <a:cs typeface="Times New Roman"/>
                        </a:rPr>
                        <a:t>i</a:t>
                      </a:r>
                      <a:r>
                        <a:rPr sz="1800" b="1" spc="-10" dirty="0">
                          <a:solidFill>
                            <a:srgbClr val="00AFEF"/>
                          </a:solidFill>
                          <a:latin typeface="Times New Roman"/>
                          <a:cs typeface="Times New Roman"/>
                        </a:rPr>
                        <a:t>d</a:t>
                      </a:r>
                      <a:r>
                        <a:rPr lang="en-IN" sz="1800" b="1" spc="-10" dirty="0">
                          <a:solidFill>
                            <a:srgbClr val="00AFEF"/>
                          </a:solidFill>
                          <a:latin typeface="Times New Roman"/>
                          <a:cs typeface="Times New Roman"/>
                        </a:rPr>
                        <a:t>e </a:t>
                      </a:r>
                    </a:p>
                    <a:p>
                      <a:pPr marL="31750">
                        <a:lnSpc>
                          <a:spcPts val="1964"/>
                        </a:lnSpc>
                      </a:pPr>
                      <a:r>
                        <a:rPr lang="en-IN" sz="1800" b="1" spc="-10" dirty="0">
                          <a:solidFill>
                            <a:srgbClr val="00AFEF"/>
                          </a:solidFill>
                          <a:latin typeface="Times New Roman"/>
                          <a:cs typeface="Times New Roman"/>
                        </a:rPr>
                        <a:t>   Ms. Kavya K N</a:t>
                      </a:r>
                    </a:p>
                    <a:p>
                      <a:pPr marL="31750">
                        <a:lnSpc>
                          <a:spcPts val="1964"/>
                        </a:lnSpc>
                      </a:pPr>
                      <a:endParaRPr lang="en-IN" sz="1800" b="1" spc="-10" dirty="0">
                        <a:solidFill>
                          <a:srgbClr val="00AFEF"/>
                        </a:solidFill>
                        <a:latin typeface="Times New Roman"/>
                        <a:cs typeface="Times New Roman"/>
                      </a:endParaRPr>
                    </a:p>
                  </a:txBody>
                  <a:tcPr marL="0" marR="0" marT="0" marB="0">
                    <a:solidFill>
                      <a:srgbClr val="EDEBE0"/>
                    </a:solidFill>
                  </a:tcPr>
                </a:tc>
                <a:tc>
                  <a:txBody>
                    <a:bodyPr/>
                    <a:lstStyle/>
                    <a:p>
                      <a:pPr marL="438784">
                        <a:lnSpc>
                          <a:spcPts val="1964"/>
                        </a:lnSpc>
                      </a:pPr>
                      <a:r>
                        <a:rPr sz="1800" b="1" dirty="0">
                          <a:solidFill>
                            <a:srgbClr val="00AFEF"/>
                          </a:solidFill>
                          <a:latin typeface="Times New Roman"/>
                          <a:cs typeface="Times New Roman"/>
                        </a:rPr>
                        <a:t>PBL</a:t>
                      </a:r>
                      <a:r>
                        <a:rPr lang="en-IN" sz="1800" b="1" dirty="0">
                          <a:solidFill>
                            <a:srgbClr val="00AFEF"/>
                          </a:solidFill>
                          <a:latin typeface="Times New Roman"/>
                          <a:cs typeface="Times New Roman"/>
                        </a:rPr>
                        <a:t> </a:t>
                      </a:r>
                      <a:r>
                        <a:rPr sz="1800" b="1" spc="-155" dirty="0">
                          <a:solidFill>
                            <a:srgbClr val="00AFEF"/>
                          </a:solidFill>
                          <a:latin typeface="Times New Roman"/>
                          <a:cs typeface="Times New Roman"/>
                        </a:rPr>
                        <a:t> </a:t>
                      </a:r>
                      <a:r>
                        <a:rPr sz="1800" b="1" dirty="0">
                          <a:solidFill>
                            <a:srgbClr val="00AFEF"/>
                          </a:solidFill>
                          <a:latin typeface="Times New Roman"/>
                          <a:cs typeface="Times New Roman"/>
                        </a:rPr>
                        <a:t>Coordinator</a:t>
                      </a:r>
                      <a:r>
                        <a:rPr sz="1800" b="1" spc="25" dirty="0">
                          <a:solidFill>
                            <a:srgbClr val="00AFEF"/>
                          </a:solidFill>
                          <a:latin typeface="Times New Roman"/>
                          <a:cs typeface="Times New Roman"/>
                        </a:rPr>
                        <a:t> </a:t>
                      </a:r>
                      <a:endParaRPr lang="en-IN" sz="1800" b="1" spc="-50" dirty="0">
                        <a:solidFill>
                          <a:srgbClr val="00AFEF"/>
                        </a:solidFill>
                        <a:latin typeface="Times New Roman"/>
                        <a:cs typeface="Times New Roman"/>
                      </a:endParaRPr>
                    </a:p>
                    <a:p>
                      <a:pPr marL="438784" algn="l">
                        <a:lnSpc>
                          <a:spcPts val="1964"/>
                        </a:lnSpc>
                      </a:pPr>
                      <a:r>
                        <a:rPr lang="en-IN" sz="1800" b="1" spc="-50" dirty="0">
                          <a:solidFill>
                            <a:srgbClr val="00AFEF"/>
                          </a:solidFill>
                          <a:latin typeface="Times New Roman"/>
                          <a:cs typeface="Times New Roman"/>
                        </a:rPr>
                        <a:t>Mr. Mohammad Zeeshan M</a:t>
                      </a:r>
                      <a:endParaRPr sz="1800" dirty="0">
                        <a:latin typeface="Times New Roman"/>
                        <a:cs typeface="Times New Roman"/>
                      </a:endParaRPr>
                    </a:p>
                  </a:txBody>
                  <a:tcPr marL="0" marR="0" marT="0" marB="0">
                    <a:solidFill>
                      <a:srgbClr val="EDEBE0"/>
                    </a:solidFill>
                  </a:tcPr>
                </a:tc>
                <a:tc>
                  <a:txBody>
                    <a:bodyPr/>
                    <a:lstStyle/>
                    <a:p>
                      <a:pPr marL="647065" algn="just">
                        <a:lnSpc>
                          <a:spcPts val="1964"/>
                        </a:lnSpc>
                      </a:pPr>
                      <a:r>
                        <a:rPr lang="en-US" sz="1800" b="1" spc="-10" dirty="0">
                          <a:solidFill>
                            <a:srgbClr val="00AFEF"/>
                          </a:solidFill>
                          <a:latin typeface="Times New Roman"/>
                          <a:cs typeface="Times New Roman"/>
                        </a:rPr>
                        <a:t>   HOD</a:t>
                      </a:r>
                      <a:endParaRPr lang="en-US" sz="1800" b="1" spc="-50" dirty="0">
                        <a:solidFill>
                          <a:srgbClr val="00AFEF"/>
                        </a:solidFill>
                        <a:latin typeface="Times New Roman"/>
                        <a:cs typeface="Times New Roman"/>
                      </a:endParaRPr>
                    </a:p>
                    <a:p>
                      <a:pPr marL="647065">
                        <a:lnSpc>
                          <a:spcPts val="1964"/>
                        </a:lnSpc>
                      </a:pPr>
                      <a:r>
                        <a:rPr lang="en-US" sz="1800" b="1" spc="-50" dirty="0">
                          <a:solidFill>
                            <a:srgbClr val="00AFEF"/>
                          </a:solidFill>
                          <a:latin typeface="Times New Roman"/>
                          <a:cs typeface="Times New Roman"/>
                        </a:rPr>
                        <a:t>Dr. Asha K</a:t>
                      </a:r>
                    </a:p>
                  </a:txBody>
                  <a:tcPr marL="0" marR="0" marT="0" marB="0">
                    <a:solidFill>
                      <a:srgbClr val="EDEBE0"/>
                    </a:solidFill>
                  </a:tcPr>
                </a:tc>
                <a:extLst>
                  <a:ext uri="{0D108BD9-81ED-4DB2-BD59-A6C34878D82A}">
                    <a16:rowId xmlns:a16="http://schemas.microsoft.com/office/drawing/2014/main" val="10000"/>
                  </a:ext>
                </a:extLst>
              </a:tr>
              <a:tr h="231440">
                <a:tc>
                  <a:txBody>
                    <a:bodyPr/>
                    <a:lstStyle/>
                    <a:p>
                      <a:pPr marL="31750">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429895">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553085">
                        <a:lnSpc>
                          <a:spcPct val="100000"/>
                        </a:lnSpc>
                        <a:spcBef>
                          <a:spcPts val="309"/>
                        </a:spcBef>
                      </a:pPr>
                      <a:endParaRPr sz="1800" dirty="0">
                        <a:latin typeface="Times New Roman"/>
                        <a:cs typeface="Times New Roman"/>
                      </a:endParaRPr>
                    </a:p>
                  </a:txBody>
                  <a:tcPr marL="0" marR="0" marT="39369" marB="0">
                    <a:solidFill>
                      <a:srgbClr val="EDEBE0"/>
                    </a:solidFill>
                  </a:tcPr>
                </a:tc>
                <a:extLst>
                  <a:ext uri="{0D108BD9-81ED-4DB2-BD59-A6C34878D82A}">
                    <a16:rowId xmlns:a16="http://schemas.microsoft.com/office/drawing/2014/main" val="10001"/>
                  </a:ext>
                </a:extLst>
              </a:tr>
              <a:tr h="224389">
                <a:tc>
                  <a:txBody>
                    <a:bodyPr/>
                    <a:lstStyle/>
                    <a:p>
                      <a:pPr>
                        <a:lnSpc>
                          <a:spcPct val="100000"/>
                        </a:lnSpc>
                      </a:pPr>
                      <a:endParaRPr sz="2000">
                        <a:latin typeface="Times New Roman"/>
                        <a:cs typeface="Times New Roman"/>
                      </a:endParaRPr>
                    </a:p>
                  </a:txBody>
                  <a:tcPr marL="0" marR="0" marT="0" marB="0">
                    <a:solidFill>
                      <a:srgbClr val="EDEBE0"/>
                    </a:solidFill>
                  </a:tcPr>
                </a:tc>
                <a:tc>
                  <a:txBody>
                    <a:bodyPr/>
                    <a:lstStyle/>
                    <a:p>
                      <a:pPr marL="451484">
                        <a:lnSpc>
                          <a:spcPts val="2090"/>
                        </a:lnSpc>
                        <a:spcBef>
                          <a:spcPts val="310"/>
                        </a:spcBef>
                      </a:pPr>
                      <a:endParaRPr sz="1800" dirty="0">
                        <a:latin typeface="Times New Roman"/>
                        <a:cs typeface="Times New Roman"/>
                      </a:endParaRPr>
                    </a:p>
                  </a:txBody>
                  <a:tcPr marL="0" marR="0" marT="39370" marB="0">
                    <a:solidFill>
                      <a:srgbClr val="EDEBE0"/>
                    </a:solidFill>
                  </a:tcPr>
                </a:tc>
                <a:tc>
                  <a:txBody>
                    <a:bodyPr/>
                    <a:lstStyle/>
                    <a:p>
                      <a:pPr>
                        <a:lnSpc>
                          <a:spcPct val="100000"/>
                        </a:lnSpc>
                      </a:pPr>
                      <a:endParaRPr sz="2000" dirty="0">
                        <a:latin typeface="Times New Roman"/>
                        <a:cs typeface="Times New Roman"/>
                      </a:endParaRPr>
                    </a:p>
                  </a:txBody>
                  <a:tcPr marL="0" marR="0" marT="0" marB="0">
                    <a:solidFill>
                      <a:srgbClr val="EDEBE0"/>
                    </a:solidFill>
                  </a:tcPr>
                </a:tc>
                <a:extLst>
                  <a:ext uri="{0D108BD9-81ED-4DB2-BD59-A6C34878D82A}">
                    <a16:rowId xmlns:a16="http://schemas.microsoft.com/office/drawing/2014/main" val="10002"/>
                  </a:ext>
                </a:extLst>
              </a:tr>
            </a:tbl>
          </a:graphicData>
        </a:graphic>
      </p:graphicFrame>
      <p:grpSp>
        <p:nvGrpSpPr>
          <p:cNvPr id="15" name="object 15"/>
          <p:cNvGrpSpPr/>
          <p:nvPr/>
        </p:nvGrpSpPr>
        <p:grpSpPr>
          <a:xfrm>
            <a:off x="-12700" y="6326187"/>
            <a:ext cx="12203430" cy="544830"/>
            <a:chOff x="-12700" y="6326187"/>
            <a:chExt cx="12203430" cy="544830"/>
          </a:xfrm>
        </p:grpSpPr>
        <p:sp>
          <p:nvSpPr>
            <p:cNvPr id="16" name="object 16"/>
            <p:cNvSpPr/>
            <p:nvPr/>
          </p:nvSpPr>
          <p:spPr>
            <a:xfrm>
              <a:off x="0" y="6338887"/>
              <a:ext cx="12178030" cy="519430"/>
            </a:xfrm>
            <a:custGeom>
              <a:avLst/>
              <a:gdLst/>
              <a:ahLst/>
              <a:cxnLst/>
              <a:rect l="l" t="t" r="r" b="b"/>
              <a:pathLst>
                <a:path w="12178030" h="519429">
                  <a:moveTo>
                    <a:pt x="12177711" y="519112"/>
                  </a:moveTo>
                  <a:lnTo>
                    <a:pt x="12177711" y="0"/>
                  </a:lnTo>
                  <a:lnTo>
                    <a:pt x="0" y="0"/>
                  </a:lnTo>
                  <a:lnTo>
                    <a:pt x="0" y="519112"/>
                  </a:lnTo>
                  <a:lnTo>
                    <a:pt x="12177711" y="519112"/>
                  </a:lnTo>
                  <a:close/>
                </a:path>
              </a:pathLst>
            </a:custGeom>
            <a:solidFill>
              <a:srgbClr val="622422"/>
            </a:solidFill>
          </p:spPr>
          <p:txBody>
            <a:bodyPr wrap="square" lIns="0" tIns="0" rIns="0" bIns="0" rtlCol="0"/>
            <a:lstStyle/>
            <a:p>
              <a:endParaRPr/>
            </a:p>
          </p:txBody>
        </p:sp>
        <p:sp>
          <p:nvSpPr>
            <p:cNvPr id="17" name="object 17"/>
            <p:cNvSpPr/>
            <p:nvPr/>
          </p:nvSpPr>
          <p:spPr>
            <a:xfrm>
              <a:off x="0" y="6338887"/>
              <a:ext cx="12178030" cy="519430"/>
            </a:xfrm>
            <a:custGeom>
              <a:avLst/>
              <a:gdLst/>
              <a:ahLst/>
              <a:cxnLst/>
              <a:rect l="l" t="t" r="r" b="b"/>
              <a:pathLst>
                <a:path w="12178030" h="519429">
                  <a:moveTo>
                    <a:pt x="12177711" y="519112"/>
                  </a:moveTo>
                  <a:lnTo>
                    <a:pt x="12177711" y="0"/>
                  </a:lnTo>
                  <a:lnTo>
                    <a:pt x="0" y="0"/>
                  </a:lnTo>
                </a:path>
              </a:pathLst>
            </a:custGeom>
            <a:ln w="25400">
              <a:solidFill>
                <a:srgbClr val="622422"/>
              </a:solidFill>
            </a:ln>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CONTENTS</a:t>
            </a:r>
            <a:endParaRPr lang="en-US" sz="4000" b="1" dirty="0">
              <a:solidFill>
                <a:srgbClr val="FF0000"/>
              </a:solidFill>
            </a:endParaRPr>
          </a:p>
        </p:txBody>
      </p:sp>
      <p:sp>
        <p:nvSpPr>
          <p:cNvPr id="12" name="object 4">
            <a:extLst>
              <a:ext uri="{FF2B5EF4-FFF2-40B4-BE49-F238E27FC236}">
                <a16:creationId xmlns:a16="http://schemas.microsoft.com/office/drawing/2014/main" id="{24D4CA09-A8BD-43B2-B6A0-339B66FABE38}"/>
              </a:ext>
            </a:extLst>
          </p:cNvPr>
          <p:cNvSpPr txBox="1"/>
          <p:nvPr/>
        </p:nvSpPr>
        <p:spPr>
          <a:xfrm>
            <a:off x="656935" y="843359"/>
            <a:ext cx="5719445" cy="5547801"/>
          </a:xfrm>
          <a:prstGeom prst="rect">
            <a:avLst/>
          </a:prstGeom>
        </p:spPr>
        <p:txBody>
          <a:bodyPr vert="horz" wrap="square" lIns="0" tIns="15875" rIns="0" bIns="0" rtlCol="0">
            <a:spAutoFit/>
          </a:bodyPr>
          <a:lstStyle/>
          <a:p>
            <a:pPr marL="12700">
              <a:lnSpc>
                <a:spcPct val="150000"/>
              </a:lnSpc>
              <a:spcBef>
                <a:spcPts val="2710"/>
              </a:spcBef>
              <a:tabLst>
                <a:tab pos="367665" algn="l"/>
              </a:tabLst>
            </a:pPr>
            <a:r>
              <a:rPr lang="en-IN" sz="2800" spc="-10" dirty="0">
                <a:latin typeface="Times New Roman"/>
                <a:cs typeface="Times New Roman"/>
              </a:rPr>
              <a:t>1. Abstracts</a:t>
            </a:r>
          </a:p>
          <a:p>
            <a:pPr marL="12700">
              <a:lnSpc>
                <a:spcPct val="150000"/>
              </a:lnSpc>
              <a:spcBef>
                <a:spcPts val="2710"/>
              </a:spcBef>
              <a:tabLst>
                <a:tab pos="367665" algn="l"/>
              </a:tabLst>
            </a:pPr>
            <a:r>
              <a:rPr lang="en-IN" sz="2800" spc="-10" dirty="0">
                <a:latin typeface="Times New Roman"/>
                <a:cs typeface="Times New Roman"/>
              </a:rPr>
              <a:t>2. </a:t>
            </a:r>
            <a:r>
              <a:rPr sz="2800" spc="-10" dirty="0">
                <a:latin typeface="Times New Roman"/>
                <a:cs typeface="Times New Roman"/>
              </a:rPr>
              <a:t>Introduction</a:t>
            </a:r>
            <a:endParaRPr sz="2800" dirty="0">
              <a:latin typeface="Times New Roman"/>
              <a:cs typeface="Times New Roman"/>
            </a:endParaRPr>
          </a:p>
          <a:p>
            <a:pPr marL="12700">
              <a:lnSpc>
                <a:spcPct val="150000"/>
              </a:lnSpc>
              <a:spcBef>
                <a:spcPts val="2710"/>
              </a:spcBef>
              <a:tabLst>
                <a:tab pos="367665" algn="l"/>
              </a:tabLst>
            </a:pPr>
            <a:r>
              <a:rPr lang="en-IN" sz="2800" dirty="0">
                <a:latin typeface="Times New Roman"/>
                <a:cs typeface="Times New Roman"/>
              </a:rPr>
              <a:t>3. </a:t>
            </a:r>
            <a:r>
              <a:rPr sz="2800" dirty="0">
                <a:latin typeface="Times New Roman"/>
                <a:cs typeface="Times New Roman"/>
              </a:rPr>
              <a:t>Problem</a:t>
            </a:r>
            <a:r>
              <a:rPr sz="2800" spc="16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12700">
              <a:lnSpc>
                <a:spcPct val="150000"/>
              </a:lnSpc>
              <a:spcBef>
                <a:spcPts val="2705"/>
              </a:spcBef>
              <a:tabLst>
                <a:tab pos="367665" algn="l"/>
              </a:tabLst>
            </a:pPr>
            <a:r>
              <a:rPr lang="en-IN" sz="2800" dirty="0">
                <a:latin typeface="Times New Roman"/>
                <a:cs typeface="Times New Roman"/>
              </a:rPr>
              <a:t>4. </a:t>
            </a:r>
            <a:r>
              <a:rPr sz="2800" dirty="0">
                <a:latin typeface="Times New Roman"/>
                <a:cs typeface="Times New Roman"/>
              </a:rPr>
              <a:t>Objectives</a:t>
            </a:r>
          </a:p>
          <a:p>
            <a:pPr marL="12700">
              <a:lnSpc>
                <a:spcPct val="150000"/>
              </a:lnSpc>
              <a:spcBef>
                <a:spcPts val="2710"/>
              </a:spcBef>
              <a:tabLst>
                <a:tab pos="367665" algn="l"/>
              </a:tabLst>
            </a:pPr>
            <a:r>
              <a:rPr lang="en-IN" sz="2800" dirty="0">
                <a:latin typeface="Times New Roman"/>
                <a:cs typeface="Times New Roman"/>
              </a:rPr>
              <a:t>5. Methodology</a:t>
            </a:r>
          </a:p>
          <a:p>
            <a:pPr marL="12700">
              <a:lnSpc>
                <a:spcPct val="150000"/>
              </a:lnSpc>
              <a:spcBef>
                <a:spcPts val="2710"/>
              </a:spcBef>
              <a:tabLst>
                <a:tab pos="367665" algn="l"/>
              </a:tabLst>
            </a:pPr>
            <a:r>
              <a:rPr lang="en-IN" sz="2800" dirty="0">
                <a:latin typeface="Times New Roman"/>
                <a:cs typeface="Times New Roman"/>
              </a:rPr>
              <a:t>6. Software and hardware specifications</a:t>
            </a:r>
            <a:endParaRPr sz="2800" dirty="0">
              <a:latin typeface="Times New Roman"/>
              <a:cs typeface="Times New Roman"/>
            </a:endParaRPr>
          </a:p>
        </p:txBody>
      </p:sp>
    </p:spTree>
    <p:extLst>
      <p:ext uri="{BB962C8B-B14F-4D97-AF65-F5344CB8AC3E}">
        <p14:creationId xmlns:p14="http://schemas.microsoft.com/office/powerpoint/2010/main" val="174790639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ABSTRACT</a:t>
            </a:r>
            <a:endParaRPr lang="en-US" sz="4000" b="1" dirty="0">
              <a:solidFill>
                <a:srgbClr val="FF0000"/>
              </a:solidFill>
            </a:endParaRPr>
          </a:p>
        </p:txBody>
      </p:sp>
      <p:sp>
        <p:nvSpPr>
          <p:cNvPr id="12" name="TextBox 11">
            <a:extLst>
              <a:ext uri="{FF2B5EF4-FFF2-40B4-BE49-F238E27FC236}">
                <a16:creationId xmlns:a16="http://schemas.microsoft.com/office/drawing/2014/main" id="{D68B8169-FCC4-BE23-23F0-BBE0CFFD3792}"/>
              </a:ext>
            </a:extLst>
          </p:cNvPr>
          <p:cNvSpPr txBox="1"/>
          <p:nvPr/>
        </p:nvSpPr>
        <p:spPr>
          <a:xfrm>
            <a:off x="1216404" y="1773036"/>
            <a:ext cx="9527796" cy="1200329"/>
          </a:xfrm>
          <a:prstGeom prst="rect">
            <a:avLst/>
          </a:prstGeom>
          <a:noFill/>
        </p:spPr>
        <p:txBody>
          <a:bodyPr wrap="square">
            <a:spAutoFit/>
          </a:bodyPr>
          <a:lstStyle/>
          <a:p>
            <a:r>
              <a:rPr lang="en-US" dirty="0"/>
              <a:t>A Healthcare Patient Portal is a secure online </a:t>
            </a:r>
            <a:r>
              <a:rPr lang="en-US" dirty="0" err="1"/>
              <a:t>platformationpatients</a:t>
            </a:r>
            <a:r>
              <a:rPr lang="en-US" dirty="0"/>
              <a:t> to </a:t>
            </a:r>
            <a:r>
              <a:rPr lang="en-US" dirty="0" err="1"/>
              <a:t>acess</a:t>
            </a:r>
            <a:r>
              <a:rPr lang="en-US" dirty="0"/>
              <a:t> and manage their personal health </a:t>
            </a:r>
            <a:r>
              <a:rPr lang="en-US" dirty="0" err="1"/>
              <a:t>infconveniently</a:t>
            </a:r>
            <a:r>
              <a:rPr lang="en-US" dirty="0"/>
              <a:t>. It serves as a digital bridge between patients and </a:t>
            </a:r>
            <a:r>
              <a:rPr lang="en-US" dirty="0" err="1"/>
              <a:t>healthcareproviders</a:t>
            </a:r>
            <a:r>
              <a:rPr lang="en-US" dirty="0"/>
              <a:t>, it allows patients to access their health records, test </a:t>
            </a:r>
            <a:r>
              <a:rPr lang="en-US" dirty="0" err="1"/>
              <a:t>results,and</a:t>
            </a:r>
            <a:r>
              <a:rPr lang="en-US" dirty="0"/>
              <a:t> </a:t>
            </a:r>
            <a:r>
              <a:rPr lang="en-US" dirty="0" err="1"/>
              <a:t>appoitments</a:t>
            </a:r>
            <a:r>
              <a:rPr lang="en-US" dirty="0"/>
              <a:t> anytime.</a:t>
            </a:r>
          </a:p>
        </p:txBody>
      </p:sp>
    </p:spTree>
    <p:extLst>
      <p:ext uri="{BB962C8B-B14F-4D97-AF65-F5344CB8AC3E}">
        <p14:creationId xmlns:p14="http://schemas.microsoft.com/office/powerpoint/2010/main" val="1598740542"/>
      </p:ext>
    </p:extLst>
  </p:cSld>
  <p:clrMapOvr>
    <a:masterClrMapping/>
  </p:clrMapOvr>
  <p:transition spd="slow">
    <p:wheel spokes="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INTRODUCTION</a:t>
            </a:r>
            <a:endParaRPr lang="en-US" sz="4000" b="1" dirty="0">
              <a:solidFill>
                <a:srgbClr val="FF0000"/>
              </a:solidFill>
            </a:endParaRPr>
          </a:p>
        </p:txBody>
      </p:sp>
      <p:sp>
        <p:nvSpPr>
          <p:cNvPr id="4" name="Rectangle 1">
            <a:extLst>
              <a:ext uri="{FF2B5EF4-FFF2-40B4-BE49-F238E27FC236}">
                <a16:creationId xmlns:a16="http://schemas.microsoft.com/office/drawing/2014/main" id="{4283A56F-CDDE-BBE8-5E27-EAB16F1A9804}"/>
              </a:ext>
            </a:extLst>
          </p:cNvPr>
          <p:cNvSpPr>
            <a:spLocks noChangeArrowheads="1"/>
          </p:cNvSpPr>
          <p:nvPr/>
        </p:nvSpPr>
        <p:spPr bwMode="auto">
          <a:xfrm>
            <a:off x="1423038" y="1647655"/>
            <a:ext cx="934592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sz="1800" b="0" i="0" u="none" strike="noStrike" cap="none" normalizeH="0" baseline="0" dirty="0">
                <a:ln>
                  <a:noFill/>
                </a:ln>
                <a:solidFill>
                  <a:schemeClr val="tx1"/>
                </a:solidFill>
                <a:effectLst/>
                <a:latin typeface="Arial" panose="020B0604020202020204" pitchFamily="34" charset="0"/>
              </a:rPr>
              <a:t>A Healthcare Portal is an Online platform that helps patients manage their health easily.</a:t>
            </a:r>
            <a:r>
              <a:rPr lang="en-US" altLang="en-US" dirty="0">
                <a:solidFill>
                  <a:schemeClr val="tx1"/>
                </a:solidFill>
                <a:latin typeface="Arial" panose="020B0604020202020204" pitchFamily="34" charset="0"/>
              </a:rPr>
              <a:t> Through the portal, patients can view their medical reports and prescriptions. They can also book doctor appointments and also check their lab test results. They can communicate with doctors through messages or video calls and able to pay medical bills online.</a:t>
            </a:r>
            <a:endParaRPr kumimoji="0" lang="en-I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7264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PROBLEM STATEMENT</a:t>
            </a:r>
            <a:endParaRPr lang="en-US" sz="4000" b="1" dirty="0">
              <a:solidFill>
                <a:srgbClr val="FF0000"/>
              </a:solidFill>
            </a:endParaRPr>
          </a:p>
        </p:txBody>
      </p:sp>
      <p:sp>
        <p:nvSpPr>
          <p:cNvPr id="2" name="TextBox 1">
            <a:extLst>
              <a:ext uri="{FF2B5EF4-FFF2-40B4-BE49-F238E27FC236}">
                <a16:creationId xmlns:a16="http://schemas.microsoft.com/office/drawing/2014/main" id="{D2C8D700-F1A5-4579-7F71-072A6B0837F1}"/>
              </a:ext>
            </a:extLst>
          </p:cNvPr>
          <p:cNvSpPr txBox="1"/>
          <p:nvPr/>
        </p:nvSpPr>
        <p:spPr>
          <a:xfrm>
            <a:off x="1063349" y="1630590"/>
            <a:ext cx="9906000" cy="2308324"/>
          </a:xfrm>
          <a:prstGeom prst="rect">
            <a:avLst/>
          </a:prstGeom>
          <a:noFill/>
        </p:spPr>
        <p:txBody>
          <a:bodyPr wrap="square" rtlCol="0">
            <a:spAutoFit/>
          </a:bodyPr>
          <a:lstStyle/>
          <a:p>
            <a:r>
              <a:rPr lang="en-US" sz="1800" b="1" dirty="0"/>
              <a:t>In many healthcare systems, patients face difficulties in accessing their medical records, booking appointments, and communicating with healthcare providers. The absence of a centralized and user-friendly digital platform leads to delays, data errors, and poor patient engagement. Therefore, there is a need for a secure and efficient healthcare patient portal that provides easy access to personal health information and improves communication between patients and healthcare professionals.</a:t>
            </a:r>
          </a:p>
          <a:p>
            <a:br>
              <a:rPr lang="en-US" sz="1800" b="1" dirty="0"/>
            </a:br>
            <a:endParaRPr lang="en-US" dirty="0"/>
          </a:p>
        </p:txBody>
      </p:sp>
    </p:spTree>
    <p:extLst>
      <p:ext uri="{BB962C8B-B14F-4D97-AF65-F5344CB8AC3E}">
        <p14:creationId xmlns:p14="http://schemas.microsoft.com/office/powerpoint/2010/main" val="26636328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OBJECTIVES</a:t>
            </a:r>
            <a:endParaRPr lang="en-US" sz="4000" b="1" dirty="0">
              <a:solidFill>
                <a:srgbClr val="FF0000"/>
              </a:solidFill>
            </a:endParaRPr>
          </a:p>
        </p:txBody>
      </p:sp>
      <p:sp>
        <p:nvSpPr>
          <p:cNvPr id="2" name="Rectangle 1">
            <a:extLst>
              <a:ext uri="{FF2B5EF4-FFF2-40B4-BE49-F238E27FC236}">
                <a16:creationId xmlns:a16="http://schemas.microsoft.com/office/drawing/2014/main" id="{E13F2DC6-7827-D08F-C006-BD0FAF6C92BE}"/>
              </a:ext>
            </a:extLst>
          </p:cNvPr>
          <p:cNvSpPr>
            <a:spLocks noChangeArrowheads="1"/>
          </p:cNvSpPr>
          <p:nvPr/>
        </p:nvSpPr>
        <p:spPr bwMode="auto">
          <a:xfrm>
            <a:off x="685800" y="1181338"/>
            <a:ext cx="11049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r>
              <a:rPr lang="en-US" sz="1800" b="1" dirty="0"/>
              <a:t>1. To provide patients with secure and convenient access to their personal health information.</a:t>
            </a:r>
          </a:p>
          <a:p>
            <a:r>
              <a:rPr lang="en-US" sz="1800" b="1" dirty="0"/>
              <a:t> </a:t>
            </a:r>
          </a:p>
          <a:p>
            <a:r>
              <a:rPr lang="en-US" sz="1800" b="1" dirty="0"/>
              <a:t> </a:t>
            </a:r>
          </a:p>
          <a:p>
            <a:pPr lvl="0"/>
            <a:r>
              <a:rPr lang="en-US" sz="1800" b="1" dirty="0"/>
              <a:t>2. To improve communication between patients and healthcare providers.</a:t>
            </a:r>
          </a:p>
          <a:p>
            <a:r>
              <a:rPr lang="en-US" sz="1800" b="1" dirty="0"/>
              <a:t> </a:t>
            </a:r>
          </a:p>
          <a:p>
            <a:r>
              <a:rPr lang="en-US" sz="1800" b="1" dirty="0"/>
              <a:t> </a:t>
            </a:r>
          </a:p>
          <a:p>
            <a:pPr lvl="0"/>
            <a:r>
              <a:rPr lang="en-US" sz="1800" b="1" dirty="0"/>
              <a:t>3. To allow online appointment scheduling, billing, and prescription refills.</a:t>
            </a:r>
          </a:p>
          <a:p>
            <a:r>
              <a:rPr lang="en-US" sz="1800" b="1" dirty="0"/>
              <a:t> </a:t>
            </a:r>
          </a:p>
          <a:p>
            <a:r>
              <a:rPr lang="en-US" sz="1800" b="1" dirty="0"/>
              <a:t> </a:t>
            </a:r>
          </a:p>
          <a:p>
            <a:pPr lvl="0"/>
            <a:r>
              <a:rPr lang="en-US" sz="1800" b="1" dirty="0"/>
              <a:t>4. To enhance patient engagement and participation in their own healthcare.</a:t>
            </a:r>
          </a:p>
          <a:p>
            <a:r>
              <a:rPr lang="en-US" sz="1800" b="1" dirty="0"/>
              <a:t> </a:t>
            </a:r>
          </a:p>
          <a:p>
            <a:r>
              <a:rPr lang="en-US" sz="1800" b="1" dirty="0"/>
              <a:t> </a:t>
            </a:r>
          </a:p>
          <a:p>
            <a:pPr lvl="0"/>
            <a:r>
              <a:rPr lang="en-US" sz="1800" b="1" dirty="0"/>
              <a:t>5. To reduce administrative workload and paperwork in hospitals or clinics.</a:t>
            </a:r>
          </a:p>
          <a:p>
            <a:r>
              <a:rPr lang="en-US" sz="1800" b="1" dirty="0"/>
              <a:t> </a:t>
            </a:r>
          </a:p>
          <a:p>
            <a:r>
              <a:rPr lang="en-US" sz="1800" b="1" dirty="0"/>
              <a:t> </a:t>
            </a:r>
          </a:p>
          <a:p>
            <a:pPr lvl="0"/>
            <a:r>
              <a:rPr lang="en-US" sz="1800" b="1" dirty="0"/>
              <a:t>6. To ensure accuracy, privacy, and timely updates of patient data.</a:t>
            </a:r>
          </a:p>
          <a:p>
            <a:r>
              <a:rPr lang="en-US" sz="1800" b="1" dirty="0"/>
              <a:t> </a:t>
            </a:r>
          </a:p>
          <a:p>
            <a:r>
              <a:rPr lang="en-US" sz="1800" b="1" dirty="0"/>
              <a:t> </a:t>
            </a:r>
          </a:p>
          <a:p>
            <a:r>
              <a:rPr lang="en-US" sz="1800" dirty="0"/>
              <a:t>7. To support better decision-making through access to electronic health records (EHR).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41371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467832" y="101314"/>
            <a:ext cx="11726795" cy="1323439"/>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SOFTWARE AND HARDWARE REQUIREMENTS </a:t>
            </a:r>
            <a:endParaRPr lang="en-US" sz="4000" b="1" dirty="0">
              <a:solidFill>
                <a:srgbClr val="FF0000"/>
              </a:solidFill>
            </a:endParaRPr>
          </a:p>
        </p:txBody>
      </p:sp>
      <p:sp>
        <p:nvSpPr>
          <p:cNvPr id="4" name="TextBox 3">
            <a:extLst>
              <a:ext uri="{FF2B5EF4-FFF2-40B4-BE49-F238E27FC236}">
                <a16:creationId xmlns:a16="http://schemas.microsoft.com/office/drawing/2014/main" id="{AFCF9F1B-275E-7AFE-AAB4-241540DB5D3D}"/>
              </a:ext>
            </a:extLst>
          </p:cNvPr>
          <p:cNvSpPr txBox="1"/>
          <p:nvPr/>
        </p:nvSpPr>
        <p:spPr>
          <a:xfrm>
            <a:off x="1447800" y="1770221"/>
            <a:ext cx="6107184" cy="4801314"/>
          </a:xfrm>
          <a:prstGeom prst="rect">
            <a:avLst/>
          </a:prstGeom>
          <a:noFill/>
        </p:spPr>
        <p:txBody>
          <a:bodyPr wrap="square">
            <a:spAutoFit/>
          </a:bodyPr>
          <a:lstStyle/>
          <a:p>
            <a:pPr marL="342900" lvl="0" indent="-342900" rtl="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Operating System: Windows/Linux/macOS</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err="1">
                <a:effectLst/>
                <a:latin typeface="Times New Roman" panose="02020603050405020304" pitchFamily="18" charset="0"/>
                <a:ea typeface="Times New Roman" panose="02020603050405020304" pitchFamily="18" charset="0"/>
              </a:rPr>
              <a:t>Frontend:HTML,CSS</a:t>
            </a:r>
            <a:r>
              <a:rPr lang="en-US" sz="1800" b="1" kern="0" spc="-20" dirty="0">
                <a:effectLst/>
                <a:latin typeface="Times New Roman" panose="02020603050405020304" pitchFamily="18" charset="0"/>
                <a:ea typeface="Times New Roman" panose="02020603050405020304" pitchFamily="18" charset="0"/>
              </a:rPr>
              <a:t>, JavaScript</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Backend: PHP / Python(Django or Flask) / Java (Spring Boot)</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Web Server: Apache / Tomcat</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IDE/</a:t>
            </a:r>
            <a:r>
              <a:rPr lang="en-US" sz="1800" b="1" kern="0" spc="-20" dirty="0" err="1">
                <a:effectLst/>
                <a:latin typeface="Times New Roman" panose="02020603050405020304" pitchFamily="18" charset="0"/>
                <a:ea typeface="Times New Roman" panose="02020603050405020304" pitchFamily="18" charset="0"/>
              </a:rPr>
              <a:t>Tools:Visual</a:t>
            </a:r>
            <a:r>
              <a:rPr lang="en-US" sz="1800" b="1" kern="0" spc="-20" dirty="0">
                <a:effectLst/>
                <a:latin typeface="Times New Roman" panose="02020603050405020304" pitchFamily="18" charset="0"/>
                <a:ea typeface="Times New Roman" panose="02020603050405020304" pitchFamily="18" charset="0"/>
              </a:rPr>
              <a:t> Studio Code , Eclipse</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Browser: Google </a:t>
            </a:r>
            <a:r>
              <a:rPr lang="en-US" sz="1800" b="1" kern="0" spc="-20" dirty="0" err="1">
                <a:effectLst/>
                <a:latin typeface="Times New Roman" panose="02020603050405020304" pitchFamily="18" charset="0"/>
                <a:ea typeface="Times New Roman" panose="02020603050405020304" pitchFamily="18" charset="0"/>
              </a:rPr>
              <a:t>Chorme</a:t>
            </a:r>
            <a:r>
              <a:rPr lang="en-US" sz="1800" b="1" kern="0" spc="-20" dirty="0">
                <a:effectLst/>
                <a:latin typeface="Times New Roman" panose="02020603050405020304" pitchFamily="18" charset="0"/>
                <a:ea typeface="Times New Roman" panose="02020603050405020304" pitchFamily="18" charset="0"/>
              </a:rPr>
              <a:t> / Microsoft edge</a:t>
            </a:r>
            <a:endParaRPr lang="en-US" sz="1800" b="1" kern="0" dirty="0">
              <a:effectLst/>
              <a:latin typeface="Times New Roman" panose="02020603050405020304" pitchFamily="18" charset="0"/>
              <a:ea typeface="Times New Roman" panose="02020603050405020304" pitchFamily="18" charset="0"/>
            </a:endParaRPr>
          </a:p>
          <a:p>
            <a:pPr marL="14605">
              <a:buNone/>
            </a:pPr>
            <a:r>
              <a:rPr lang="en-US" sz="1800" b="1" kern="0" spc="-20" dirty="0">
                <a:effectLst/>
                <a:latin typeface="Times New Roman" panose="02020603050405020304" pitchFamily="18" charset="0"/>
                <a:ea typeface="Times New Roman" panose="02020603050405020304" pitchFamily="18" charset="0"/>
              </a:rPr>
              <a:t> </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Processor: Quad core (intel Xeon / AMD )</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Ram: Minimum 16 GB (recommended 32GB or multi user </a:t>
            </a:r>
            <a:r>
              <a:rPr lang="en-US" sz="1800" b="1" kern="0" spc="-20" dirty="0" err="1">
                <a:effectLst/>
                <a:latin typeface="Times New Roman" panose="02020603050405020304" pitchFamily="18" charset="0"/>
                <a:ea typeface="Times New Roman" panose="02020603050405020304" pitchFamily="18" charset="0"/>
              </a:rPr>
              <a:t>acces</a:t>
            </a:r>
            <a:r>
              <a:rPr lang="en-US" sz="1800" b="1" kern="0" spc="-20" dirty="0">
                <a:effectLst/>
                <a:latin typeface="Times New Roman" panose="02020603050405020304" pitchFamily="18" charset="0"/>
                <a:ea typeface="Times New Roman" panose="02020603050405020304" pitchFamily="18" charset="0"/>
              </a:rPr>
              <a:t> </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Storage: SSD 1 TB or higher </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Network : Gigabit Ethernet or higher</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Operating System : Windows server</a:t>
            </a:r>
            <a:endParaRPr lang="en-US" sz="1800" b="1" kern="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266700" algn="l"/>
              </a:tabLst>
            </a:pPr>
            <a:r>
              <a:rPr lang="en-US" sz="1800" b="1" kern="0" spc="-20" dirty="0">
                <a:effectLst/>
                <a:latin typeface="Times New Roman" panose="02020603050405020304" pitchFamily="18" charset="0"/>
                <a:ea typeface="Times New Roman" panose="02020603050405020304" pitchFamily="18" charset="0"/>
              </a:rPr>
              <a:t>Power Backup: UPS or inverter for </a:t>
            </a:r>
            <a:r>
              <a:rPr lang="en-US" sz="1800" b="1" kern="0" spc="-20" dirty="0" err="1">
                <a:effectLst/>
                <a:latin typeface="Times New Roman" panose="02020603050405020304" pitchFamily="18" charset="0"/>
                <a:ea typeface="Times New Roman" panose="02020603050405020304" pitchFamily="18" charset="0"/>
              </a:rPr>
              <a:t>continous</a:t>
            </a:r>
            <a:r>
              <a:rPr lang="en-US" sz="1800" b="1" kern="0" spc="-20" dirty="0">
                <a:effectLst/>
                <a:latin typeface="Times New Roman" panose="02020603050405020304" pitchFamily="18" charset="0"/>
                <a:ea typeface="Times New Roman" panose="02020603050405020304" pitchFamily="18" charset="0"/>
              </a:rPr>
              <a:t> operation</a:t>
            </a:r>
            <a:endParaRPr lang="en-US" sz="1800" b="1" kern="0" dirty="0">
              <a:effectLst/>
              <a:latin typeface="Times New Roman" panose="02020603050405020304" pitchFamily="18" charset="0"/>
              <a:ea typeface="Times New Roman" panose="02020603050405020304" pitchFamily="18" charset="0"/>
            </a:endParaRPr>
          </a:p>
          <a:p>
            <a:pPr>
              <a:buNone/>
            </a:pPr>
            <a:br>
              <a:rPr lang="en-US" sz="1800" b="1" dirty="0">
                <a:effectLst/>
                <a:latin typeface="Times New Roman" panose="02020603050405020304" pitchFamily="18" charset="0"/>
                <a:ea typeface="Times New Roman" panose="02020603050405020304" pitchFamily="18" charset="0"/>
              </a:rPr>
            </a:br>
            <a:endParaRPr lang="en-US" dirty="0"/>
          </a:p>
        </p:txBody>
      </p:sp>
    </p:spTree>
    <p:extLst>
      <p:ext uri="{BB962C8B-B14F-4D97-AF65-F5344CB8AC3E}">
        <p14:creationId xmlns:p14="http://schemas.microsoft.com/office/powerpoint/2010/main" val="19960740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METHODOLOGY</a:t>
            </a:r>
            <a:endParaRPr lang="en-US" sz="4000" b="1" dirty="0">
              <a:solidFill>
                <a:srgbClr val="FF0000"/>
              </a:solidFill>
            </a:endParaRPr>
          </a:p>
        </p:txBody>
      </p:sp>
      <p:sp>
        <p:nvSpPr>
          <p:cNvPr id="11" name="TextBox 10">
            <a:extLst>
              <a:ext uri="{FF2B5EF4-FFF2-40B4-BE49-F238E27FC236}">
                <a16:creationId xmlns:a16="http://schemas.microsoft.com/office/drawing/2014/main" id="{613F4BC3-9A09-33B4-D723-B19FAC337716}"/>
              </a:ext>
            </a:extLst>
          </p:cNvPr>
          <p:cNvSpPr txBox="1"/>
          <p:nvPr/>
        </p:nvSpPr>
        <p:spPr>
          <a:xfrm>
            <a:off x="868590" y="960844"/>
            <a:ext cx="10098224" cy="5632311"/>
          </a:xfrm>
          <a:prstGeom prst="rect">
            <a:avLst/>
          </a:prstGeom>
          <a:noFill/>
        </p:spPr>
        <p:txBody>
          <a:bodyPr wrap="square">
            <a:spAutoFit/>
          </a:bodyPr>
          <a:lstStyle/>
          <a:p>
            <a:r>
              <a:rPr lang="en-US" sz="1800" dirty="0"/>
              <a:t>1. Requirement Analysis:</a:t>
            </a:r>
          </a:p>
          <a:p>
            <a:r>
              <a:rPr lang="en-US" sz="1800" dirty="0"/>
              <a:t>Identify user needs such as appointment booking, medical record access, and secure communication between patients and doctors.</a:t>
            </a:r>
          </a:p>
          <a:p>
            <a:r>
              <a:rPr lang="en-US" sz="1800" dirty="0"/>
              <a:t> </a:t>
            </a:r>
          </a:p>
          <a:p>
            <a:r>
              <a:rPr lang="en-US" sz="1800" dirty="0"/>
              <a:t>2. System Design:</a:t>
            </a:r>
          </a:p>
          <a:p>
            <a:r>
              <a:rPr lang="en-US" sz="1800" dirty="0"/>
              <a:t>Create system architecture including database design, user interface, and security framework for data protection.</a:t>
            </a:r>
          </a:p>
          <a:p>
            <a:r>
              <a:rPr lang="en-US" sz="1800" dirty="0"/>
              <a:t> </a:t>
            </a:r>
          </a:p>
          <a:p>
            <a:r>
              <a:rPr lang="en-US" sz="1800" dirty="0"/>
              <a:t> 3. Development:</a:t>
            </a:r>
          </a:p>
          <a:p>
            <a:r>
              <a:rPr lang="en-US" sz="1800" dirty="0"/>
              <a:t>Develop the portal using web technologies (e.g., HTML, CSS, JavaScript, PHP, or Python) and integrate with hospital databases.</a:t>
            </a:r>
          </a:p>
          <a:p>
            <a:r>
              <a:rPr lang="en-US" sz="1800" dirty="0"/>
              <a:t> </a:t>
            </a:r>
          </a:p>
          <a:p>
            <a:r>
              <a:rPr lang="en-US" sz="1800" dirty="0"/>
              <a:t> 4. Testing:</a:t>
            </a:r>
          </a:p>
          <a:p>
            <a:r>
              <a:rPr lang="en-US" sz="1800" dirty="0"/>
              <a:t>Perform functional, usability, and security testing to ensure smooth and safe operation.</a:t>
            </a:r>
          </a:p>
          <a:p>
            <a:r>
              <a:rPr lang="en-US" sz="1800" dirty="0"/>
              <a:t> </a:t>
            </a:r>
          </a:p>
          <a:p>
            <a:r>
              <a:rPr lang="en-US" sz="1800" dirty="0"/>
              <a:t> 5. Implementation:</a:t>
            </a:r>
          </a:p>
          <a:p>
            <a:r>
              <a:rPr lang="en-US" sz="1800" dirty="0"/>
              <a:t>Deploy the portal on a secure server and provide access to patients, doctors, and administrators.</a:t>
            </a:r>
          </a:p>
          <a:p>
            <a:r>
              <a:rPr lang="en-US" sz="1800" dirty="0"/>
              <a:t> </a:t>
            </a:r>
          </a:p>
          <a:p>
            <a:r>
              <a:rPr lang="en-US" sz="1800" dirty="0"/>
              <a:t> 6. Maintenance and Updates:</a:t>
            </a:r>
          </a:p>
          <a:p>
            <a:r>
              <a:rPr lang="en-US" sz="1800" dirty="0"/>
              <a:t>Regularly update the system to fix bugs, improve performance, and add new healthcare features.</a:t>
            </a:r>
          </a:p>
        </p:txBody>
      </p:sp>
    </p:spTree>
    <p:extLst>
      <p:ext uri="{BB962C8B-B14F-4D97-AF65-F5344CB8AC3E}">
        <p14:creationId xmlns:p14="http://schemas.microsoft.com/office/powerpoint/2010/main" val="42801724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1172" y="6406222"/>
            <a:ext cx="133985" cy="169545"/>
          </a:xfrm>
          <a:prstGeom prst="rect">
            <a:avLst/>
          </a:prstGeom>
        </p:spPr>
        <p:txBody>
          <a:bodyPr vert="horz" wrap="square" lIns="0" tIns="12065" rIns="0" bIns="0" rtlCol="0">
            <a:spAutoFit/>
          </a:bodyPr>
          <a:lstStyle/>
          <a:p>
            <a:pPr>
              <a:lnSpc>
                <a:spcPct val="100000"/>
              </a:lnSpc>
              <a:spcBef>
                <a:spcPts val="95"/>
              </a:spcBef>
            </a:pPr>
            <a:r>
              <a:rPr sz="950" spc="-55" dirty="0">
                <a:latin typeface="Microsoft JhengHei"/>
                <a:cs typeface="Microsoft JhengHei"/>
              </a:rPr>
              <a:t>12</a:t>
            </a:r>
            <a:endParaRPr sz="950">
              <a:latin typeface="Microsoft JhengHei"/>
              <a:cs typeface="Microsoft JhengHei"/>
            </a:endParaRPr>
          </a:p>
        </p:txBody>
      </p:sp>
      <p:grpSp>
        <p:nvGrpSpPr>
          <p:cNvPr id="3" name="object 3"/>
          <p:cNvGrpSpPr/>
          <p:nvPr/>
        </p:nvGrpSpPr>
        <p:grpSpPr>
          <a:xfrm>
            <a:off x="-7936" y="3002026"/>
            <a:ext cx="12212955" cy="863600"/>
            <a:chOff x="-7936" y="3002026"/>
            <a:chExt cx="12212955" cy="863600"/>
          </a:xfrm>
        </p:grpSpPr>
        <p:sp>
          <p:nvSpPr>
            <p:cNvPr id="4" name="object 4"/>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lnTo>
                    <a:pt x="12187236" y="0"/>
                  </a:lnTo>
                  <a:close/>
                </a:path>
              </a:pathLst>
            </a:custGeom>
            <a:solidFill>
              <a:srgbClr val="622422"/>
            </a:solidFill>
          </p:spPr>
          <p:txBody>
            <a:bodyPr wrap="square" lIns="0" tIns="0" rIns="0" bIns="0" rtlCol="0"/>
            <a:lstStyle/>
            <a:p>
              <a:endParaRPr/>
            </a:p>
          </p:txBody>
        </p:sp>
        <p:sp>
          <p:nvSpPr>
            <p:cNvPr id="5" name="object 5"/>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path>
              </a:pathLst>
            </a:custGeom>
            <a:ln w="25400">
              <a:solidFill>
                <a:srgbClr val="622422"/>
              </a:solidFill>
            </a:ln>
          </p:spPr>
          <p:txBody>
            <a:bodyPr wrap="square" lIns="0" tIns="0" rIns="0" bIns="0" rtlCol="0"/>
            <a:lstStyle/>
            <a:p>
              <a:endParaRPr/>
            </a:p>
          </p:txBody>
        </p:sp>
      </p:grpSp>
      <p:sp>
        <p:nvSpPr>
          <p:cNvPr id="6" name="object 6"/>
          <p:cNvSpPr txBox="1">
            <a:spLocks noGrp="1"/>
          </p:cNvSpPr>
          <p:nvPr>
            <p:ph type="title"/>
          </p:nvPr>
        </p:nvSpPr>
        <p:spPr>
          <a:xfrm>
            <a:off x="3990975" y="2971984"/>
            <a:ext cx="4210050" cy="847668"/>
          </a:xfrm>
          <a:prstGeom prst="rect">
            <a:avLst/>
          </a:prstGeom>
        </p:spPr>
        <p:txBody>
          <a:bodyPr vert="horz" wrap="square" lIns="0" tIns="16510" rIns="0" bIns="0" rtlCol="0">
            <a:spAutoFit/>
          </a:bodyPr>
          <a:lstStyle/>
          <a:p>
            <a:pPr marL="12700">
              <a:lnSpc>
                <a:spcPct val="100000"/>
              </a:lnSpc>
              <a:spcBef>
                <a:spcPts val="130"/>
              </a:spcBef>
            </a:pPr>
            <a:r>
              <a:rPr sz="5400" b="0" spc="250" dirty="0">
                <a:solidFill>
                  <a:srgbClr val="C99648"/>
                </a:solidFill>
                <a:latin typeface="Times New Roman" panose="02020603050405020304" pitchFamily="18" charset="0"/>
                <a:cs typeface="Times New Roman" panose="02020603050405020304" pitchFamily="18" charset="0"/>
              </a:rPr>
              <a:t>Thank</a:t>
            </a:r>
            <a:r>
              <a:rPr sz="5400" b="0" spc="125" dirty="0">
                <a:solidFill>
                  <a:srgbClr val="C99648"/>
                </a:solidFill>
                <a:latin typeface="Times New Roman" panose="02020603050405020304" pitchFamily="18" charset="0"/>
                <a:cs typeface="Times New Roman" panose="02020603050405020304" pitchFamily="18" charset="0"/>
              </a:rPr>
              <a:t> </a:t>
            </a:r>
            <a:r>
              <a:rPr sz="5400" b="0" spc="275" dirty="0">
                <a:solidFill>
                  <a:srgbClr val="C99648"/>
                </a:solidFill>
                <a:latin typeface="Times New Roman" panose="02020603050405020304" pitchFamily="18" charset="0"/>
                <a:cs typeface="Times New Roman" panose="02020603050405020304" pitchFamily="18" charset="0"/>
              </a:rPr>
              <a:t>you</a:t>
            </a:r>
            <a:r>
              <a:rPr sz="5400" b="0" spc="110" dirty="0">
                <a:solidFill>
                  <a:srgbClr val="C99648"/>
                </a:solidFill>
                <a:latin typeface="Times New Roman" panose="02020603050405020304" pitchFamily="18" charset="0"/>
                <a:cs typeface="Times New Roman" panose="02020603050405020304" pitchFamily="18" charset="0"/>
              </a:rPr>
              <a:t> </a:t>
            </a:r>
            <a:r>
              <a:rPr sz="5400" b="0" spc="220" dirty="0">
                <a:solidFill>
                  <a:srgbClr val="C99648"/>
                </a:solidFill>
                <a:latin typeface="Times New Roman" panose="02020603050405020304" pitchFamily="18" charset="0"/>
                <a:cs typeface="Times New Roman" panose="02020603050405020304" pitchFamily="18" charset="0"/>
              </a:rPr>
              <a:t>all</a:t>
            </a:r>
            <a:endParaRPr sz="5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7936" y="-12700"/>
            <a:ext cx="12212955" cy="6870700"/>
            <a:chOff x="-7936" y="-12700"/>
            <a:chExt cx="12212955" cy="6870700"/>
          </a:xfrm>
        </p:grpSpPr>
        <p:sp>
          <p:nvSpPr>
            <p:cNvPr id="8" name="object 8"/>
            <p:cNvSpPr/>
            <p:nvPr/>
          </p:nvSpPr>
          <p:spPr>
            <a:xfrm>
              <a:off x="4763" y="0"/>
              <a:ext cx="628650" cy="6858000"/>
            </a:xfrm>
            <a:custGeom>
              <a:avLst/>
              <a:gdLst/>
              <a:ahLst/>
              <a:cxnLst/>
              <a:rect l="l" t="t" r="r" b="b"/>
              <a:pathLst>
                <a:path w="628650" h="6858000">
                  <a:moveTo>
                    <a:pt x="0" y="6857997"/>
                  </a:moveTo>
                  <a:lnTo>
                    <a:pt x="628650" y="6857997"/>
                  </a:lnTo>
                  <a:lnTo>
                    <a:pt x="628650" y="0"/>
                  </a:lnTo>
                  <a:lnTo>
                    <a:pt x="0" y="0"/>
                  </a:lnTo>
                  <a:lnTo>
                    <a:pt x="0" y="6857997"/>
                  </a:lnTo>
                  <a:close/>
                </a:path>
              </a:pathLst>
            </a:custGeom>
            <a:solidFill>
              <a:srgbClr val="622422"/>
            </a:solidFill>
          </p:spPr>
          <p:txBody>
            <a:bodyPr wrap="square" lIns="0" tIns="0" rIns="0" bIns="0" rtlCol="0"/>
            <a:lstStyle/>
            <a:p>
              <a:endParaRPr/>
            </a:p>
          </p:txBody>
        </p:sp>
        <p:sp>
          <p:nvSpPr>
            <p:cNvPr id="9" name="object 9"/>
            <p:cNvSpPr/>
            <p:nvPr/>
          </p:nvSpPr>
          <p:spPr>
            <a:xfrm>
              <a:off x="4763" y="0"/>
              <a:ext cx="628650" cy="6858000"/>
            </a:xfrm>
            <a:custGeom>
              <a:avLst/>
              <a:gdLst/>
              <a:ahLst/>
              <a:cxnLst/>
              <a:rect l="l" t="t" r="r" b="b"/>
              <a:pathLst>
                <a:path w="628650" h="6858000">
                  <a:moveTo>
                    <a:pt x="628650" y="6857997"/>
                  </a:moveTo>
                  <a:lnTo>
                    <a:pt x="628650" y="0"/>
                  </a:lnTo>
                </a:path>
                <a:path w="628650" h="6858000">
                  <a:moveTo>
                    <a:pt x="0" y="0"/>
                  </a:moveTo>
                  <a:lnTo>
                    <a:pt x="0" y="6857997"/>
                  </a:lnTo>
                </a:path>
              </a:pathLst>
            </a:custGeom>
            <a:ln w="25400">
              <a:solidFill>
                <a:srgbClr val="622422"/>
              </a:solidFill>
            </a:ln>
          </p:spPr>
          <p:txBody>
            <a:bodyPr wrap="square" lIns="0" tIns="0" rIns="0" bIns="0" rtlCol="0"/>
            <a:lstStyle/>
            <a:p>
              <a:endParaRPr/>
            </a:p>
          </p:txBody>
        </p:sp>
        <p:sp>
          <p:nvSpPr>
            <p:cNvPr id="10" name="object 10"/>
            <p:cNvSpPr/>
            <p:nvPr/>
          </p:nvSpPr>
          <p:spPr>
            <a:xfrm>
              <a:off x="9839261" y="0"/>
              <a:ext cx="2353310" cy="2371725"/>
            </a:xfrm>
            <a:custGeom>
              <a:avLst/>
              <a:gdLst/>
              <a:ahLst/>
              <a:cxnLst/>
              <a:rect l="l" t="t" r="r" b="b"/>
              <a:pathLst>
                <a:path w="2353309" h="2371725">
                  <a:moveTo>
                    <a:pt x="2352738" y="0"/>
                  </a:moveTo>
                  <a:lnTo>
                    <a:pt x="0" y="0"/>
                  </a:lnTo>
                  <a:lnTo>
                    <a:pt x="2352738" y="2371686"/>
                  </a:lnTo>
                  <a:lnTo>
                    <a:pt x="2352738" y="0"/>
                  </a:lnTo>
                  <a:close/>
                </a:path>
              </a:pathLst>
            </a:custGeom>
            <a:solidFill>
              <a:srgbClr val="5B1F1F"/>
            </a:solidFill>
          </p:spPr>
          <p:txBody>
            <a:bodyPr wrap="square" lIns="0" tIns="0" rIns="0" bIns="0" rtlCol="0"/>
            <a:lstStyle/>
            <a:p>
              <a:endParaRPr/>
            </a:p>
          </p:txBody>
        </p:sp>
        <p:sp>
          <p:nvSpPr>
            <p:cNvPr id="11" name="object 11"/>
            <p:cNvSpPr/>
            <p:nvPr/>
          </p:nvSpPr>
          <p:spPr>
            <a:xfrm>
              <a:off x="9839261" y="0"/>
              <a:ext cx="2353310" cy="2371725"/>
            </a:xfrm>
            <a:custGeom>
              <a:avLst/>
              <a:gdLst/>
              <a:ahLst/>
              <a:cxnLst/>
              <a:rect l="l" t="t" r="r" b="b"/>
              <a:pathLst>
                <a:path w="2353309" h="2371725">
                  <a:moveTo>
                    <a:pt x="2352738" y="2371686"/>
                  </a:moveTo>
                  <a:lnTo>
                    <a:pt x="0" y="0"/>
                  </a:lnTo>
                </a:path>
              </a:pathLst>
            </a:custGeom>
            <a:ln w="25400">
              <a:solidFill>
                <a:srgbClr val="1C334E"/>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11048999" y="28575"/>
              <a:ext cx="1143000" cy="1190625"/>
            </a:xfrm>
            <a:prstGeom prst="rect">
              <a:avLst/>
            </a:prstGeom>
          </p:spPr>
        </p:pic>
      </p:gr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546100">
              <a:lnSpc>
                <a:spcPts val="2115"/>
              </a:lnSpc>
            </a:pPr>
            <a:r>
              <a:rPr dirty="0"/>
              <a:t>Faculty</a:t>
            </a:r>
            <a:r>
              <a:rPr spc="15" dirty="0"/>
              <a:t> </a:t>
            </a:r>
            <a:r>
              <a:rPr dirty="0"/>
              <a:t>of</a:t>
            </a:r>
            <a:r>
              <a:rPr spc="245" dirty="0"/>
              <a:t> </a:t>
            </a:r>
            <a:r>
              <a:rPr spc="-10" dirty="0"/>
              <a:t>Engineering</a:t>
            </a:r>
            <a:r>
              <a:rPr spc="30" dirty="0"/>
              <a:t> </a:t>
            </a:r>
            <a:r>
              <a:rPr dirty="0"/>
              <a:t>and</a:t>
            </a:r>
            <a:r>
              <a:rPr spc="-35" dirty="0"/>
              <a:t> </a:t>
            </a:r>
            <a:r>
              <a:rPr spc="-10" dirty="0"/>
              <a:t>Technology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373</TotalTime>
  <Words>678</Words>
  <Application>Microsoft Office PowerPoint</Application>
  <PresentationFormat>Widescreen</PresentationFormat>
  <Paragraphs>108</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Microsoft JhengHei</vt:lpstr>
      <vt:lpstr>Aptos</vt:lpstr>
      <vt:lpstr>Arial</vt:lpstr>
      <vt:lpstr>Calibri</vt:lpstr>
      <vt:lpstr>Cambria</vt:lpstr>
      <vt:lpstr>Times New Roman</vt:lpstr>
      <vt:lpstr>Verdana</vt:lpstr>
      <vt:lpstr>Office Theme</vt:lpstr>
      <vt:lpstr>GM UNIVERSITY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 UNIVERSITY</dc:title>
  <dc:creator>keerthana r</dc:creator>
  <cp:lastModifiedBy>Imran Hashmi</cp:lastModifiedBy>
  <cp:revision>15</cp:revision>
  <dcterms:created xsi:type="dcterms:W3CDTF">2025-04-12T03:51:56Z</dcterms:created>
  <dcterms:modified xsi:type="dcterms:W3CDTF">2025-11-04T10:02:09Z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2025-03-24T00:00:00Z</vt:filetime>
  </property>
  <property fmtid="{D5CDD505-2E9C-101B-9397-08002B2CF9AE}" pid="3" name="LastSaved">
    <vt:filetime>2025-04-12T00:00:00Z</vt:filetime>
  </property>
</Properties>
</file>