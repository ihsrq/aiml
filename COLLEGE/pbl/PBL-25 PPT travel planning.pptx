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24" r:id="rId3"/>
    <p:sldId id="325" r:id="rId4"/>
    <p:sldId id="326" r:id="rId5"/>
    <p:sldId id="327" r:id="rId6"/>
    <p:sldId id="328" r:id="rId7"/>
    <p:sldId id="329" r:id="rId8"/>
    <p:sldId id="330" r:id="rId9"/>
    <p:sldId id="268" r:id="rId1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37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DEBE0"/>
          </a:solidFill>
        </p:spPr>
        <p:txBody>
          <a:bodyPr wrap="square" lIns="0" tIns="0" rIns="0" bIns="0" rtlCol="0"/>
          <a:lstStyle/>
          <a:p>
            <a:endParaRPr/>
          </a:p>
        </p:txBody>
      </p:sp>
      <p:sp>
        <p:nvSpPr>
          <p:cNvPr id="17" name="bg object 17"/>
          <p:cNvSpPr/>
          <p:nvPr/>
        </p:nvSpPr>
        <p:spPr>
          <a:xfrm>
            <a:off x="238353" y="159060"/>
            <a:ext cx="11792585" cy="6464935"/>
          </a:xfrm>
          <a:custGeom>
            <a:avLst/>
            <a:gdLst/>
            <a:ahLst/>
            <a:cxnLst/>
            <a:rect l="l" t="t" r="r" b="b"/>
            <a:pathLst>
              <a:path w="11792585" h="6464934">
                <a:moveTo>
                  <a:pt x="11791976" y="0"/>
                </a:moveTo>
                <a:lnTo>
                  <a:pt x="0" y="0"/>
                </a:lnTo>
                <a:lnTo>
                  <a:pt x="0" y="6464518"/>
                </a:lnTo>
                <a:lnTo>
                  <a:pt x="11791977" y="6464518"/>
                </a:lnTo>
                <a:lnTo>
                  <a:pt x="11791977" y="6445655"/>
                </a:lnTo>
                <a:lnTo>
                  <a:pt x="38466" y="6445655"/>
                </a:lnTo>
                <a:lnTo>
                  <a:pt x="19232" y="6426793"/>
                </a:lnTo>
                <a:lnTo>
                  <a:pt x="38466" y="6426793"/>
                </a:lnTo>
                <a:lnTo>
                  <a:pt x="38466" y="37730"/>
                </a:lnTo>
                <a:lnTo>
                  <a:pt x="19232" y="37730"/>
                </a:lnTo>
                <a:lnTo>
                  <a:pt x="38466" y="18949"/>
                </a:lnTo>
                <a:lnTo>
                  <a:pt x="11791976" y="18949"/>
                </a:lnTo>
                <a:lnTo>
                  <a:pt x="11791976" y="0"/>
                </a:lnTo>
                <a:close/>
              </a:path>
              <a:path w="11792585" h="6464934">
                <a:moveTo>
                  <a:pt x="38466" y="6426793"/>
                </a:moveTo>
                <a:lnTo>
                  <a:pt x="19232" y="6426793"/>
                </a:lnTo>
                <a:lnTo>
                  <a:pt x="38466" y="6445655"/>
                </a:lnTo>
                <a:lnTo>
                  <a:pt x="38466" y="6426793"/>
                </a:lnTo>
                <a:close/>
              </a:path>
              <a:path w="11792585" h="6464934">
                <a:moveTo>
                  <a:pt x="11753505" y="6426793"/>
                </a:moveTo>
                <a:lnTo>
                  <a:pt x="38466" y="6426793"/>
                </a:lnTo>
                <a:lnTo>
                  <a:pt x="38466" y="6445655"/>
                </a:lnTo>
                <a:lnTo>
                  <a:pt x="11753505" y="6445655"/>
                </a:lnTo>
                <a:lnTo>
                  <a:pt x="11753505" y="6426793"/>
                </a:lnTo>
                <a:close/>
              </a:path>
              <a:path w="11792585" h="6464934">
                <a:moveTo>
                  <a:pt x="11753505" y="18949"/>
                </a:moveTo>
                <a:lnTo>
                  <a:pt x="11753505" y="6445655"/>
                </a:lnTo>
                <a:lnTo>
                  <a:pt x="11772826" y="6426793"/>
                </a:lnTo>
                <a:lnTo>
                  <a:pt x="11791977" y="6426793"/>
                </a:lnTo>
                <a:lnTo>
                  <a:pt x="11791976" y="37730"/>
                </a:lnTo>
                <a:lnTo>
                  <a:pt x="11772826" y="37730"/>
                </a:lnTo>
                <a:lnTo>
                  <a:pt x="11753505" y="18949"/>
                </a:lnTo>
                <a:close/>
              </a:path>
              <a:path w="11792585" h="6464934">
                <a:moveTo>
                  <a:pt x="11791977" y="6426793"/>
                </a:moveTo>
                <a:lnTo>
                  <a:pt x="11772826" y="6426793"/>
                </a:lnTo>
                <a:lnTo>
                  <a:pt x="11753505" y="6445655"/>
                </a:lnTo>
                <a:lnTo>
                  <a:pt x="11791977" y="6445655"/>
                </a:lnTo>
                <a:lnTo>
                  <a:pt x="11791977" y="6426793"/>
                </a:lnTo>
                <a:close/>
              </a:path>
              <a:path w="11792585" h="6464934">
                <a:moveTo>
                  <a:pt x="38466" y="18949"/>
                </a:moveTo>
                <a:lnTo>
                  <a:pt x="19232" y="37730"/>
                </a:lnTo>
                <a:lnTo>
                  <a:pt x="38466" y="37730"/>
                </a:lnTo>
                <a:lnTo>
                  <a:pt x="38466" y="18949"/>
                </a:lnTo>
                <a:close/>
              </a:path>
              <a:path w="11792585" h="6464934">
                <a:moveTo>
                  <a:pt x="11753505" y="18949"/>
                </a:moveTo>
                <a:lnTo>
                  <a:pt x="38466" y="18949"/>
                </a:lnTo>
                <a:lnTo>
                  <a:pt x="38466" y="37730"/>
                </a:lnTo>
                <a:lnTo>
                  <a:pt x="11753505" y="37730"/>
                </a:lnTo>
                <a:lnTo>
                  <a:pt x="11753505" y="18949"/>
                </a:lnTo>
                <a:close/>
              </a:path>
              <a:path w="11792585" h="6464934">
                <a:moveTo>
                  <a:pt x="11791976" y="18949"/>
                </a:moveTo>
                <a:lnTo>
                  <a:pt x="11753505" y="18949"/>
                </a:lnTo>
                <a:lnTo>
                  <a:pt x="11772826" y="37730"/>
                </a:lnTo>
                <a:lnTo>
                  <a:pt x="11791976" y="37730"/>
                </a:lnTo>
                <a:lnTo>
                  <a:pt x="11791976" y="18949"/>
                </a:lnTo>
                <a:close/>
              </a:path>
            </a:pathLst>
          </a:custGeom>
          <a:solidFill>
            <a:srgbClr val="C000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DEBE0"/>
          </a:solidFill>
        </p:spPr>
        <p:txBody>
          <a:bodyPr wrap="square" lIns="0" tIns="0" rIns="0" bIns="0" rtlCol="0"/>
          <a:lstStyle/>
          <a:p>
            <a:endParaRPr/>
          </a:p>
        </p:txBody>
      </p:sp>
      <p:sp>
        <p:nvSpPr>
          <p:cNvPr id="2" name="Holder 2"/>
          <p:cNvSpPr>
            <a:spLocks noGrp="1"/>
          </p:cNvSpPr>
          <p:nvPr>
            <p:ph type="title"/>
          </p:nvPr>
        </p:nvSpPr>
        <p:spPr>
          <a:xfrm>
            <a:off x="436244" y="235330"/>
            <a:ext cx="8965565" cy="747014"/>
          </a:xfrm>
          <a:prstGeom prst="rect">
            <a:avLst/>
          </a:prstGeom>
        </p:spPr>
        <p:txBody>
          <a:bodyPr wrap="square" lIns="0" tIns="0" rIns="0" bIns="0">
            <a:spAutoFit/>
          </a:bodyPr>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563321" y="1212850"/>
            <a:ext cx="9641205" cy="40836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044315" y="6512511"/>
            <a:ext cx="4651375" cy="416927"/>
          </a:xfrm>
          <a:prstGeom prst="rect">
            <a:avLst/>
          </a:prstGeom>
        </p:spPr>
        <p:txBody>
          <a:bodyPr wrap="square" lIns="0" tIns="0" rIns="0" bIns="0">
            <a:spAutoFit/>
          </a:bodyPr>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145542"/>
            <a:ext cx="12197081" cy="5715001"/>
          </a:xfrm>
          <a:custGeom>
            <a:avLst/>
            <a:gdLst/>
            <a:ahLst/>
            <a:cxnLst/>
            <a:rect l="l" t="t" r="r" b="b"/>
            <a:pathLst>
              <a:path w="12192000" h="5739130">
                <a:moveTo>
                  <a:pt x="0" y="5738748"/>
                </a:moveTo>
                <a:lnTo>
                  <a:pt x="12192000" y="5738748"/>
                </a:lnTo>
                <a:lnTo>
                  <a:pt x="12192000" y="0"/>
                </a:lnTo>
                <a:lnTo>
                  <a:pt x="0" y="0"/>
                </a:lnTo>
                <a:lnTo>
                  <a:pt x="0" y="5738748"/>
                </a:lnTo>
                <a:close/>
              </a:path>
            </a:pathLst>
          </a:custGeom>
          <a:solidFill>
            <a:srgbClr val="EDEBE0"/>
          </a:solidFill>
        </p:spPr>
        <p:txBody>
          <a:bodyPr wrap="square" lIns="0" tIns="0" rIns="0" bIns="0" rtlCol="0"/>
          <a:lstStyle/>
          <a:p>
            <a:r>
              <a:rPr lang="en-IN" dirty="0"/>
              <a:t> </a:t>
            </a:r>
            <a:endParaRPr dirty="0"/>
          </a:p>
        </p:txBody>
      </p:sp>
      <p:sp>
        <p:nvSpPr>
          <p:cNvPr id="3" name="object 3"/>
          <p:cNvSpPr/>
          <p:nvPr/>
        </p:nvSpPr>
        <p:spPr>
          <a:xfrm>
            <a:off x="0" y="0"/>
            <a:ext cx="12192000" cy="5080"/>
          </a:xfrm>
          <a:custGeom>
            <a:avLst/>
            <a:gdLst/>
            <a:ahLst/>
            <a:cxnLst/>
            <a:rect l="l" t="t" r="r" b="b"/>
            <a:pathLst>
              <a:path w="12192000" h="5080">
                <a:moveTo>
                  <a:pt x="0" y="4826"/>
                </a:moveTo>
                <a:lnTo>
                  <a:pt x="12192000" y="4826"/>
                </a:lnTo>
                <a:lnTo>
                  <a:pt x="12192000" y="0"/>
                </a:lnTo>
                <a:lnTo>
                  <a:pt x="0" y="0"/>
                </a:lnTo>
                <a:lnTo>
                  <a:pt x="0" y="4826"/>
                </a:lnTo>
                <a:close/>
              </a:path>
            </a:pathLst>
          </a:custGeom>
          <a:solidFill>
            <a:srgbClr val="EDEBE0"/>
          </a:solidFill>
        </p:spPr>
        <p:txBody>
          <a:bodyPr wrap="square" lIns="0" tIns="0" rIns="0" bIns="0" rtlCol="0"/>
          <a:lstStyle/>
          <a:p>
            <a:endParaRPr/>
          </a:p>
        </p:txBody>
      </p:sp>
      <p:sp>
        <p:nvSpPr>
          <p:cNvPr id="4" name="object 4"/>
          <p:cNvSpPr txBox="1"/>
          <p:nvPr/>
        </p:nvSpPr>
        <p:spPr>
          <a:xfrm>
            <a:off x="491172" y="5558234"/>
            <a:ext cx="2450465" cy="1017269"/>
          </a:xfrm>
          <a:prstGeom prst="rect">
            <a:avLst/>
          </a:prstGeom>
        </p:spPr>
        <p:txBody>
          <a:bodyPr vert="horz" wrap="square" lIns="0" tIns="6350" rIns="0" bIns="0" rtlCol="0">
            <a:spAutoFit/>
          </a:bodyPr>
          <a:lstStyle/>
          <a:p>
            <a:pPr algn="r">
              <a:lnSpc>
                <a:spcPct val="100000"/>
              </a:lnSpc>
              <a:spcBef>
                <a:spcPts val="50"/>
              </a:spcBef>
            </a:pPr>
            <a:r>
              <a:rPr sz="950" spc="-80" dirty="0">
                <a:latin typeface="Verdana"/>
                <a:cs typeface="Verdana"/>
              </a:rPr>
              <a:t>B.E,</a:t>
            </a:r>
            <a:r>
              <a:rPr sz="950" spc="-120" dirty="0">
                <a:latin typeface="Verdana"/>
                <a:cs typeface="Verdana"/>
              </a:rPr>
              <a:t> </a:t>
            </a:r>
            <a:r>
              <a:rPr sz="950" spc="-10" dirty="0">
                <a:latin typeface="Verdana"/>
                <a:cs typeface="Verdana"/>
              </a:rPr>
              <a:t>M.Tech</a:t>
            </a:r>
            <a:endParaRPr sz="950">
              <a:latin typeface="Verdana"/>
              <a:cs typeface="Verdana"/>
            </a:endParaRPr>
          </a:p>
          <a:p>
            <a:pPr>
              <a:lnSpc>
                <a:spcPct val="100000"/>
              </a:lnSpc>
            </a:pPr>
            <a:endParaRPr sz="950">
              <a:latin typeface="Verdana"/>
              <a:cs typeface="Verdana"/>
            </a:endParaRPr>
          </a:p>
          <a:p>
            <a:pPr>
              <a:lnSpc>
                <a:spcPct val="100000"/>
              </a:lnSpc>
            </a:pPr>
            <a:endParaRPr sz="950">
              <a:latin typeface="Verdana"/>
              <a:cs typeface="Verdana"/>
            </a:endParaRPr>
          </a:p>
          <a:p>
            <a:pPr>
              <a:lnSpc>
                <a:spcPct val="100000"/>
              </a:lnSpc>
            </a:pPr>
            <a:endParaRPr sz="950">
              <a:latin typeface="Verdana"/>
              <a:cs typeface="Verdana"/>
            </a:endParaRPr>
          </a:p>
          <a:p>
            <a:pPr>
              <a:lnSpc>
                <a:spcPct val="100000"/>
              </a:lnSpc>
              <a:spcBef>
                <a:spcPts val="960"/>
              </a:spcBef>
            </a:pPr>
            <a:endParaRPr sz="950">
              <a:latin typeface="Verdana"/>
              <a:cs typeface="Verdana"/>
            </a:endParaRPr>
          </a:p>
          <a:p>
            <a:pPr>
              <a:lnSpc>
                <a:spcPct val="100000"/>
              </a:lnSpc>
            </a:pPr>
            <a:r>
              <a:rPr sz="950" spc="-50" dirty="0">
                <a:latin typeface="Microsoft JhengHei"/>
                <a:cs typeface="Microsoft JhengHei"/>
              </a:rPr>
              <a:t>1</a:t>
            </a:r>
            <a:endParaRPr sz="950">
              <a:latin typeface="Microsoft JhengHei"/>
              <a:cs typeface="Microsoft JhengHei"/>
            </a:endParaRPr>
          </a:p>
        </p:txBody>
      </p:sp>
      <p:grpSp>
        <p:nvGrpSpPr>
          <p:cNvPr id="5" name="object 5"/>
          <p:cNvGrpSpPr/>
          <p:nvPr/>
        </p:nvGrpSpPr>
        <p:grpSpPr>
          <a:xfrm>
            <a:off x="-7936" y="-7874"/>
            <a:ext cx="12212955" cy="6866255"/>
            <a:chOff x="-7936" y="-7874"/>
            <a:chExt cx="12212955" cy="6866255"/>
          </a:xfrm>
        </p:grpSpPr>
        <p:sp>
          <p:nvSpPr>
            <p:cNvPr id="6" name="object 6"/>
            <p:cNvSpPr/>
            <p:nvPr/>
          </p:nvSpPr>
          <p:spPr>
            <a:xfrm>
              <a:off x="4763" y="4825"/>
              <a:ext cx="12187555" cy="1114425"/>
            </a:xfrm>
            <a:custGeom>
              <a:avLst/>
              <a:gdLst/>
              <a:ahLst/>
              <a:cxnLst/>
              <a:rect l="l" t="t" r="r" b="b"/>
              <a:pathLst>
                <a:path w="12187555" h="1114425">
                  <a:moveTo>
                    <a:pt x="12187236" y="0"/>
                  </a:moveTo>
                  <a:lnTo>
                    <a:pt x="0" y="0"/>
                  </a:lnTo>
                  <a:lnTo>
                    <a:pt x="0" y="1114425"/>
                  </a:lnTo>
                  <a:lnTo>
                    <a:pt x="12187236" y="1114425"/>
                  </a:lnTo>
                  <a:lnTo>
                    <a:pt x="12187236" y="0"/>
                  </a:lnTo>
                  <a:close/>
                </a:path>
              </a:pathLst>
            </a:custGeom>
            <a:solidFill>
              <a:srgbClr val="5B1F1F"/>
            </a:solidFill>
          </p:spPr>
          <p:txBody>
            <a:bodyPr wrap="square" lIns="0" tIns="0" rIns="0" bIns="0" rtlCol="0"/>
            <a:lstStyle/>
            <a:p>
              <a:endParaRPr/>
            </a:p>
          </p:txBody>
        </p:sp>
        <p:sp>
          <p:nvSpPr>
            <p:cNvPr id="7" name="object 7"/>
            <p:cNvSpPr/>
            <p:nvPr/>
          </p:nvSpPr>
          <p:spPr>
            <a:xfrm>
              <a:off x="4763" y="4825"/>
              <a:ext cx="12187555" cy="1114425"/>
            </a:xfrm>
            <a:custGeom>
              <a:avLst/>
              <a:gdLst/>
              <a:ahLst/>
              <a:cxnLst/>
              <a:rect l="l" t="t" r="r" b="b"/>
              <a:pathLst>
                <a:path w="12187555" h="1114425">
                  <a:moveTo>
                    <a:pt x="12187236" y="0"/>
                  </a:moveTo>
                  <a:lnTo>
                    <a:pt x="0" y="0"/>
                  </a:lnTo>
                  <a:lnTo>
                    <a:pt x="0" y="1114425"/>
                  </a:lnTo>
                  <a:lnTo>
                    <a:pt x="12187236" y="1114425"/>
                  </a:lnTo>
                </a:path>
              </a:pathLst>
            </a:custGeom>
            <a:ln w="25400">
              <a:solidFill>
                <a:srgbClr val="622422"/>
              </a:solidFill>
            </a:ln>
          </p:spPr>
          <p:txBody>
            <a:bodyPr wrap="square" lIns="0" tIns="0" rIns="0" bIns="0" rtlCol="0"/>
            <a:lstStyle/>
            <a:p>
              <a:endParaRPr/>
            </a:p>
          </p:txBody>
        </p:sp>
        <p:pic>
          <p:nvPicPr>
            <p:cNvPr id="8" name="object 8"/>
            <p:cNvPicPr/>
            <p:nvPr/>
          </p:nvPicPr>
          <p:blipFill>
            <a:blip r:embed="rId2" cstate="print"/>
            <a:stretch>
              <a:fillRect/>
            </a:stretch>
          </p:blipFill>
          <p:spPr>
            <a:xfrm>
              <a:off x="10896599" y="0"/>
              <a:ext cx="1295400" cy="1114425"/>
            </a:xfrm>
            <a:prstGeom prst="rect">
              <a:avLst/>
            </a:prstGeom>
          </p:spPr>
        </p:pic>
        <p:pic>
          <p:nvPicPr>
            <p:cNvPr id="9" name="object 9"/>
            <p:cNvPicPr/>
            <p:nvPr/>
          </p:nvPicPr>
          <p:blipFill>
            <a:blip r:embed="rId3" cstate="print"/>
            <a:stretch>
              <a:fillRect/>
            </a:stretch>
          </p:blipFill>
          <p:spPr>
            <a:xfrm>
              <a:off x="0" y="1142999"/>
              <a:ext cx="4000499" cy="5714998"/>
            </a:xfrm>
            <a:prstGeom prst="rect">
              <a:avLst/>
            </a:prstGeom>
          </p:spPr>
        </p:pic>
      </p:grpSp>
      <p:sp>
        <p:nvSpPr>
          <p:cNvPr id="10" name="object 10"/>
          <p:cNvSpPr txBox="1">
            <a:spLocks noGrp="1"/>
          </p:cNvSpPr>
          <p:nvPr>
            <p:ph type="title"/>
          </p:nvPr>
        </p:nvSpPr>
        <p:spPr>
          <a:xfrm>
            <a:off x="4883150" y="85343"/>
            <a:ext cx="3618865" cy="575310"/>
          </a:xfrm>
          <a:prstGeom prst="rect">
            <a:avLst/>
          </a:prstGeom>
        </p:spPr>
        <p:txBody>
          <a:bodyPr vert="horz" wrap="square" lIns="0" tIns="13335" rIns="0" bIns="0" rtlCol="0">
            <a:spAutoFit/>
          </a:bodyPr>
          <a:lstStyle/>
          <a:p>
            <a:pPr marL="12700">
              <a:lnSpc>
                <a:spcPct val="100000"/>
              </a:lnSpc>
              <a:spcBef>
                <a:spcPts val="105"/>
              </a:spcBef>
            </a:pPr>
            <a:r>
              <a:rPr sz="3600" b="0" dirty="0">
                <a:solidFill>
                  <a:srgbClr val="FFC000"/>
                </a:solidFill>
                <a:latin typeface="Times New Roman"/>
                <a:cs typeface="Times New Roman"/>
              </a:rPr>
              <a:t>GM</a:t>
            </a:r>
            <a:r>
              <a:rPr sz="3600" b="0" spc="-10" dirty="0">
                <a:solidFill>
                  <a:srgbClr val="FFC000"/>
                </a:solidFill>
                <a:latin typeface="Times New Roman"/>
                <a:cs typeface="Times New Roman"/>
              </a:rPr>
              <a:t> UNIVERSITY</a:t>
            </a:r>
            <a:endParaRPr sz="3600">
              <a:latin typeface="Times New Roman"/>
              <a:cs typeface="Times New Roman"/>
            </a:endParaRPr>
          </a:p>
        </p:txBody>
      </p:sp>
      <p:sp>
        <p:nvSpPr>
          <p:cNvPr id="11" name="object 11"/>
          <p:cNvSpPr txBox="1"/>
          <p:nvPr/>
        </p:nvSpPr>
        <p:spPr>
          <a:xfrm>
            <a:off x="4635118" y="421300"/>
            <a:ext cx="6490081" cy="2464136"/>
          </a:xfrm>
          <a:prstGeom prst="rect">
            <a:avLst/>
          </a:prstGeom>
        </p:spPr>
        <p:txBody>
          <a:bodyPr vert="horz" wrap="square" lIns="0" tIns="266065" rIns="0" bIns="0" rtlCol="0">
            <a:spAutoFit/>
          </a:bodyPr>
          <a:lstStyle/>
          <a:p>
            <a:pPr marL="946785">
              <a:lnSpc>
                <a:spcPct val="100000"/>
              </a:lnSpc>
              <a:spcBef>
                <a:spcPts val="2095"/>
              </a:spcBef>
            </a:pPr>
            <a:r>
              <a:rPr sz="2750" spc="-10" dirty="0">
                <a:solidFill>
                  <a:srgbClr val="FFC000"/>
                </a:solidFill>
                <a:latin typeface="Cambria"/>
                <a:cs typeface="Cambria"/>
              </a:rPr>
              <a:t>Davanagere</a:t>
            </a:r>
            <a:endParaRPr lang="en-IN" sz="2750" dirty="0">
              <a:latin typeface="Cambria"/>
              <a:cs typeface="Cambria"/>
            </a:endParaRPr>
          </a:p>
          <a:p>
            <a:pPr marL="1108075">
              <a:lnSpc>
                <a:spcPct val="100000"/>
              </a:lnSpc>
              <a:spcBef>
                <a:spcPts val="2850"/>
              </a:spcBef>
            </a:pPr>
            <a:r>
              <a:rPr lang="en-IN" sz="3200" b="1" dirty="0">
                <a:latin typeface="Times New Roman"/>
                <a:cs typeface="Times New Roman"/>
              </a:rPr>
              <a:t>  PBL</a:t>
            </a:r>
            <a:r>
              <a:rPr lang="en-IN" sz="3200" b="1" spc="-165" dirty="0">
                <a:latin typeface="Times New Roman"/>
                <a:cs typeface="Times New Roman"/>
              </a:rPr>
              <a:t> </a:t>
            </a:r>
            <a:r>
              <a:rPr lang="en-IN" sz="3200" b="1" dirty="0">
                <a:latin typeface="Times New Roman"/>
                <a:cs typeface="Times New Roman"/>
              </a:rPr>
              <a:t>PRESENTATION  ON</a:t>
            </a:r>
            <a:endParaRPr lang="en-IN" sz="3200" dirty="0">
              <a:latin typeface="Times New Roman"/>
              <a:cs typeface="Times New Roman"/>
            </a:endParaRPr>
          </a:p>
          <a:p>
            <a:pPr marL="704850" marR="5080" indent="-692785" algn="ctr">
              <a:lnSpc>
                <a:spcPct val="100000"/>
              </a:lnSpc>
              <a:spcBef>
                <a:spcPts val="65"/>
              </a:spcBef>
            </a:pPr>
            <a:r>
              <a:rPr lang="en-IN" sz="2750" dirty="0">
                <a:solidFill>
                  <a:srgbClr val="FF0000"/>
                </a:solidFill>
                <a:latin typeface="Times New Roman"/>
                <a:cs typeface="Times New Roman"/>
              </a:rPr>
              <a:t>            “ </a:t>
            </a:r>
            <a:r>
              <a:rPr lang="en-IN" sz="2400" dirty="0">
                <a:solidFill>
                  <a:srgbClr val="FF0000"/>
                </a:solidFill>
                <a:latin typeface="Times New Roman"/>
                <a:cs typeface="Times New Roman"/>
              </a:rPr>
              <a:t>TRAVEL PLANNING APPLICATION ”</a:t>
            </a:r>
            <a:endParaRPr lang="en-IN" sz="2400" dirty="0">
              <a:latin typeface="Times New Roman"/>
              <a:cs typeface="Times New Roman"/>
            </a:endParaRPr>
          </a:p>
          <a:p>
            <a:pPr marL="2700655">
              <a:lnSpc>
                <a:spcPct val="100000"/>
              </a:lnSpc>
              <a:spcBef>
                <a:spcPts val="844"/>
              </a:spcBef>
            </a:pPr>
            <a:r>
              <a:rPr sz="2400" b="1" dirty="0">
                <a:solidFill>
                  <a:srgbClr val="00AF50"/>
                </a:solidFill>
                <a:latin typeface="Times New Roman"/>
                <a:cs typeface="Times New Roman"/>
              </a:rPr>
              <a:t>Presented</a:t>
            </a:r>
            <a:r>
              <a:rPr sz="2400" b="1" spc="-95" dirty="0">
                <a:solidFill>
                  <a:srgbClr val="00AF50"/>
                </a:solidFill>
                <a:latin typeface="Times New Roman"/>
                <a:cs typeface="Times New Roman"/>
              </a:rPr>
              <a:t> </a:t>
            </a:r>
            <a:r>
              <a:rPr sz="2400" b="1" spc="-25" dirty="0">
                <a:solidFill>
                  <a:srgbClr val="00AF50"/>
                </a:solidFill>
                <a:latin typeface="Times New Roman"/>
                <a:cs typeface="Times New Roman"/>
              </a:rPr>
              <a:t>by,</a:t>
            </a:r>
            <a:endParaRPr sz="2400" dirty="0">
              <a:latin typeface="Times New Roman"/>
              <a:cs typeface="Times New Roman"/>
            </a:endParaRPr>
          </a:p>
        </p:txBody>
      </p:sp>
      <p:sp>
        <p:nvSpPr>
          <p:cNvPr id="12" name="object 12"/>
          <p:cNvSpPr txBox="1"/>
          <p:nvPr/>
        </p:nvSpPr>
        <p:spPr>
          <a:xfrm>
            <a:off x="5954179" y="3246150"/>
            <a:ext cx="3424810" cy="1452321"/>
          </a:xfrm>
          <a:prstGeom prst="rect">
            <a:avLst/>
          </a:prstGeom>
        </p:spPr>
        <p:txBody>
          <a:bodyPr vert="horz" wrap="square" lIns="0" tIns="120015" rIns="0" bIns="0" rtlCol="0">
            <a:spAutoFit/>
          </a:bodyPr>
          <a:lstStyle/>
          <a:p>
            <a:pPr marL="12700">
              <a:lnSpc>
                <a:spcPct val="100000"/>
              </a:lnSpc>
              <a:spcBef>
                <a:spcPts val="945"/>
              </a:spcBef>
              <a:tabLst>
                <a:tab pos="228600" algn="l"/>
              </a:tabLst>
            </a:pPr>
            <a:r>
              <a:rPr lang="en-US" sz="1600" dirty="0">
                <a:latin typeface="Times New Roman"/>
                <a:cs typeface="Times New Roman"/>
              </a:rPr>
              <a:t>1.MOHAMMAD SULTAN MOMIN  -</a:t>
            </a:r>
          </a:p>
          <a:p>
            <a:pPr marL="12700">
              <a:lnSpc>
                <a:spcPct val="100000"/>
              </a:lnSpc>
              <a:spcBef>
                <a:spcPts val="945"/>
              </a:spcBef>
              <a:tabLst>
                <a:tab pos="228600" algn="l"/>
              </a:tabLst>
            </a:pPr>
            <a:r>
              <a:rPr lang="en-US" sz="1600" dirty="0">
                <a:latin typeface="Times New Roman"/>
                <a:cs typeface="Times New Roman"/>
              </a:rPr>
              <a:t>2.NOOTAN KUMAR K	        -</a:t>
            </a:r>
          </a:p>
          <a:p>
            <a:pPr marL="12700">
              <a:lnSpc>
                <a:spcPct val="100000"/>
              </a:lnSpc>
              <a:spcBef>
                <a:spcPts val="945"/>
              </a:spcBef>
              <a:tabLst>
                <a:tab pos="228600" algn="l"/>
              </a:tabLst>
            </a:pPr>
            <a:r>
              <a:rPr lang="en-US" sz="1600" dirty="0">
                <a:latin typeface="Times New Roman"/>
                <a:cs typeface="Times New Roman"/>
              </a:rPr>
              <a:t>3.ROSHAN D N		        -</a:t>
            </a:r>
          </a:p>
          <a:p>
            <a:pPr marL="12700">
              <a:lnSpc>
                <a:spcPct val="100000"/>
              </a:lnSpc>
              <a:spcBef>
                <a:spcPts val="945"/>
              </a:spcBef>
              <a:tabLst>
                <a:tab pos="228600" algn="l"/>
              </a:tabLst>
            </a:pPr>
            <a:r>
              <a:rPr lang="en-US" sz="1600" dirty="0">
                <a:latin typeface="Times New Roman"/>
                <a:cs typeface="Times New Roman"/>
              </a:rPr>
              <a:t>4.MOHINUDDIN HASSAN 	        -</a:t>
            </a:r>
            <a:endParaRPr sz="1600" dirty="0">
              <a:latin typeface="Times New Roman"/>
              <a:cs typeface="Times New Roman"/>
            </a:endParaRPr>
          </a:p>
        </p:txBody>
      </p:sp>
      <p:sp>
        <p:nvSpPr>
          <p:cNvPr id="13" name="object 13"/>
          <p:cNvSpPr txBox="1"/>
          <p:nvPr/>
        </p:nvSpPr>
        <p:spPr>
          <a:xfrm>
            <a:off x="9309734" y="3301656"/>
            <a:ext cx="1571625" cy="1776127"/>
          </a:xfrm>
          <a:prstGeom prst="rect">
            <a:avLst/>
          </a:prstGeom>
        </p:spPr>
        <p:txBody>
          <a:bodyPr vert="horz" wrap="square" lIns="0" tIns="12700" rIns="0" bIns="0" rtlCol="0">
            <a:spAutoFit/>
          </a:bodyPr>
          <a:lstStyle/>
          <a:p>
            <a:pPr marL="34925" marR="5080" indent="-22860" algn="just">
              <a:lnSpc>
                <a:spcPct val="139100"/>
              </a:lnSpc>
              <a:spcBef>
                <a:spcPts val="100"/>
              </a:spcBef>
            </a:pPr>
            <a:r>
              <a:rPr lang="en-IN" sz="1600" spc="-10" dirty="0">
                <a:latin typeface="Times New Roman"/>
                <a:cs typeface="Times New Roman"/>
              </a:rPr>
              <a:t>U25JE01AI068</a:t>
            </a:r>
            <a:endParaRPr lang="en-US" sz="1600" spc="-10" dirty="0">
              <a:latin typeface="Times New Roman"/>
              <a:cs typeface="Times New Roman"/>
            </a:endParaRPr>
          </a:p>
          <a:p>
            <a:pPr marL="34925" marR="5080" indent="-22860" algn="just">
              <a:lnSpc>
                <a:spcPct val="139100"/>
              </a:lnSpc>
              <a:spcBef>
                <a:spcPts val="100"/>
              </a:spcBef>
            </a:pPr>
            <a:r>
              <a:rPr lang="en-IN" sz="1600" spc="-10" dirty="0">
                <a:latin typeface="Times New Roman"/>
                <a:cs typeface="Times New Roman"/>
              </a:rPr>
              <a:t>U25JE01AI084 </a:t>
            </a:r>
          </a:p>
          <a:p>
            <a:pPr marL="34925" marR="5080" indent="-22860" algn="just">
              <a:lnSpc>
                <a:spcPct val="139100"/>
              </a:lnSpc>
              <a:spcBef>
                <a:spcPts val="100"/>
              </a:spcBef>
            </a:pPr>
            <a:r>
              <a:rPr lang="en-IN" sz="1600" spc="-10" dirty="0">
                <a:latin typeface="Times New Roman"/>
                <a:cs typeface="Times New Roman"/>
              </a:rPr>
              <a:t>U25JE01AI104 </a:t>
            </a:r>
          </a:p>
          <a:p>
            <a:pPr marL="34925" marR="5080" indent="-22860" algn="just">
              <a:lnSpc>
                <a:spcPct val="139100"/>
              </a:lnSpc>
              <a:spcBef>
                <a:spcPts val="100"/>
              </a:spcBef>
            </a:pPr>
            <a:r>
              <a:rPr lang="en-IN" sz="1600" spc="-10" dirty="0">
                <a:latin typeface="Times New Roman"/>
                <a:cs typeface="Times New Roman"/>
              </a:rPr>
              <a:t>U25JE01AI073 </a:t>
            </a:r>
          </a:p>
          <a:p>
            <a:pPr marL="34925" marR="5080" indent="-22860" algn="just">
              <a:lnSpc>
                <a:spcPct val="139100"/>
              </a:lnSpc>
              <a:spcBef>
                <a:spcPts val="100"/>
              </a:spcBef>
            </a:pPr>
            <a:endParaRPr lang="en-US" sz="1800" spc="-10" dirty="0">
              <a:latin typeface="Times New Roman"/>
              <a:cs typeface="Times New Roman"/>
            </a:endParaRPr>
          </a:p>
        </p:txBody>
      </p:sp>
      <p:graphicFrame>
        <p:nvGraphicFramePr>
          <p:cNvPr id="14" name="object 14"/>
          <p:cNvGraphicFramePr>
            <a:graphicFrameLocks noGrp="1"/>
          </p:cNvGraphicFramePr>
          <p:nvPr>
            <p:extLst>
              <p:ext uri="{D42A27DB-BD31-4B8C-83A1-F6EECF244321}">
                <p14:modId xmlns:p14="http://schemas.microsoft.com/office/powerpoint/2010/main" val="3303821769"/>
              </p:ext>
            </p:extLst>
          </p:nvPr>
        </p:nvGraphicFramePr>
        <p:xfrm>
          <a:off x="4000499" y="5216843"/>
          <a:ext cx="8187056" cy="1381759"/>
        </p:xfrm>
        <a:graphic>
          <a:graphicData uri="http://schemas.openxmlformats.org/drawingml/2006/table">
            <a:tbl>
              <a:tblPr firstRow="1" bandRow="1">
                <a:tableStyleId>{2D5ABB26-0587-4C30-8999-92F81FD0307C}</a:tableStyleId>
              </a:tblPr>
              <a:tblGrid>
                <a:gridCol w="2614185">
                  <a:extLst>
                    <a:ext uri="{9D8B030D-6E8A-4147-A177-3AD203B41FA5}">
                      <a16:colId xmlns:a16="http://schemas.microsoft.com/office/drawing/2014/main" val="20000"/>
                    </a:ext>
                  </a:extLst>
                </a:gridCol>
                <a:gridCol w="3549035">
                  <a:extLst>
                    <a:ext uri="{9D8B030D-6E8A-4147-A177-3AD203B41FA5}">
                      <a16:colId xmlns:a16="http://schemas.microsoft.com/office/drawing/2014/main" val="20001"/>
                    </a:ext>
                  </a:extLst>
                </a:gridCol>
                <a:gridCol w="2023836">
                  <a:extLst>
                    <a:ext uri="{9D8B030D-6E8A-4147-A177-3AD203B41FA5}">
                      <a16:colId xmlns:a16="http://schemas.microsoft.com/office/drawing/2014/main" val="20002"/>
                    </a:ext>
                  </a:extLst>
                </a:gridCol>
              </a:tblGrid>
              <a:tr h="558645">
                <a:tc>
                  <a:txBody>
                    <a:bodyPr/>
                    <a:lstStyle/>
                    <a:p>
                      <a:pPr marL="31750">
                        <a:lnSpc>
                          <a:spcPts val="1964"/>
                        </a:lnSpc>
                      </a:pPr>
                      <a:r>
                        <a:rPr lang="en-IN" sz="1800" b="1" spc="-10" dirty="0">
                          <a:solidFill>
                            <a:srgbClr val="00AFEF"/>
                          </a:solidFill>
                          <a:latin typeface="Times New Roman"/>
                          <a:cs typeface="Times New Roman"/>
                        </a:rPr>
                        <a:t>      G</a:t>
                      </a:r>
                      <a:r>
                        <a:rPr sz="1800" b="1" spc="-10" dirty="0">
                          <a:solidFill>
                            <a:srgbClr val="00AFEF"/>
                          </a:solidFill>
                          <a:latin typeface="Times New Roman"/>
                          <a:cs typeface="Times New Roman"/>
                        </a:rPr>
                        <a:t>u</a:t>
                      </a:r>
                      <a:r>
                        <a:rPr lang="en-IN" sz="1800" b="1" spc="-10" dirty="0">
                          <a:solidFill>
                            <a:srgbClr val="00AFEF"/>
                          </a:solidFill>
                          <a:latin typeface="Times New Roman"/>
                          <a:cs typeface="Times New Roman"/>
                        </a:rPr>
                        <a:t>i</a:t>
                      </a:r>
                      <a:r>
                        <a:rPr sz="1800" b="1" spc="-10" dirty="0">
                          <a:solidFill>
                            <a:srgbClr val="00AFEF"/>
                          </a:solidFill>
                          <a:latin typeface="Times New Roman"/>
                          <a:cs typeface="Times New Roman"/>
                        </a:rPr>
                        <a:t>d</a:t>
                      </a:r>
                      <a:r>
                        <a:rPr lang="en-IN" sz="1800" b="1" spc="-10" dirty="0">
                          <a:solidFill>
                            <a:srgbClr val="00AFEF"/>
                          </a:solidFill>
                          <a:latin typeface="Times New Roman"/>
                          <a:cs typeface="Times New Roman"/>
                        </a:rPr>
                        <a:t>e </a:t>
                      </a:r>
                    </a:p>
                    <a:p>
                      <a:pPr marL="31750">
                        <a:lnSpc>
                          <a:spcPts val="1964"/>
                        </a:lnSpc>
                      </a:pPr>
                      <a:r>
                        <a:rPr lang="en-IN" sz="1800" b="1" spc="-10" dirty="0">
                          <a:solidFill>
                            <a:srgbClr val="00AFEF"/>
                          </a:solidFill>
                          <a:latin typeface="Times New Roman"/>
                          <a:cs typeface="Times New Roman"/>
                        </a:rPr>
                        <a:t>Ms. BHOOMIKA B.R</a:t>
                      </a:r>
                    </a:p>
                  </a:txBody>
                  <a:tcPr marL="0" marR="0" marT="0" marB="0">
                    <a:solidFill>
                      <a:srgbClr val="EDEBE0"/>
                    </a:solidFill>
                  </a:tcPr>
                </a:tc>
                <a:tc>
                  <a:txBody>
                    <a:bodyPr/>
                    <a:lstStyle/>
                    <a:p>
                      <a:pPr marL="438784">
                        <a:lnSpc>
                          <a:spcPts val="1964"/>
                        </a:lnSpc>
                      </a:pPr>
                      <a:r>
                        <a:rPr sz="1800" b="1" dirty="0">
                          <a:solidFill>
                            <a:srgbClr val="00AFEF"/>
                          </a:solidFill>
                          <a:latin typeface="Times New Roman"/>
                          <a:cs typeface="Times New Roman"/>
                        </a:rPr>
                        <a:t>PBL</a:t>
                      </a:r>
                      <a:r>
                        <a:rPr lang="en-IN" sz="1800" b="1" dirty="0">
                          <a:solidFill>
                            <a:srgbClr val="00AFEF"/>
                          </a:solidFill>
                          <a:latin typeface="Times New Roman"/>
                          <a:cs typeface="Times New Roman"/>
                        </a:rPr>
                        <a:t> </a:t>
                      </a:r>
                      <a:r>
                        <a:rPr sz="1800" b="1" spc="-155" dirty="0">
                          <a:solidFill>
                            <a:srgbClr val="00AFEF"/>
                          </a:solidFill>
                          <a:latin typeface="Times New Roman"/>
                          <a:cs typeface="Times New Roman"/>
                        </a:rPr>
                        <a:t> </a:t>
                      </a:r>
                      <a:r>
                        <a:rPr sz="1800" b="1" dirty="0">
                          <a:solidFill>
                            <a:srgbClr val="00AFEF"/>
                          </a:solidFill>
                          <a:latin typeface="Times New Roman"/>
                          <a:cs typeface="Times New Roman"/>
                        </a:rPr>
                        <a:t>Coordinator</a:t>
                      </a:r>
                      <a:r>
                        <a:rPr sz="1800" b="1" spc="25" dirty="0">
                          <a:solidFill>
                            <a:srgbClr val="00AFEF"/>
                          </a:solidFill>
                          <a:latin typeface="Times New Roman"/>
                          <a:cs typeface="Times New Roman"/>
                        </a:rPr>
                        <a:t> </a:t>
                      </a:r>
                      <a:endParaRPr lang="en-IN" sz="1800" b="1" spc="-50" dirty="0">
                        <a:solidFill>
                          <a:srgbClr val="00AFEF"/>
                        </a:solidFill>
                        <a:latin typeface="Times New Roman"/>
                        <a:cs typeface="Times New Roman"/>
                      </a:endParaRPr>
                    </a:p>
                    <a:p>
                      <a:pPr marL="438784" algn="l">
                        <a:lnSpc>
                          <a:spcPts val="1964"/>
                        </a:lnSpc>
                      </a:pPr>
                      <a:r>
                        <a:rPr lang="en-IN" sz="1800" b="1" spc="-50" dirty="0">
                          <a:solidFill>
                            <a:srgbClr val="00AFEF"/>
                          </a:solidFill>
                          <a:latin typeface="Times New Roman"/>
                          <a:cs typeface="Times New Roman"/>
                        </a:rPr>
                        <a:t>Mr. MOHAMMAD</a:t>
                      </a:r>
                    </a:p>
                    <a:p>
                      <a:pPr marL="438784" algn="l">
                        <a:lnSpc>
                          <a:spcPts val="1964"/>
                        </a:lnSpc>
                      </a:pPr>
                      <a:r>
                        <a:rPr lang="en-IN" sz="1800" b="1" spc="-50" dirty="0">
                          <a:solidFill>
                            <a:srgbClr val="00AFEF"/>
                          </a:solidFill>
                          <a:latin typeface="Times New Roman"/>
                          <a:cs typeface="Times New Roman"/>
                        </a:rPr>
                        <a:t>    ZEESHAN    M</a:t>
                      </a:r>
                      <a:endParaRPr sz="1800" dirty="0">
                        <a:latin typeface="Times New Roman"/>
                        <a:cs typeface="Times New Roman"/>
                      </a:endParaRPr>
                    </a:p>
                  </a:txBody>
                  <a:tcPr marL="0" marR="0" marT="0" marB="0">
                    <a:solidFill>
                      <a:srgbClr val="EDEBE0"/>
                    </a:solidFill>
                  </a:tcPr>
                </a:tc>
                <a:tc>
                  <a:txBody>
                    <a:bodyPr/>
                    <a:lstStyle/>
                    <a:p>
                      <a:pPr marL="647065" algn="just">
                        <a:lnSpc>
                          <a:spcPts val="1964"/>
                        </a:lnSpc>
                      </a:pPr>
                      <a:r>
                        <a:rPr lang="en-US" sz="1800" b="1" spc="-10" dirty="0">
                          <a:solidFill>
                            <a:srgbClr val="00AFEF"/>
                          </a:solidFill>
                          <a:latin typeface="Times New Roman"/>
                          <a:cs typeface="Times New Roman"/>
                        </a:rPr>
                        <a:t>   HOD</a:t>
                      </a:r>
                      <a:endParaRPr lang="en-US" sz="1800" b="1" spc="-50" dirty="0">
                        <a:solidFill>
                          <a:srgbClr val="00AFEF"/>
                        </a:solidFill>
                        <a:latin typeface="Times New Roman"/>
                        <a:cs typeface="Times New Roman"/>
                      </a:endParaRPr>
                    </a:p>
                    <a:p>
                      <a:pPr marL="647065">
                        <a:lnSpc>
                          <a:spcPts val="1964"/>
                        </a:lnSpc>
                      </a:pPr>
                      <a:r>
                        <a:rPr lang="en-US" sz="1800" b="1" spc="-50" dirty="0">
                          <a:solidFill>
                            <a:srgbClr val="00AFEF"/>
                          </a:solidFill>
                          <a:latin typeface="Times New Roman"/>
                          <a:cs typeface="Times New Roman"/>
                        </a:rPr>
                        <a:t>Dr. Asha K</a:t>
                      </a:r>
                    </a:p>
                  </a:txBody>
                  <a:tcPr marL="0" marR="0" marT="0" marB="0">
                    <a:solidFill>
                      <a:srgbClr val="EDEBE0"/>
                    </a:solidFill>
                  </a:tcPr>
                </a:tc>
                <a:extLst>
                  <a:ext uri="{0D108BD9-81ED-4DB2-BD59-A6C34878D82A}">
                    <a16:rowId xmlns:a16="http://schemas.microsoft.com/office/drawing/2014/main" val="10000"/>
                  </a:ext>
                </a:extLst>
              </a:tr>
              <a:tr h="231440">
                <a:tc>
                  <a:txBody>
                    <a:bodyPr/>
                    <a:lstStyle/>
                    <a:p>
                      <a:pPr marL="31750">
                        <a:lnSpc>
                          <a:spcPct val="100000"/>
                        </a:lnSpc>
                        <a:spcBef>
                          <a:spcPts val="309"/>
                        </a:spcBef>
                      </a:pPr>
                      <a:endParaRPr sz="1800" dirty="0">
                        <a:latin typeface="Times New Roman"/>
                        <a:cs typeface="Times New Roman"/>
                      </a:endParaRPr>
                    </a:p>
                  </a:txBody>
                  <a:tcPr marL="0" marR="0" marT="39369" marB="0">
                    <a:solidFill>
                      <a:srgbClr val="EDEBE0"/>
                    </a:solidFill>
                  </a:tcPr>
                </a:tc>
                <a:tc>
                  <a:txBody>
                    <a:bodyPr/>
                    <a:lstStyle/>
                    <a:p>
                      <a:pPr marL="429895">
                        <a:lnSpc>
                          <a:spcPct val="100000"/>
                        </a:lnSpc>
                        <a:spcBef>
                          <a:spcPts val="309"/>
                        </a:spcBef>
                      </a:pPr>
                      <a:endParaRPr sz="1800" dirty="0">
                        <a:latin typeface="Times New Roman"/>
                        <a:cs typeface="Times New Roman"/>
                      </a:endParaRPr>
                    </a:p>
                  </a:txBody>
                  <a:tcPr marL="0" marR="0" marT="39369" marB="0">
                    <a:solidFill>
                      <a:srgbClr val="EDEBE0"/>
                    </a:solidFill>
                  </a:tcPr>
                </a:tc>
                <a:tc>
                  <a:txBody>
                    <a:bodyPr/>
                    <a:lstStyle/>
                    <a:p>
                      <a:pPr marL="553085">
                        <a:lnSpc>
                          <a:spcPct val="100000"/>
                        </a:lnSpc>
                        <a:spcBef>
                          <a:spcPts val="309"/>
                        </a:spcBef>
                      </a:pPr>
                      <a:endParaRPr sz="1800" dirty="0">
                        <a:latin typeface="Times New Roman"/>
                        <a:cs typeface="Times New Roman"/>
                      </a:endParaRPr>
                    </a:p>
                  </a:txBody>
                  <a:tcPr marL="0" marR="0" marT="39369" marB="0">
                    <a:solidFill>
                      <a:srgbClr val="EDEBE0"/>
                    </a:solidFill>
                  </a:tcPr>
                </a:tc>
                <a:extLst>
                  <a:ext uri="{0D108BD9-81ED-4DB2-BD59-A6C34878D82A}">
                    <a16:rowId xmlns:a16="http://schemas.microsoft.com/office/drawing/2014/main" val="10001"/>
                  </a:ext>
                </a:extLst>
              </a:tr>
              <a:tr h="224389">
                <a:tc>
                  <a:txBody>
                    <a:bodyPr/>
                    <a:lstStyle/>
                    <a:p>
                      <a:pPr>
                        <a:lnSpc>
                          <a:spcPct val="100000"/>
                        </a:lnSpc>
                      </a:pPr>
                      <a:endParaRPr sz="2000">
                        <a:latin typeface="Times New Roman"/>
                        <a:cs typeface="Times New Roman"/>
                      </a:endParaRPr>
                    </a:p>
                  </a:txBody>
                  <a:tcPr marL="0" marR="0" marT="0" marB="0">
                    <a:solidFill>
                      <a:srgbClr val="EDEBE0"/>
                    </a:solidFill>
                  </a:tcPr>
                </a:tc>
                <a:tc>
                  <a:txBody>
                    <a:bodyPr/>
                    <a:lstStyle/>
                    <a:p>
                      <a:pPr marL="451484">
                        <a:lnSpc>
                          <a:spcPts val="2090"/>
                        </a:lnSpc>
                        <a:spcBef>
                          <a:spcPts val="310"/>
                        </a:spcBef>
                      </a:pPr>
                      <a:endParaRPr sz="1800" dirty="0">
                        <a:latin typeface="Times New Roman"/>
                        <a:cs typeface="Times New Roman"/>
                      </a:endParaRPr>
                    </a:p>
                  </a:txBody>
                  <a:tcPr marL="0" marR="0" marT="39370" marB="0">
                    <a:solidFill>
                      <a:srgbClr val="EDEBE0"/>
                    </a:solidFill>
                  </a:tcPr>
                </a:tc>
                <a:tc>
                  <a:txBody>
                    <a:bodyPr/>
                    <a:lstStyle/>
                    <a:p>
                      <a:pPr>
                        <a:lnSpc>
                          <a:spcPct val="100000"/>
                        </a:lnSpc>
                      </a:pPr>
                      <a:endParaRPr sz="2000" dirty="0">
                        <a:latin typeface="Times New Roman"/>
                        <a:cs typeface="Times New Roman"/>
                      </a:endParaRPr>
                    </a:p>
                  </a:txBody>
                  <a:tcPr marL="0" marR="0" marT="0" marB="0">
                    <a:solidFill>
                      <a:srgbClr val="EDEBE0"/>
                    </a:solidFill>
                  </a:tcPr>
                </a:tc>
                <a:extLst>
                  <a:ext uri="{0D108BD9-81ED-4DB2-BD59-A6C34878D82A}">
                    <a16:rowId xmlns:a16="http://schemas.microsoft.com/office/drawing/2014/main" val="10002"/>
                  </a:ext>
                </a:extLst>
              </a:tr>
            </a:tbl>
          </a:graphicData>
        </a:graphic>
      </p:graphicFrame>
      <p:grpSp>
        <p:nvGrpSpPr>
          <p:cNvPr id="15" name="object 15"/>
          <p:cNvGrpSpPr/>
          <p:nvPr/>
        </p:nvGrpSpPr>
        <p:grpSpPr>
          <a:xfrm>
            <a:off x="-12700" y="6326187"/>
            <a:ext cx="12203430" cy="544830"/>
            <a:chOff x="-12700" y="6326187"/>
            <a:chExt cx="12203430" cy="544830"/>
          </a:xfrm>
        </p:grpSpPr>
        <p:sp>
          <p:nvSpPr>
            <p:cNvPr id="16" name="object 16"/>
            <p:cNvSpPr/>
            <p:nvPr/>
          </p:nvSpPr>
          <p:spPr>
            <a:xfrm>
              <a:off x="0" y="6338887"/>
              <a:ext cx="12178030" cy="519430"/>
            </a:xfrm>
            <a:custGeom>
              <a:avLst/>
              <a:gdLst/>
              <a:ahLst/>
              <a:cxnLst/>
              <a:rect l="l" t="t" r="r" b="b"/>
              <a:pathLst>
                <a:path w="12178030" h="519429">
                  <a:moveTo>
                    <a:pt x="12177711" y="519112"/>
                  </a:moveTo>
                  <a:lnTo>
                    <a:pt x="12177711" y="0"/>
                  </a:lnTo>
                  <a:lnTo>
                    <a:pt x="0" y="0"/>
                  </a:lnTo>
                  <a:lnTo>
                    <a:pt x="0" y="519112"/>
                  </a:lnTo>
                  <a:lnTo>
                    <a:pt x="12177711" y="519112"/>
                  </a:lnTo>
                  <a:close/>
                </a:path>
              </a:pathLst>
            </a:custGeom>
            <a:solidFill>
              <a:srgbClr val="622422"/>
            </a:solidFill>
          </p:spPr>
          <p:txBody>
            <a:bodyPr wrap="square" lIns="0" tIns="0" rIns="0" bIns="0" rtlCol="0"/>
            <a:lstStyle/>
            <a:p>
              <a:endParaRPr/>
            </a:p>
          </p:txBody>
        </p:sp>
        <p:sp>
          <p:nvSpPr>
            <p:cNvPr id="17" name="object 17"/>
            <p:cNvSpPr/>
            <p:nvPr/>
          </p:nvSpPr>
          <p:spPr>
            <a:xfrm>
              <a:off x="0" y="6338887"/>
              <a:ext cx="12178030" cy="519430"/>
            </a:xfrm>
            <a:custGeom>
              <a:avLst/>
              <a:gdLst/>
              <a:ahLst/>
              <a:cxnLst/>
              <a:rect l="l" t="t" r="r" b="b"/>
              <a:pathLst>
                <a:path w="12178030" h="519429">
                  <a:moveTo>
                    <a:pt x="12177711" y="519112"/>
                  </a:moveTo>
                  <a:lnTo>
                    <a:pt x="12177711" y="0"/>
                  </a:lnTo>
                  <a:lnTo>
                    <a:pt x="0" y="0"/>
                  </a:lnTo>
                </a:path>
              </a:pathLst>
            </a:custGeom>
            <a:ln w="25400">
              <a:solidFill>
                <a:srgbClr val="622422"/>
              </a:solidFill>
            </a:ln>
          </p:spPr>
          <p:txBody>
            <a:bodyPr wrap="square" lIns="0" tIns="0" rIns="0" bIns="0" rtlCol="0"/>
            <a:lstStyle/>
            <a:p>
              <a:endParaRPr/>
            </a:p>
          </p:txBody>
        </p:sp>
      </p:gr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CONTENTS</a:t>
            </a:r>
            <a:endParaRPr lang="en-US" sz="4000" b="1" dirty="0">
              <a:solidFill>
                <a:srgbClr val="FF0000"/>
              </a:solidFill>
            </a:endParaRPr>
          </a:p>
        </p:txBody>
      </p:sp>
      <p:sp>
        <p:nvSpPr>
          <p:cNvPr id="12" name="object 4">
            <a:extLst>
              <a:ext uri="{FF2B5EF4-FFF2-40B4-BE49-F238E27FC236}">
                <a16:creationId xmlns:a16="http://schemas.microsoft.com/office/drawing/2014/main" id="{24D4CA09-A8BD-43B2-B6A0-339B66FABE38}"/>
              </a:ext>
            </a:extLst>
          </p:cNvPr>
          <p:cNvSpPr txBox="1"/>
          <p:nvPr/>
        </p:nvSpPr>
        <p:spPr>
          <a:xfrm>
            <a:off x="656935" y="843359"/>
            <a:ext cx="5719445" cy="5547801"/>
          </a:xfrm>
          <a:prstGeom prst="rect">
            <a:avLst/>
          </a:prstGeom>
        </p:spPr>
        <p:txBody>
          <a:bodyPr vert="horz" wrap="square" lIns="0" tIns="15875" rIns="0" bIns="0" rtlCol="0">
            <a:spAutoFit/>
          </a:bodyPr>
          <a:lstStyle/>
          <a:p>
            <a:pPr marL="12700">
              <a:lnSpc>
                <a:spcPct val="150000"/>
              </a:lnSpc>
              <a:spcBef>
                <a:spcPts val="2710"/>
              </a:spcBef>
              <a:tabLst>
                <a:tab pos="367665" algn="l"/>
              </a:tabLst>
            </a:pPr>
            <a:r>
              <a:rPr lang="en-IN" sz="2800" spc="-10" dirty="0">
                <a:latin typeface="Times New Roman"/>
                <a:cs typeface="Times New Roman"/>
              </a:rPr>
              <a:t>1. Abstracts</a:t>
            </a:r>
          </a:p>
          <a:p>
            <a:pPr marL="12700">
              <a:lnSpc>
                <a:spcPct val="150000"/>
              </a:lnSpc>
              <a:spcBef>
                <a:spcPts val="2710"/>
              </a:spcBef>
              <a:tabLst>
                <a:tab pos="367665" algn="l"/>
              </a:tabLst>
            </a:pPr>
            <a:r>
              <a:rPr lang="en-IN" sz="2800" spc="-10" dirty="0">
                <a:latin typeface="Times New Roman"/>
                <a:cs typeface="Times New Roman"/>
              </a:rPr>
              <a:t>2. </a:t>
            </a:r>
            <a:r>
              <a:rPr sz="2800" spc="-10" dirty="0">
                <a:latin typeface="Times New Roman"/>
                <a:cs typeface="Times New Roman"/>
              </a:rPr>
              <a:t>Introduction</a:t>
            </a:r>
            <a:endParaRPr sz="2800" dirty="0">
              <a:latin typeface="Times New Roman"/>
              <a:cs typeface="Times New Roman"/>
            </a:endParaRPr>
          </a:p>
          <a:p>
            <a:pPr marL="12700">
              <a:lnSpc>
                <a:spcPct val="150000"/>
              </a:lnSpc>
              <a:spcBef>
                <a:spcPts val="2710"/>
              </a:spcBef>
              <a:tabLst>
                <a:tab pos="367665" algn="l"/>
              </a:tabLst>
            </a:pPr>
            <a:r>
              <a:rPr lang="en-IN" sz="2800" dirty="0">
                <a:latin typeface="Times New Roman"/>
                <a:cs typeface="Times New Roman"/>
              </a:rPr>
              <a:t>3. </a:t>
            </a:r>
            <a:r>
              <a:rPr sz="2800" dirty="0">
                <a:latin typeface="Times New Roman"/>
                <a:cs typeface="Times New Roman"/>
              </a:rPr>
              <a:t>Problem</a:t>
            </a:r>
            <a:r>
              <a:rPr sz="2800" spc="16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12700">
              <a:lnSpc>
                <a:spcPct val="150000"/>
              </a:lnSpc>
              <a:spcBef>
                <a:spcPts val="2705"/>
              </a:spcBef>
              <a:tabLst>
                <a:tab pos="367665" algn="l"/>
              </a:tabLst>
            </a:pPr>
            <a:r>
              <a:rPr lang="en-IN" sz="2800" dirty="0">
                <a:latin typeface="Times New Roman"/>
                <a:cs typeface="Times New Roman"/>
              </a:rPr>
              <a:t>4. </a:t>
            </a:r>
            <a:r>
              <a:rPr sz="2800" dirty="0">
                <a:latin typeface="Times New Roman"/>
                <a:cs typeface="Times New Roman"/>
              </a:rPr>
              <a:t>Objectives</a:t>
            </a:r>
          </a:p>
          <a:p>
            <a:pPr marL="12700">
              <a:lnSpc>
                <a:spcPct val="150000"/>
              </a:lnSpc>
              <a:spcBef>
                <a:spcPts val="2710"/>
              </a:spcBef>
              <a:tabLst>
                <a:tab pos="367665" algn="l"/>
              </a:tabLst>
            </a:pPr>
            <a:r>
              <a:rPr lang="en-IN" sz="2800" dirty="0">
                <a:latin typeface="Times New Roman"/>
                <a:cs typeface="Times New Roman"/>
              </a:rPr>
              <a:t>5. Methodology</a:t>
            </a:r>
          </a:p>
          <a:p>
            <a:pPr marL="12700">
              <a:lnSpc>
                <a:spcPct val="150000"/>
              </a:lnSpc>
              <a:spcBef>
                <a:spcPts val="2710"/>
              </a:spcBef>
              <a:tabLst>
                <a:tab pos="367665" algn="l"/>
              </a:tabLst>
            </a:pPr>
            <a:r>
              <a:rPr lang="en-IN" sz="2800" dirty="0">
                <a:latin typeface="Times New Roman"/>
                <a:cs typeface="Times New Roman"/>
              </a:rPr>
              <a:t>6. Software and hardware specifications</a:t>
            </a:r>
            <a:endParaRPr sz="2800" dirty="0">
              <a:latin typeface="Times New Roman"/>
              <a:cs typeface="Times New Roman"/>
            </a:endParaRPr>
          </a:p>
        </p:txBody>
      </p:sp>
    </p:spTree>
    <p:extLst>
      <p:ext uri="{BB962C8B-B14F-4D97-AF65-F5344CB8AC3E}">
        <p14:creationId xmlns:p14="http://schemas.microsoft.com/office/powerpoint/2010/main" val="1747906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ABSTRACT</a:t>
            </a:r>
            <a:endParaRPr lang="en-US" sz="4000" b="1" dirty="0">
              <a:solidFill>
                <a:srgbClr val="FF0000"/>
              </a:solidFill>
            </a:endParaRPr>
          </a:p>
        </p:txBody>
      </p:sp>
      <p:sp>
        <p:nvSpPr>
          <p:cNvPr id="2" name="TextBox 1">
            <a:extLst>
              <a:ext uri="{FF2B5EF4-FFF2-40B4-BE49-F238E27FC236}">
                <a16:creationId xmlns:a16="http://schemas.microsoft.com/office/drawing/2014/main" id="{271673FB-7195-6DCD-2C20-89988519CCBE}"/>
              </a:ext>
            </a:extLst>
          </p:cNvPr>
          <p:cNvSpPr txBox="1"/>
          <p:nvPr/>
        </p:nvSpPr>
        <p:spPr>
          <a:xfrm>
            <a:off x="1219200" y="1295400"/>
            <a:ext cx="9677400" cy="4524315"/>
          </a:xfrm>
          <a:prstGeom prst="rect">
            <a:avLst/>
          </a:prstGeom>
          <a:noFill/>
        </p:spPr>
        <p:txBody>
          <a:bodyPr wrap="square" rtlCol="0">
            <a:spAutoFit/>
          </a:bodyPr>
          <a:lstStyle/>
          <a:p>
            <a:pPr marL="285750" indent="-285750" algn="just">
              <a:buFont typeface="Arial" panose="020B0604020202020204" pitchFamily="34" charset="0"/>
              <a:buChar char="•"/>
            </a:pPr>
            <a:r>
              <a:rPr lang="en-US" dirty="0"/>
              <a:t>This project showcases the frontend development of a Travel Planning Application using core web technologies—HTML, CSS, and JavaScript—alongside Canva for visual design elements. The application is designed to assist users in organizing their travel experiences through an interactive and user-friendly interface.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b="1" dirty="0"/>
          </a:p>
          <a:p>
            <a:pPr marL="285750" indent="-285750" algn="just">
              <a:buFont typeface="Arial" panose="020B0604020202020204" pitchFamily="34" charset="0"/>
              <a:buChar char="•"/>
            </a:pPr>
            <a:r>
              <a:rPr lang="en-US" dirty="0"/>
              <a:t>Key features include itinerary creation, budget tracking, booking overview, and local discovery modules. The layout is structured with semantic HTML, styled using responsive CSS for cross-device compatibility, and enhanced with JavaScript to enable dynamic interactions such as form validation, tab switching, and real-time updates.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This frontend implementation provides a practical and visually engaging solution for travelers seeking to streamline their planning process.</a:t>
            </a:r>
            <a:endParaRPr lang="en-US" b="1" dirty="0"/>
          </a:p>
          <a:p>
            <a:pPr marL="285750" indent="-285750">
              <a:buFont typeface="Arial" panose="020B0604020202020204" pitchFamily="34" charset="0"/>
              <a:buChar char="•"/>
            </a:pPr>
            <a:endParaRPr lang="en-US" sz="1800" b="1" dirty="0"/>
          </a:p>
          <a:p>
            <a:endParaRPr lang="en-US" dirty="0"/>
          </a:p>
        </p:txBody>
      </p:sp>
    </p:spTree>
    <p:extLst>
      <p:ext uri="{BB962C8B-B14F-4D97-AF65-F5344CB8AC3E}">
        <p14:creationId xmlns:p14="http://schemas.microsoft.com/office/powerpoint/2010/main" val="1598740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INTRODUCTION</a:t>
            </a:r>
            <a:endParaRPr lang="en-US" sz="4000" b="1" dirty="0">
              <a:solidFill>
                <a:srgbClr val="FF0000"/>
              </a:solidFill>
            </a:endParaRPr>
          </a:p>
        </p:txBody>
      </p:sp>
      <p:sp>
        <p:nvSpPr>
          <p:cNvPr id="2" name="TextBox 1">
            <a:extLst>
              <a:ext uri="{FF2B5EF4-FFF2-40B4-BE49-F238E27FC236}">
                <a16:creationId xmlns:a16="http://schemas.microsoft.com/office/drawing/2014/main" id="{9378CF2A-704D-26B6-D653-929A7835D592}"/>
              </a:ext>
            </a:extLst>
          </p:cNvPr>
          <p:cNvSpPr txBox="1"/>
          <p:nvPr/>
        </p:nvSpPr>
        <p:spPr>
          <a:xfrm>
            <a:off x="1257300" y="1596241"/>
            <a:ext cx="9372600" cy="3970318"/>
          </a:xfrm>
          <a:prstGeom prst="rect">
            <a:avLst/>
          </a:prstGeom>
          <a:noFill/>
        </p:spPr>
        <p:txBody>
          <a:bodyPr wrap="square" rtlCol="0">
            <a:spAutoFit/>
          </a:bodyPr>
          <a:lstStyle/>
          <a:p>
            <a:r>
              <a:rPr lang="en-US" sz="1800" dirty="0"/>
              <a:t>In today’s fast-paced world, travel has evolved from a luxury to a lifestyle—whether for leisure, business, or exploration. Yet, planning a trip remains a complex and often overwhelming task, involving multiple layers of decision-making, coordination, and organization. This project introduces a </a:t>
            </a:r>
            <a:r>
              <a:rPr lang="en-US" sz="1800" b="1" dirty="0"/>
              <a:t>Travel Planning Application</a:t>
            </a:r>
            <a:r>
              <a:rPr lang="en-US" sz="1800" dirty="0"/>
              <a:t>, a web-based solution designed to simplify and enhance the travel planning experience through a visually engaging and interactive frontend interface.</a:t>
            </a:r>
          </a:p>
          <a:p>
            <a:endParaRPr lang="en-US" dirty="0"/>
          </a:p>
          <a:p>
            <a:endParaRPr lang="en-US" sz="1800" dirty="0"/>
          </a:p>
          <a:p>
            <a:r>
              <a:rPr lang="en-US" sz="1800" dirty="0"/>
              <a:t>Built entirely using </a:t>
            </a:r>
            <a:r>
              <a:rPr lang="en-US" sz="1800" b="1" dirty="0"/>
              <a:t>HTML, CSS, and JavaScript</a:t>
            </a:r>
            <a:r>
              <a:rPr lang="en-US" sz="1800" dirty="0"/>
              <a:t>, the application focuses on delivering a seamless user experience without relying on external frameworks or libraries. It leverages the power of </a:t>
            </a:r>
            <a:r>
              <a:rPr lang="en-US" sz="1800" b="1" dirty="0"/>
              <a:t>pure web technologies</a:t>
            </a:r>
            <a:r>
              <a:rPr lang="en-US" sz="1800" dirty="0"/>
              <a:t> to create a responsive, intuitive, and aesthetically pleasing platform that guides users through every stage of their journey—from selecting destinations to managing budgets and discovering local attractions.</a:t>
            </a:r>
          </a:p>
          <a:p>
            <a:endParaRPr lang="en-US" dirty="0"/>
          </a:p>
        </p:txBody>
      </p:sp>
    </p:spTree>
    <p:extLst>
      <p:ext uri="{BB962C8B-B14F-4D97-AF65-F5344CB8AC3E}">
        <p14:creationId xmlns:p14="http://schemas.microsoft.com/office/powerpoint/2010/main" val="2767264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PROBLEM STATEMENT</a:t>
            </a:r>
            <a:endParaRPr lang="en-US" sz="4000" b="1" dirty="0">
              <a:solidFill>
                <a:srgbClr val="FF0000"/>
              </a:solidFill>
            </a:endParaRPr>
          </a:p>
        </p:txBody>
      </p:sp>
      <p:sp>
        <p:nvSpPr>
          <p:cNvPr id="4" name="TextBox 3">
            <a:extLst>
              <a:ext uri="{FF2B5EF4-FFF2-40B4-BE49-F238E27FC236}">
                <a16:creationId xmlns:a16="http://schemas.microsoft.com/office/drawing/2014/main" id="{D18B9AF9-2A8F-D362-85AD-8B9DD4106BE7}"/>
              </a:ext>
            </a:extLst>
          </p:cNvPr>
          <p:cNvSpPr txBox="1"/>
          <p:nvPr/>
        </p:nvSpPr>
        <p:spPr>
          <a:xfrm>
            <a:off x="1508432" y="1516971"/>
            <a:ext cx="8305324" cy="2951064"/>
          </a:xfrm>
          <a:prstGeom prst="rect">
            <a:avLst/>
          </a:prstGeom>
          <a:noFill/>
        </p:spPr>
        <p:txBody>
          <a:bodyPr wrap="square">
            <a:spAutoFit/>
          </a:bodyPr>
          <a:lstStyle/>
          <a:p>
            <a:pPr marL="59690" algn="just">
              <a:lnSpc>
                <a:spcPct val="150000"/>
              </a:lnSpc>
              <a:buNone/>
            </a:pPr>
            <a:r>
              <a:rPr lang="en-US" sz="1800" dirty="0">
                <a:effectLst/>
                <a:latin typeface="Times New Roman" panose="02020603050405020304" pitchFamily="18" charset="0"/>
                <a:ea typeface="Times New Roman" panose="02020603050405020304" pitchFamily="18" charset="0"/>
              </a:rPr>
              <a:t>Planning a trip involves juggling multiple tasks—booking, budgeting, itinerary creation, and local discovery—often across different platforms. This can be time-consuming and confusing, especially for non-technical users.</a:t>
            </a:r>
            <a:endParaRPr lang="en-US" sz="1600" dirty="0">
              <a:effectLst/>
              <a:latin typeface="Times New Roman" panose="02020603050405020304" pitchFamily="18" charset="0"/>
              <a:ea typeface="Times New Roman" panose="02020603050405020304" pitchFamily="18" charset="0"/>
            </a:endParaRPr>
          </a:p>
          <a:p>
            <a:pPr marL="59690" algn="just">
              <a:lnSpc>
                <a:spcPct val="150000"/>
              </a:lnSpc>
              <a:buNone/>
            </a:pPr>
            <a:r>
              <a:rPr lang="en-US" sz="1800" dirty="0">
                <a:effectLst/>
                <a:latin typeface="Times New Roman" panose="02020603050405020304" pitchFamily="18" charset="0"/>
                <a:ea typeface="Times New Roman" panose="02020603050405020304" pitchFamily="18" charset="0"/>
              </a:rPr>
              <a:t>This project aims to solve that by building a simple, responsive, and visually appealing travel planning interface using </a:t>
            </a:r>
            <a:r>
              <a:rPr lang="en-US" sz="1800" b="1" dirty="0">
                <a:effectLst/>
                <a:latin typeface="Times New Roman" panose="02020603050405020304" pitchFamily="18" charset="0"/>
                <a:ea typeface="Times New Roman" panose="02020603050405020304" pitchFamily="18" charset="0"/>
              </a:rPr>
              <a:t>HTML, CSS, JavaScript</a:t>
            </a:r>
            <a:r>
              <a:rPr lang="en-US" sz="1800" dirty="0">
                <a:effectLst/>
                <a:latin typeface="Times New Roman" panose="02020603050405020304" pitchFamily="18" charset="0"/>
                <a:ea typeface="Times New Roman" panose="02020603050405020304" pitchFamily="18" charset="0"/>
              </a:rPr>
              <a:t>, and </a:t>
            </a:r>
            <a:r>
              <a:rPr lang="en-US" sz="1800" b="1" dirty="0">
                <a:effectLst/>
                <a:latin typeface="Times New Roman" panose="02020603050405020304" pitchFamily="18" charset="0"/>
                <a:ea typeface="Times New Roman" panose="02020603050405020304" pitchFamily="18" charset="0"/>
              </a:rPr>
              <a:t>Canva</a:t>
            </a:r>
            <a:r>
              <a:rPr lang="en-US" sz="1800" dirty="0">
                <a:effectLst/>
                <a:latin typeface="Times New Roman" panose="02020603050405020304" pitchFamily="18" charset="0"/>
                <a:ea typeface="Times New Roman" panose="02020603050405020304" pitchFamily="18" charset="0"/>
              </a:rPr>
              <a:t>. It offers core features like itinerary management, budget tracking, and booking overview—all in one place, without relying on backend systems or external libraries.</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63632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OBJECTIVES</a:t>
            </a:r>
            <a:endParaRPr lang="en-US" sz="4000" b="1" dirty="0">
              <a:solidFill>
                <a:srgbClr val="FF0000"/>
              </a:solidFill>
            </a:endParaRPr>
          </a:p>
        </p:txBody>
      </p:sp>
      <p:sp>
        <p:nvSpPr>
          <p:cNvPr id="4" name="TextBox 3">
            <a:extLst>
              <a:ext uri="{FF2B5EF4-FFF2-40B4-BE49-F238E27FC236}">
                <a16:creationId xmlns:a16="http://schemas.microsoft.com/office/drawing/2014/main" id="{38FEE204-3C09-A39C-8FBA-037F6E2717DD}"/>
              </a:ext>
            </a:extLst>
          </p:cNvPr>
          <p:cNvSpPr txBox="1"/>
          <p:nvPr/>
        </p:nvSpPr>
        <p:spPr>
          <a:xfrm>
            <a:off x="1623330" y="1068836"/>
            <a:ext cx="9120869" cy="4197559"/>
          </a:xfrm>
          <a:prstGeom prst="rect">
            <a:avLst/>
          </a:prstGeom>
          <a:noFill/>
        </p:spPr>
        <p:txBody>
          <a:bodyPr wrap="square">
            <a:spAutoFit/>
          </a:bodyPr>
          <a:lstStyle/>
          <a:p>
            <a:pPr marL="342900" lvl="0" indent="-342900" algn="just" rtl="0">
              <a:lnSpc>
                <a:spcPct val="150000"/>
              </a:lnSpc>
              <a:buSzPts val="1000"/>
              <a:buFont typeface="Symbol" panose="05050102010706020507" pitchFamily="18" charset="2"/>
              <a:buChar char=""/>
              <a:tabLst>
                <a:tab pos="457200" algn="l"/>
              </a:tabLst>
            </a:pPr>
            <a:r>
              <a:rPr lang="en-US" sz="1800" b="0" kern="0" dirty="0">
                <a:effectLst/>
                <a:latin typeface="Times New Roman" panose="02020603050405020304" pitchFamily="18" charset="0"/>
                <a:ea typeface="Times New Roman" panose="02020603050405020304" pitchFamily="18" charset="0"/>
                <a:cs typeface="Times New Roman" panose="02020603050405020304" pitchFamily="18" charset="0"/>
              </a:rPr>
              <a:t>Create a cohesive visual design system using Canva to produce custom icons, banners, and UI elements that reflect the theme of travel and exploration.</a:t>
            </a:r>
            <a:endParaRPr lang="en-US" sz="2400" b="1" kern="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en-US" sz="1800" b="0" kern="0" dirty="0">
                <a:effectLst/>
                <a:latin typeface="Times New Roman" panose="02020603050405020304" pitchFamily="18" charset="0"/>
                <a:ea typeface="Times New Roman" panose="02020603050405020304" pitchFamily="18" charset="0"/>
                <a:cs typeface="Times New Roman" panose="02020603050405020304" pitchFamily="18" charset="0"/>
              </a:rPr>
              <a:t>Implement an itinerary builder that allows users to create, view, and edit daily travel plans with ease.</a:t>
            </a:r>
            <a:endParaRPr lang="en-US" sz="2400" b="1" kern="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en-US" sz="1800" b="0" kern="0" dirty="0">
                <a:effectLst/>
                <a:latin typeface="Times New Roman" panose="02020603050405020304" pitchFamily="18" charset="0"/>
                <a:ea typeface="Times New Roman" panose="02020603050405020304" pitchFamily="18" charset="0"/>
                <a:cs typeface="Times New Roman" panose="02020603050405020304" pitchFamily="18" charset="0"/>
              </a:rPr>
              <a:t>Develop a budget tracking module to help users input expenses, monitor spending, and stay within their travel budget.</a:t>
            </a:r>
            <a:endParaRPr lang="en-US" sz="2400" b="1" kern="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en-US" sz="1800" b="0" kern="0" dirty="0">
                <a:effectLst/>
                <a:latin typeface="Times New Roman" panose="02020603050405020304" pitchFamily="18" charset="0"/>
                <a:ea typeface="Times New Roman" panose="02020603050405020304" pitchFamily="18" charset="0"/>
                <a:cs typeface="Times New Roman" panose="02020603050405020304" pitchFamily="18" charset="0"/>
              </a:rPr>
              <a:t>Design a booking overview section to organize flight, hotel, and transport details in a clear and accessible format.</a:t>
            </a:r>
            <a:endParaRPr lang="en-US" sz="2400" b="1" kern="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en-US" sz="1800" b="0" kern="0" dirty="0">
                <a:effectLst/>
                <a:latin typeface="Times New Roman" panose="02020603050405020304" pitchFamily="18" charset="0"/>
                <a:ea typeface="Times New Roman" panose="02020603050405020304" pitchFamily="18" charset="0"/>
                <a:cs typeface="Times New Roman" panose="02020603050405020304" pitchFamily="18" charset="0"/>
              </a:rPr>
              <a:t>Integrate a local discovery panel showcasing attractions, restaurants, and cultural experiences tailored to the user’s destination.</a:t>
            </a:r>
            <a:endParaRPr lang="en-US" sz="2400" b="1" kern="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84137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152400" y="101314"/>
            <a:ext cx="11726795"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SOFTWARE REQUIREMENTS </a:t>
            </a:r>
            <a:endParaRPr lang="en-US" sz="4000" b="1" dirty="0">
              <a:solidFill>
                <a:srgbClr val="FF0000"/>
              </a:solidFill>
            </a:endParaRPr>
          </a:p>
        </p:txBody>
      </p:sp>
      <p:sp>
        <p:nvSpPr>
          <p:cNvPr id="3" name="TextBox 2">
            <a:extLst>
              <a:ext uri="{FF2B5EF4-FFF2-40B4-BE49-F238E27FC236}">
                <a16:creationId xmlns:a16="http://schemas.microsoft.com/office/drawing/2014/main" id="{4C5D50C3-4072-B45C-E314-4DFA51D49C45}"/>
              </a:ext>
            </a:extLst>
          </p:cNvPr>
          <p:cNvSpPr txBox="1"/>
          <p:nvPr/>
        </p:nvSpPr>
        <p:spPr>
          <a:xfrm>
            <a:off x="1219200" y="1496064"/>
            <a:ext cx="10972800" cy="4480073"/>
          </a:xfrm>
          <a:prstGeom prst="rect">
            <a:avLst/>
          </a:prstGeom>
          <a:noFill/>
        </p:spPr>
        <p:txBody>
          <a:bodyPr wrap="square">
            <a:spAutoFit/>
          </a:bodyPr>
          <a:lstStyle/>
          <a:p>
            <a:pPr marL="14605" algn="just">
              <a:lnSpc>
                <a:spcPct val="150000"/>
              </a:lnSpc>
              <a:buNone/>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1. Code Editor</a:t>
            </a:r>
            <a:endParaRPr lang="en-US" sz="1600" b="1" kern="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Visual Studio Code (VS Code) – Recommended for writing and organizing HTML, CSS, and JavaScript files.</a:t>
            </a:r>
            <a:endParaRPr lang="en-US" sz="1600" b="1" kern="0" dirty="0">
              <a:effectLst/>
              <a:latin typeface="Times New Roman" panose="02020603050405020304" pitchFamily="18" charset="0"/>
              <a:ea typeface="Times New Roman" panose="02020603050405020304" pitchFamily="18" charset="0"/>
            </a:endParaRPr>
          </a:p>
          <a:p>
            <a:pPr marL="14605" algn="just">
              <a:lnSpc>
                <a:spcPct val="150000"/>
              </a:lnSpc>
              <a:buNone/>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2. Web Browser</a:t>
            </a:r>
            <a:endParaRPr lang="en-US" sz="1600" b="1" kern="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Google Chrome, Mozilla Firefox, or Microsoft Edge – For testing and debugging your application.</a:t>
            </a:r>
            <a:endParaRPr lang="en-US" sz="1600" b="1" kern="0" dirty="0">
              <a:effectLst/>
              <a:latin typeface="Times New Roman" panose="02020603050405020304" pitchFamily="18" charset="0"/>
              <a:ea typeface="Times New Roman" panose="02020603050405020304" pitchFamily="18" charset="0"/>
            </a:endParaRPr>
          </a:p>
          <a:p>
            <a:pPr marL="14605" algn="just">
              <a:lnSpc>
                <a:spcPct val="150000"/>
              </a:lnSpc>
              <a:buNone/>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3. Design Tool</a:t>
            </a:r>
            <a:endParaRPr lang="en-US" sz="1600" b="1" kern="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Canva – Used to create UI mockups, icons, banners, and other visual assets.</a:t>
            </a:r>
            <a:endParaRPr lang="en-US" sz="1600" b="1" kern="0" dirty="0">
              <a:effectLst/>
              <a:latin typeface="Times New Roman" panose="02020603050405020304" pitchFamily="18" charset="0"/>
              <a:ea typeface="Times New Roman" panose="02020603050405020304" pitchFamily="18" charset="0"/>
            </a:endParaRPr>
          </a:p>
          <a:p>
            <a:pPr marL="14605" algn="just">
              <a:lnSpc>
                <a:spcPct val="150000"/>
              </a:lnSpc>
              <a:buNone/>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4. Version Control</a:t>
            </a:r>
            <a:endParaRPr lang="en-US" sz="1600" b="1" kern="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GitHub – To host your project repository and collaborate (optional but useful).</a:t>
            </a:r>
            <a:endParaRPr lang="en-US" sz="1600" b="1" kern="0" dirty="0">
              <a:effectLst/>
              <a:latin typeface="Times New Roman" panose="02020603050405020304" pitchFamily="18" charset="0"/>
              <a:ea typeface="Times New Roman" panose="02020603050405020304" pitchFamily="18" charset="0"/>
            </a:endParaRPr>
          </a:p>
          <a:p>
            <a:pPr marL="14605" algn="just">
              <a:lnSpc>
                <a:spcPct val="150000"/>
              </a:lnSpc>
              <a:buNone/>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5. Local Server (Optional for Testing)</a:t>
            </a:r>
            <a:endParaRPr lang="en-US" sz="1600" b="1" kern="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Live Server Extension (in VS Code) – Automatically reloads your app when you save changes.</a:t>
            </a:r>
            <a:endParaRPr lang="en-US" sz="1600" b="1" kern="0" dirty="0">
              <a:effectLst/>
              <a:latin typeface="Times New Roman" panose="02020603050405020304" pitchFamily="18" charset="0"/>
              <a:ea typeface="Times New Roman" panose="02020603050405020304" pitchFamily="18" charset="0"/>
            </a:endParaRPr>
          </a:p>
          <a:p>
            <a:pPr marL="14605" algn="just">
              <a:lnSpc>
                <a:spcPct val="150000"/>
              </a:lnSpc>
              <a:buNone/>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6. Browser Developer Tools</a:t>
            </a:r>
            <a:endParaRPr lang="en-US" sz="1600" b="1" kern="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Built-in </a:t>
            </a:r>
            <a:r>
              <a:rPr lang="en-US" sz="1600" b="0" kern="0" dirty="0" err="1">
                <a:effectLst/>
                <a:latin typeface="Times New Roman" panose="02020603050405020304" pitchFamily="18" charset="0"/>
                <a:ea typeface="Times New Roman" panose="02020603050405020304" pitchFamily="18" charset="0"/>
                <a:cs typeface="Times New Roman" panose="02020603050405020304" pitchFamily="18" charset="0"/>
              </a:rPr>
              <a:t>DevTools</a:t>
            </a: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 in Chrome/Firefox – For inspecting elements, debugging JavaScript, and testing responsiveness.</a:t>
            </a:r>
            <a:endParaRPr lang="en-US" sz="1600" b="1" kern="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96074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METHODOLOGY</a:t>
            </a:r>
            <a:endParaRPr lang="en-US" sz="4000" b="1" dirty="0">
              <a:solidFill>
                <a:srgbClr val="FF0000"/>
              </a:solidFill>
            </a:endParaRPr>
          </a:p>
        </p:txBody>
      </p:sp>
      <p:pic>
        <p:nvPicPr>
          <p:cNvPr id="11" name="Picture 10" descr="A diagram of a software development&#10;&#10;AI-generated content may be incorrect.">
            <a:extLst>
              <a:ext uri="{FF2B5EF4-FFF2-40B4-BE49-F238E27FC236}">
                <a16:creationId xmlns:a16="http://schemas.microsoft.com/office/drawing/2014/main" id="{B0357268-4CEA-18C5-9A51-5D469ABB0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7853" y="902377"/>
            <a:ext cx="5181600" cy="5473521"/>
          </a:xfrm>
          <a:prstGeom prst="rect">
            <a:avLst/>
          </a:prstGeom>
        </p:spPr>
      </p:pic>
    </p:spTree>
    <p:extLst>
      <p:ext uri="{BB962C8B-B14F-4D97-AF65-F5344CB8AC3E}">
        <p14:creationId xmlns:p14="http://schemas.microsoft.com/office/powerpoint/2010/main" val="4280172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1172" y="6406222"/>
            <a:ext cx="133985" cy="169545"/>
          </a:xfrm>
          <a:prstGeom prst="rect">
            <a:avLst/>
          </a:prstGeom>
        </p:spPr>
        <p:txBody>
          <a:bodyPr vert="horz" wrap="square" lIns="0" tIns="12065" rIns="0" bIns="0" rtlCol="0">
            <a:spAutoFit/>
          </a:bodyPr>
          <a:lstStyle/>
          <a:p>
            <a:pPr>
              <a:lnSpc>
                <a:spcPct val="100000"/>
              </a:lnSpc>
              <a:spcBef>
                <a:spcPts val="95"/>
              </a:spcBef>
            </a:pPr>
            <a:r>
              <a:rPr sz="950" spc="-55" dirty="0">
                <a:latin typeface="Microsoft JhengHei"/>
                <a:cs typeface="Microsoft JhengHei"/>
              </a:rPr>
              <a:t>12</a:t>
            </a:r>
            <a:endParaRPr sz="950">
              <a:latin typeface="Microsoft JhengHei"/>
              <a:cs typeface="Microsoft JhengHei"/>
            </a:endParaRPr>
          </a:p>
        </p:txBody>
      </p:sp>
      <p:grpSp>
        <p:nvGrpSpPr>
          <p:cNvPr id="3" name="object 3"/>
          <p:cNvGrpSpPr/>
          <p:nvPr/>
        </p:nvGrpSpPr>
        <p:grpSpPr>
          <a:xfrm>
            <a:off x="-7936" y="3002026"/>
            <a:ext cx="12212955" cy="863600"/>
            <a:chOff x="-7936" y="3002026"/>
            <a:chExt cx="12212955" cy="863600"/>
          </a:xfrm>
        </p:grpSpPr>
        <p:sp>
          <p:nvSpPr>
            <p:cNvPr id="4" name="object 4"/>
            <p:cNvSpPr/>
            <p:nvPr/>
          </p:nvSpPr>
          <p:spPr>
            <a:xfrm>
              <a:off x="4763" y="3014726"/>
              <a:ext cx="12187555" cy="838200"/>
            </a:xfrm>
            <a:custGeom>
              <a:avLst/>
              <a:gdLst/>
              <a:ahLst/>
              <a:cxnLst/>
              <a:rect l="l" t="t" r="r" b="b"/>
              <a:pathLst>
                <a:path w="12187555" h="838200">
                  <a:moveTo>
                    <a:pt x="12187236" y="0"/>
                  </a:moveTo>
                  <a:lnTo>
                    <a:pt x="0" y="0"/>
                  </a:lnTo>
                  <a:lnTo>
                    <a:pt x="0" y="838200"/>
                  </a:lnTo>
                  <a:lnTo>
                    <a:pt x="12187236" y="838200"/>
                  </a:lnTo>
                  <a:lnTo>
                    <a:pt x="12187236" y="0"/>
                  </a:lnTo>
                  <a:close/>
                </a:path>
              </a:pathLst>
            </a:custGeom>
            <a:solidFill>
              <a:srgbClr val="622422"/>
            </a:solidFill>
          </p:spPr>
          <p:txBody>
            <a:bodyPr wrap="square" lIns="0" tIns="0" rIns="0" bIns="0" rtlCol="0"/>
            <a:lstStyle/>
            <a:p>
              <a:endParaRPr/>
            </a:p>
          </p:txBody>
        </p:sp>
        <p:sp>
          <p:nvSpPr>
            <p:cNvPr id="5" name="object 5"/>
            <p:cNvSpPr/>
            <p:nvPr/>
          </p:nvSpPr>
          <p:spPr>
            <a:xfrm>
              <a:off x="4763" y="3014726"/>
              <a:ext cx="12187555" cy="838200"/>
            </a:xfrm>
            <a:custGeom>
              <a:avLst/>
              <a:gdLst/>
              <a:ahLst/>
              <a:cxnLst/>
              <a:rect l="l" t="t" r="r" b="b"/>
              <a:pathLst>
                <a:path w="12187555" h="838200">
                  <a:moveTo>
                    <a:pt x="12187236" y="0"/>
                  </a:moveTo>
                  <a:lnTo>
                    <a:pt x="0" y="0"/>
                  </a:lnTo>
                  <a:lnTo>
                    <a:pt x="0" y="838200"/>
                  </a:lnTo>
                  <a:lnTo>
                    <a:pt x="12187236" y="838200"/>
                  </a:lnTo>
                </a:path>
              </a:pathLst>
            </a:custGeom>
            <a:ln w="25400">
              <a:solidFill>
                <a:srgbClr val="622422"/>
              </a:solidFill>
            </a:ln>
          </p:spPr>
          <p:txBody>
            <a:bodyPr wrap="square" lIns="0" tIns="0" rIns="0" bIns="0" rtlCol="0"/>
            <a:lstStyle/>
            <a:p>
              <a:endParaRPr/>
            </a:p>
          </p:txBody>
        </p:sp>
      </p:grpSp>
      <p:sp>
        <p:nvSpPr>
          <p:cNvPr id="6" name="object 6"/>
          <p:cNvSpPr txBox="1">
            <a:spLocks noGrp="1"/>
          </p:cNvSpPr>
          <p:nvPr>
            <p:ph type="title"/>
          </p:nvPr>
        </p:nvSpPr>
        <p:spPr>
          <a:xfrm>
            <a:off x="3990975" y="2971984"/>
            <a:ext cx="4210050" cy="847668"/>
          </a:xfrm>
          <a:prstGeom prst="rect">
            <a:avLst/>
          </a:prstGeom>
        </p:spPr>
        <p:txBody>
          <a:bodyPr vert="horz" wrap="square" lIns="0" tIns="16510" rIns="0" bIns="0" rtlCol="0">
            <a:spAutoFit/>
          </a:bodyPr>
          <a:lstStyle/>
          <a:p>
            <a:pPr marL="12700">
              <a:lnSpc>
                <a:spcPct val="100000"/>
              </a:lnSpc>
              <a:spcBef>
                <a:spcPts val="130"/>
              </a:spcBef>
            </a:pPr>
            <a:r>
              <a:rPr sz="5400" b="0" spc="250" dirty="0">
                <a:solidFill>
                  <a:srgbClr val="C99648"/>
                </a:solidFill>
                <a:latin typeface="Times New Roman" panose="02020603050405020304" pitchFamily="18" charset="0"/>
                <a:cs typeface="Times New Roman" panose="02020603050405020304" pitchFamily="18" charset="0"/>
              </a:rPr>
              <a:t>Thank</a:t>
            </a:r>
            <a:r>
              <a:rPr sz="5400" b="0" spc="125" dirty="0">
                <a:solidFill>
                  <a:srgbClr val="C99648"/>
                </a:solidFill>
                <a:latin typeface="Times New Roman" panose="02020603050405020304" pitchFamily="18" charset="0"/>
                <a:cs typeface="Times New Roman" panose="02020603050405020304" pitchFamily="18" charset="0"/>
              </a:rPr>
              <a:t> </a:t>
            </a:r>
            <a:r>
              <a:rPr sz="5400" b="0" spc="275" dirty="0">
                <a:solidFill>
                  <a:srgbClr val="C99648"/>
                </a:solidFill>
                <a:latin typeface="Times New Roman" panose="02020603050405020304" pitchFamily="18" charset="0"/>
                <a:cs typeface="Times New Roman" panose="02020603050405020304" pitchFamily="18" charset="0"/>
              </a:rPr>
              <a:t>you</a:t>
            </a:r>
            <a:r>
              <a:rPr sz="5400" b="0" spc="110" dirty="0">
                <a:solidFill>
                  <a:srgbClr val="C99648"/>
                </a:solidFill>
                <a:latin typeface="Times New Roman" panose="02020603050405020304" pitchFamily="18" charset="0"/>
                <a:cs typeface="Times New Roman" panose="02020603050405020304" pitchFamily="18" charset="0"/>
              </a:rPr>
              <a:t> </a:t>
            </a:r>
            <a:r>
              <a:rPr sz="5400" b="0" spc="220" dirty="0">
                <a:solidFill>
                  <a:srgbClr val="C99648"/>
                </a:solidFill>
                <a:latin typeface="Times New Roman" panose="02020603050405020304" pitchFamily="18" charset="0"/>
                <a:cs typeface="Times New Roman" panose="02020603050405020304" pitchFamily="18" charset="0"/>
              </a:rPr>
              <a:t>all</a:t>
            </a:r>
            <a:endParaRPr sz="5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7936" y="-12700"/>
            <a:ext cx="12212955" cy="6870700"/>
            <a:chOff x="-7936" y="-12700"/>
            <a:chExt cx="12212955" cy="6870700"/>
          </a:xfrm>
        </p:grpSpPr>
        <p:sp>
          <p:nvSpPr>
            <p:cNvPr id="8" name="object 8"/>
            <p:cNvSpPr/>
            <p:nvPr/>
          </p:nvSpPr>
          <p:spPr>
            <a:xfrm>
              <a:off x="4763" y="0"/>
              <a:ext cx="628650" cy="6858000"/>
            </a:xfrm>
            <a:custGeom>
              <a:avLst/>
              <a:gdLst/>
              <a:ahLst/>
              <a:cxnLst/>
              <a:rect l="l" t="t" r="r" b="b"/>
              <a:pathLst>
                <a:path w="628650" h="6858000">
                  <a:moveTo>
                    <a:pt x="0" y="6857997"/>
                  </a:moveTo>
                  <a:lnTo>
                    <a:pt x="628650" y="6857997"/>
                  </a:lnTo>
                  <a:lnTo>
                    <a:pt x="628650" y="0"/>
                  </a:lnTo>
                  <a:lnTo>
                    <a:pt x="0" y="0"/>
                  </a:lnTo>
                  <a:lnTo>
                    <a:pt x="0" y="6857997"/>
                  </a:lnTo>
                  <a:close/>
                </a:path>
              </a:pathLst>
            </a:custGeom>
            <a:solidFill>
              <a:srgbClr val="622422"/>
            </a:solidFill>
          </p:spPr>
          <p:txBody>
            <a:bodyPr wrap="square" lIns="0" tIns="0" rIns="0" bIns="0" rtlCol="0"/>
            <a:lstStyle/>
            <a:p>
              <a:endParaRPr/>
            </a:p>
          </p:txBody>
        </p:sp>
        <p:sp>
          <p:nvSpPr>
            <p:cNvPr id="9" name="object 9"/>
            <p:cNvSpPr/>
            <p:nvPr/>
          </p:nvSpPr>
          <p:spPr>
            <a:xfrm>
              <a:off x="4763" y="0"/>
              <a:ext cx="628650" cy="6858000"/>
            </a:xfrm>
            <a:custGeom>
              <a:avLst/>
              <a:gdLst/>
              <a:ahLst/>
              <a:cxnLst/>
              <a:rect l="l" t="t" r="r" b="b"/>
              <a:pathLst>
                <a:path w="628650" h="6858000">
                  <a:moveTo>
                    <a:pt x="628650" y="6857997"/>
                  </a:moveTo>
                  <a:lnTo>
                    <a:pt x="628650" y="0"/>
                  </a:lnTo>
                </a:path>
                <a:path w="628650" h="6858000">
                  <a:moveTo>
                    <a:pt x="0" y="0"/>
                  </a:moveTo>
                  <a:lnTo>
                    <a:pt x="0" y="6857997"/>
                  </a:lnTo>
                </a:path>
              </a:pathLst>
            </a:custGeom>
            <a:ln w="25400">
              <a:solidFill>
                <a:srgbClr val="622422"/>
              </a:solidFill>
            </a:ln>
          </p:spPr>
          <p:txBody>
            <a:bodyPr wrap="square" lIns="0" tIns="0" rIns="0" bIns="0" rtlCol="0"/>
            <a:lstStyle/>
            <a:p>
              <a:endParaRPr/>
            </a:p>
          </p:txBody>
        </p:sp>
        <p:sp>
          <p:nvSpPr>
            <p:cNvPr id="10" name="object 10"/>
            <p:cNvSpPr/>
            <p:nvPr/>
          </p:nvSpPr>
          <p:spPr>
            <a:xfrm>
              <a:off x="9839261" y="0"/>
              <a:ext cx="2353310" cy="2371725"/>
            </a:xfrm>
            <a:custGeom>
              <a:avLst/>
              <a:gdLst/>
              <a:ahLst/>
              <a:cxnLst/>
              <a:rect l="l" t="t" r="r" b="b"/>
              <a:pathLst>
                <a:path w="2353309" h="2371725">
                  <a:moveTo>
                    <a:pt x="2352738" y="0"/>
                  </a:moveTo>
                  <a:lnTo>
                    <a:pt x="0" y="0"/>
                  </a:lnTo>
                  <a:lnTo>
                    <a:pt x="2352738" y="2371686"/>
                  </a:lnTo>
                  <a:lnTo>
                    <a:pt x="2352738" y="0"/>
                  </a:lnTo>
                  <a:close/>
                </a:path>
              </a:pathLst>
            </a:custGeom>
            <a:solidFill>
              <a:srgbClr val="5B1F1F"/>
            </a:solidFill>
          </p:spPr>
          <p:txBody>
            <a:bodyPr wrap="square" lIns="0" tIns="0" rIns="0" bIns="0" rtlCol="0"/>
            <a:lstStyle/>
            <a:p>
              <a:endParaRPr/>
            </a:p>
          </p:txBody>
        </p:sp>
        <p:sp>
          <p:nvSpPr>
            <p:cNvPr id="11" name="object 11"/>
            <p:cNvSpPr/>
            <p:nvPr/>
          </p:nvSpPr>
          <p:spPr>
            <a:xfrm>
              <a:off x="9839261" y="0"/>
              <a:ext cx="2353310" cy="2371725"/>
            </a:xfrm>
            <a:custGeom>
              <a:avLst/>
              <a:gdLst/>
              <a:ahLst/>
              <a:cxnLst/>
              <a:rect l="l" t="t" r="r" b="b"/>
              <a:pathLst>
                <a:path w="2353309" h="2371725">
                  <a:moveTo>
                    <a:pt x="2352738" y="2371686"/>
                  </a:moveTo>
                  <a:lnTo>
                    <a:pt x="0" y="0"/>
                  </a:lnTo>
                </a:path>
              </a:pathLst>
            </a:custGeom>
            <a:ln w="25400">
              <a:solidFill>
                <a:srgbClr val="1C334E"/>
              </a:solidFill>
            </a:ln>
          </p:spPr>
          <p:txBody>
            <a:bodyPr wrap="square" lIns="0" tIns="0" rIns="0" bIns="0" rtlCol="0"/>
            <a:lstStyle/>
            <a:p>
              <a:endParaRPr/>
            </a:p>
          </p:txBody>
        </p:sp>
        <p:pic>
          <p:nvPicPr>
            <p:cNvPr id="12" name="object 12"/>
            <p:cNvPicPr/>
            <p:nvPr/>
          </p:nvPicPr>
          <p:blipFill>
            <a:blip r:embed="rId2" cstate="print"/>
            <a:stretch>
              <a:fillRect/>
            </a:stretch>
          </p:blipFill>
          <p:spPr>
            <a:xfrm>
              <a:off x="11048999" y="28575"/>
              <a:ext cx="1143000" cy="1190625"/>
            </a:xfrm>
            <a:prstGeom prst="rect">
              <a:avLst/>
            </a:prstGeom>
          </p:spPr>
        </p:pic>
      </p:gr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546100">
              <a:lnSpc>
                <a:spcPts val="2115"/>
              </a:lnSpc>
            </a:pPr>
            <a:r>
              <a:rPr dirty="0"/>
              <a:t>Faculty</a:t>
            </a:r>
            <a:r>
              <a:rPr spc="15" dirty="0"/>
              <a:t> </a:t>
            </a:r>
            <a:r>
              <a:rPr dirty="0"/>
              <a:t>of</a:t>
            </a:r>
            <a:r>
              <a:rPr spc="245" dirty="0"/>
              <a:t> </a:t>
            </a:r>
            <a:r>
              <a:rPr spc="-10" dirty="0"/>
              <a:t>Engineering</a:t>
            </a:r>
            <a:r>
              <a:rPr spc="30" dirty="0"/>
              <a:t> </a:t>
            </a:r>
            <a:r>
              <a:rPr dirty="0"/>
              <a:t>and</a:t>
            </a:r>
            <a:r>
              <a:rPr spc="-35" dirty="0"/>
              <a:t> </a:t>
            </a:r>
            <a:r>
              <a:rPr spc="-10" dirty="0"/>
              <a:t>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327</TotalTime>
  <Words>737</Words>
  <Application>Microsoft Office PowerPoint</Application>
  <PresentationFormat>Widescreen</PresentationFormat>
  <Paragraphs>84</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Microsoft JhengHei</vt:lpstr>
      <vt:lpstr>Arial</vt:lpstr>
      <vt:lpstr>Calibri</vt:lpstr>
      <vt:lpstr>Cambria</vt:lpstr>
      <vt:lpstr>Symbol</vt:lpstr>
      <vt:lpstr>Times New Roman</vt:lpstr>
      <vt:lpstr>Verdana</vt:lpstr>
      <vt:lpstr>Office Theme</vt:lpstr>
      <vt:lpstr>GM UNIVERSITY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 UNIVERSITY</dc:title>
  <dc:creator>keerthana r</dc:creator>
  <cp:lastModifiedBy>Imran Hashmi</cp:lastModifiedBy>
  <cp:revision>14</cp:revision>
  <dcterms:created xsi:type="dcterms:W3CDTF">2025-04-12T03:51:56Z</dcterms:created>
  <dcterms:modified xsi:type="dcterms:W3CDTF">2025-11-04T17:03:40Z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2025-03-24T00:00:00Z</vt:filetime>
  </property>
  <property fmtid="{D5CDD505-2E9C-101B-9397-08002B2CF9AE}" pid="3" name="LastSaved">
    <vt:filetime>2025-04-12T00:00:00Z</vt:filetime>
  </property>
</Properties>
</file>