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324" r:id="rId3"/>
    <p:sldId id="325" r:id="rId4"/>
    <p:sldId id="326" r:id="rId5"/>
    <p:sldId id="327" r:id="rId6"/>
    <p:sldId id="328" r:id="rId7"/>
    <p:sldId id="329" r:id="rId8"/>
    <p:sldId id="330" r:id="rId9"/>
    <p:sldId id="268" r:id="rId10"/>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877" autoAdjust="0"/>
  </p:normalViewPr>
  <p:slideViewPr>
    <p:cSldViewPr>
      <p:cViewPr>
        <p:scale>
          <a:sx n="91" d="100"/>
          <a:sy n="91" d="100"/>
        </p:scale>
        <p:origin x="341"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2570AB55-2BE1-4CAF-B32C-1479D387789B}" type="datetimeFigureOut">
              <a:rPr lang="en-US" smtClean="0"/>
              <a:t>11/4/2025</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17BBC07F-B4E1-4AAA-8DDF-9730D5C3076B}" type="slidenum">
              <a:rPr lang="en-US" smtClean="0"/>
              <a:t>‹#›</a:t>
            </a:fld>
            <a:endParaRPr lang="en-US"/>
          </a:p>
        </p:txBody>
      </p:sp>
    </p:spTree>
    <p:extLst>
      <p:ext uri="{BB962C8B-B14F-4D97-AF65-F5344CB8AC3E}">
        <p14:creationId xmlns:p14="http://schemas.microsoft.com/office/powerpoint/2010/main" val="27579054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BBC07F-B4E1-4AAA-8DDF-9730D5C3076B}" type="slidenum">
              <a:rPr lang="en-US" smtClean="0"/>
              <a:t>6</a:t>
            </a:fld>
            <a:endParaRPr lang="en-US"/>
          </a:p>
        </p:txBody>
      </p:sp>
    </p:spTree>
    <p:extLst>
      <p:ext uri="{BB962C8B-B14F-4D97-AF65-F5344CB8AC3E}">
        <p14:creationId xmlns:p14="http://schemas.microsoft.com/office/powerpoint/2010/main" val="35139695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200" b="1" i="0">
                <a:solidFill>
                  <a:srgbClr val="C00000"/>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800" b="0" i="0">
                <a:solidFill>
                  <a:srgbClr val="C99648"/>
                </a:solidFill>
                <a:latin typeface="Cambria"/>
                <a:cs typeface="Cambria"/>
              </a:defRPr>
            </a:lvl1pPr>
          </a:lstStyle>
          <a:p>
            <a:pPr marL="841375">
              <a:lnSpc>
                <a:spcPts val="2115"/>
              </a:lnSpc>
            </a:pPr>
            <a:r>
              <a:rPr dirty="0"/>
              <a:t>Faculty</a:t>
            </a:r>
            <a:r>
              <a:rPr spc="10" dirty="0"/>
              <a:t> </a:t>
            </a:r>
            <a:r>
              <a:rPr dirty="0"/>
              <a:t>of</a:t>
            </a:r>
            <a:r>
              <a:rPr spc="250" dirty="0"/>
              <a:t> </a:t>
            </a:r>
            <a:r>
              <a:rPr spc="-10" dirty="0"/>
              <a:t>Engineering</a:t>
            </a:r>
            <a:r>
              <a:rPr spc="25" dirty="0"/>
              <a:t> </a:t>
            </a:r>
            <a:r>
              <a:rPr dirty="0"/>
              <a:t>and</a:t>
            </a:r>
            <a:r>
              <a:rPr spc="-35" dirty="0"/>
              <a:t> </a:t>
            </a:r>
            <a:r>
              <a:rPr spc="-10" dirty="0"/>
              <a:t>Technology</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11/4/2025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C00000"/>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800" b="0" i="0">
                <a:solidFill>
                  <a:srgbClr val="C99648"/>
                </a:solidFill>
                <a:latin typeface="Cambria"/>
                <a:cs typeface="Cambria"/>
              </a:defRPr>
            </a:lvl1pPr>
          </a:lstStyle>
          <a:p>
            <a:pPr marL="841375">
              <a:lnSpc>
                <a:spcPts val="2115"/>
              </a:lnSpc>
            </a:pPr>
            <a:r>
              <a:rPr dirty="0"/>
              <a:t>Faculty</a:t>
            </a:r>
            <a:r>
              <a:rPr spc="10" dirty="0"/>
              <a:t> </a:t>
            </a:r>
            <a:r>
              <a:rPr dirty="0"/>
              <a:t>of</a:t>
            </a:r>
            <a:r>
              <a:rPr spc="250" dirty="0"/>
              <a:t> </a:t>
            </a:r>
            <a:r>
              <a:rPr spc="-10" dirty="0"/>
              <a:t>Engineering</a:t>
            </a:r>
            <a:r>
              <a:rPr spc="25" dirty="0"/>
              <a:t> </a:t>
            </a:r>
            <a:r>
              <a:rPr dirty="0"/>
              <a:t>and</a:t>
            </a:r>
            <a:r>
              <a:rPr spc="-35" dirty="0"/>
              <a:t> </a:t>
            </a:r>
            <a:r>
              <a:rPr spc="-10" dirty="0"/>
              <a:t>Technology</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11/4/2025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C00000"/>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800" b="0" i="0">
                <a:solidFill>
                  <a:srgbClr val="C99648"/>
                </a:solidFill>
                <a:latin typeface="Cambria"/>
                <a:cs typeface="Cambria"/>
              </a:defRPr>
            </a:lvl1pPr>
          </a:lstStyle>
          <a:p>
            <a:pPr marL="841375">
              <a:lnSpc>
                <a:spcPts val="2115"/>
              </a:lnSpc>
            </a:pPr>
            <a:r>
              <a:rPr dirty="0"/>
              <a:t>Faculty</a:t>
            </a:r>
            <a:r>
              <a:rPr spc="10" dirty="0"/>
              <a:t> </a:t>
            </a:r>
            <a:r>
              <a:rPr dirty="0"/>
              <a:t>of</a:t>
            </a:r>
            <a:r>
              <a:rPr spc="250" dirty="0"/>
              <a:t> </a:t>
            </a:r>
            <a:r>
              <a:rPr spc="-10" dirty="0"/>
              <a:t>Engineering</a:t>
            </a:r>
            <a:r>
              <a:rPr spc="25" dirty="0"/>
              <a:t> </a:t>
            </a:r>
            <a:r>
              <a:rPr dirty="0"/>
              <a:t>and</a:t>
            </a:r>
            <a:r>
              <a:rPr spc="-35" dirty="0"/>
              <a:t> </a:t>
            </a:r>
            <a:r>
              <a:rPr spc="-10" dirty="0"/>
              <a:t>Technology</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11/4/2025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C00000"/>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800" b="0" i="0">
                <a:solidFill>
                  <a:srgbClr val="C99648"/>
                </a:solidFill>
                <a:latin typeface="Cambria"/>
                <a:cs typeface="Cambria"/>
              </a:defRPr>
            </a:lvl1pPr>
          </a:lstStyle>
          <a:p>
            <a:pPr marL="841375">
              <a:lnSpc>
                <a:spcPts val="2115"/>
              </a:lnSpc>
            </a:pPr>
            <a:r>
              <a:rPr dirty="0"/>
              <a:t>Faculty</a:t>
            </a:r>
            <a:r>
              <a:rPr spc="10" dirty="0"/>
              <a:t> </a:t>
            </a:r>
            <a:r>
              <a:rPr dirty="0"/>
              <a:t>of</a:t>
            </a:r>
            <a:r>
              <a:rPr spc="250" dirty="0"/>
              <a:t> </a:t>
            </a:r>
            <a:r>
              <a:rPr spc="-10" dirty="0"/>
              <a:t>Engineering</a:t>
            </a:r>
            <a:r>
              <a:rPr spc="25" dirty="0"/>
              <a:t> </a:t>
            </a:r>
            <a:r>
              <a:rPr dirty="0"/>
              <a:t>and</a:t>
            </a:r>
            <a:r>
              <a:rPr spc="-35" dirty="0"/>
              <a:t> </a:t>
            </a:r>
            <a:r>
              <a:rPr spc="-10" dirty="0"/>
              <a:t>Technology</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11/4/2025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EDEBE0"/>
          </a:solidFill>
        </p:spPr>
        <p:txBody>
          <a:bodyPr wrap="square" lIns="0" tIns="0" rIns="0" bIns="0" rtlCol="0"/>
          <a:lstStyle/>
          <a:p>
            <a:endParaRPr/>
          </a:p>
        </p:txBody>
      </p:sp>
      <p:sp>
        <p:nvSpPr>
          <p:cNvPr id="17" name="bg object 17"/>
          <p:cNvSpPr/>
          <p:nvPr/>
        </p:nvSpPr>
        <p:spPr>
          <a:xfrm>
            <a:off x="238353" y="159060"/>
            <a:ext cx="11792585" cy="6464935"/>
          </a:xfrm>
          <a:custGeom>
            <a:avLst/>
            <a:gdLst/>
            <a:ahLst/>
            <a:cxnLst/>
            <a:rect l="l" t="t" r="r" b="b"/>
            <a:pathLst>
              <a:path w="11792585" h="6464934">
                <a:moveTo>
                  <a:pt x="11791976" y="0"/>
                </a:moveTo>
                <a:lnTo>
                  <a:pt x="0" y="0"/>
                </a:lnTo>
                <a:lnTo>
                  <a:pt x="0" y="6464518"/>
                </a:lnTo>
                <a:lnTo>
                  <a:pt x="11791977" y="6464518"/>
                </a:lnTo>
                <a:lnTo>
                  <a:pt x="11791977" y="6445655"/>
                </a:lnTo>
                <a:lnTo>
                  <a:pt x="38466" y="6445655"/>
                </a:lnTo>
                <a:lnTo>
                  <a:pt x="19232" y="6426793"/>
                </a:lnTo>
                <a:lnTo>
                  <a:pt x="38466" y="6426793"/>
                </a:lnTo>
                <a:lnTo>
                  <a:pt x="38466" y="37730"/>
                </a:lnTo>
                <a:lnTo>
                  <a:pt x="19232" y="37730"/>
                </a:lnTo>
                <a:lnTo>
                  <a:pt x="38466" y="18949"/>
                </a:lnTo>
                <a:lnTo>
                  <a:pt x="11791976" y="18949"/>
                </a:lnTo>
                <a:lnTo>
                  <a:pt x="11791976" y="0"/>
                </a:lnTo>
                <a:close/>
              </a:path>
              <a:path w="11792585" h="6464934">
                <a:moveTo>
                  <a:pt x="38466" y="6426793"/>
                </a:moveTo>
                <a:lnTo>
                  <a:pt x="19232" y="6426793"/>
                </a:lnTo>
                <a:lnTo>
                  <a:pt x="38466" y="6445655"/>
                </a:lnTo>
                <a:lnTo>
                  <a:pt x="38466" y="6426793"/>
                </a:lnTo>
                <a:close/>
              </a:path>
              <a:path w="11792585" h="6464934">
                <a:moveTo>
                  <a:pt x="11753505" y="6426793"/>
                </a:moveTo>
                <a:lnTo>
                  <a:pt x="38466" y="6426793"/>
                </a:lnTo>
                <a:lnTo>
                  <a:pt x="38466" y="6445655"/>
                </a:lnTo>
                <a:lnTo>
                  <a:pt x="11753505" y="6445655"/>
                </a:lnTo>
                <a:lnTo>
                  <a:pt x="11753505" y="6426793"/>
                </a:lnTo>
                <a:close/>
              </a:path>
              <a:path w="11792585" h="6464934">
                <a:moveTo>
                  <a:pt x="11753505" y="18949"/>
                </a:moveTo>
                <a:lnTo>
                  <a:pt x="11753505" y="6445655"/>
                </a:lnTo>
                <a:lnTo>
                  <a:pt x="11772826" y="6426793"/>
                </a:lnTo>
                <a:lnTo>
                  <a:pt x="11791977" y="6426793"/>
                </a:lnTo>
                <a:lnTo>
                  <a:pt x="11791976" y="37730"/>
                </a:lnTo>
                <a:lnTo>
                  <a:pt x="11772826" y="37730"/>
                </a:lnTo>
                <a:lnTo>
                  <a:pt x="11753505" y="18949"/>
                </a:lnTo>
                <a:close/>
              </a:path>
              <a:path w="11792585" h="6464934">
                <a:moveTo>
                  <a:pt x="11791977" y="6426793"/>
                </a:moveTo>
                <a:lnTo>
                  <a:pt x="11772826" y="6426793"/>
                </a:lnTo>
                <a:lnTo>
                  <a:pt x="11753505" y="6445655"/>
                </a:lnTo>
                <a:lnTo>
                  <a:pt x="11791977" y="6445655"/>
                </a:lnTo>
                <a:lnTo>
                  <a:pt x="11791977" y="6426793"/>
                </a:lnTo>
                <a:close/>
              </a:path>
              <a:path w="11792585" h="6464934">
                <a:moveTo>
                  <a:pt x="38466" y="18949"/>
                </a:moveTo>
                <a:lnTo>
                  <a:pt x="19232" y="37730"/>
                </a:lnTo>
                <a:lnTo>
                  <a:pt x="38466" y="37730"/>
                </a:lnTo>
                <a:lnTo>
                  <a:pt x="38466" y="18949"/>
                </a:lnTo>
                <a:close/>
              </a:path>
              <a:path w="11792585" h="6464934">
                <a:moveTo>
                  <a:pt x="11753505" y="18949"/>
                </a:moveTo>
                <a:lnTo>
                  <a:pt x="38466" y="18949"/>
                </a:lnTo>
                <a:lnTo>
                  <a:pt x="38466" y="37730"/>
                </a:lnTo>
                <a:lnTo>
                  <a:pt x="11753505" y="37730"/>
                </a:lnTo>
                <a:lnTo>
                  <a:pt x="11753505" y="18949"/>
                </a:lnTo>
                <a:close/>
              </a:path>
              <a:path w="11792585" h="6464934">
                <a:moveTo>
                  <a:pt x="11791976" y="18949"/>
                </a:moveTo>
                <a:lnTo>
                  <a:pt x="11753505" y="18949"/>
                </a:lnTo>
                <a:lnTo>
                  <a:pt x="11772826" y="37730"/>
                </a:lnTo>
                <a:lnTo>
                  <a:pt x="11791976" y="37730"/>
                </a:lnTo>
                <a:lnTo>
                  <a:pt x="11791976" y="18949"/>
                </a:lnTo>
                <a:close/>
              </a:path>
            </a:pathLst>
          </a:custGeom>
          <a:solidFill>
            <a:srgbClr val="C00000"/>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defRPr sz="1800" b="0" i="0">
                <a:solidFill>
                  <a:srgbClr val="C99648"/>
                </a:solidFill>
                <a:latin typeface="Cambria"/>
                <a:cs typeface="Cambria"/>
              </a:defRPr>
            </a:lvl1pPr>
          </a:lstStyle>
          <a:p>
            <a:pPr marL="841375">
              <a:lnSpc>
                <a:spcPts val="2115"/>
              </a:lnSpc>
            </a:pPr>
            <a:r>
              <a:rPr dirty="0"/>
              <a:t>Faculty</a:t>
            </a:r>
            <a:r>
              <a:rPr spc="10" dirty="0"/>
              <a:t> </a:t>
            </a:r>
            <a:r>
              <a:rPr dirty="0"/>
              <a:t>of</a:t>
            </a:r>
            <a:r>
              <a:rPr spc="250" dirty="0"/>
              <a:t> </a:t>
            </a:r>
            <a:r>
              <a:rPr spc="-10" dirty="0"/>
              <a:t>Engineering</a:t>
            </a:r>
            <a:r>
              <a:rPr spc="25" dirty="0"/>
              <a:t> </a:t>
            </a:r>
            <a:r>
              <a:rPr dirty="0"/>
              <a:t>and</a:t>
            </a:r>
            <a:r>
              <a:rPr spc="-35" dirty="0"/>
              <a:t> </a:t>
            </a:r>
            <a:r>
              <a:rPr spc="-10" dirty="0"/>
              <a:t>Technology</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11/4/2025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EDEBE0"/>
          </a:solidFill>
        </p:spPr>
        <p:txBody>
          <a:bodyPr wrap="square" lIns="0" tIns="0" rIns="0" bIns="0" rtlCol="0"/>
          <a:lstStyle/>
          <a:p>
            <a:endParaRPr/>
          </a:p>
        </p:txBody>
      </p:sp>
      <p:sp>
        <p:nvSpPr>
          <p:cNvPr id="2" name="Holder 2"/>
          <p:cNvSpPr>
            <a:spLocks noGrp="1"/>
          </p:cNvSpPr>
          <p:nvPr>
            <p:ph type="title"/>
          </p:nvPr>
        </p:nvSpPr>
        <p:spPr>
          <a:xfrm>
            <a:off x="436244" y="235330"/>
            <a:ext cx="8965565" cy="747014"/>
          </a:xfrm>
          <a:prstGeom prst="rect">
            <a:avLst/>
          </a:prstGeom>
        </p:spPr>
        <p:txBody>
          <a:bodyPr wrap="square" lIns="0" tIns="0" rIns="0" bIns="0">
            <a:spAutoFit/>
          </a:bodyPr>
          <a:lstStyle>
            <a:lvl1pPr>
              <a:defRPr sz="3200" b="1" i="0">
                <a:solidFill>
                  <a:srgbClr val="C00000"/>
                </a:solidFill>
                <a:latin typeface="Times New Roman"/>
                <a:cs typeface="Times New Roman"/>
              </a:defRPr>
            </a:lvl1pPr>
          </a:lstStyle>
          <a:p>
            <a:endParaRPr/>
          </a:p>
        </p:txBody>
      </p:sp>
      <p:sp>
        <p:nvSpPr>
          <p:cNvPr id="3" name="Holder 3"/>
          <p:cNvSpPr>
            <a:spLocks noGrp="1"/>
          </p:cNvSpPr>
          <p:nvPr>
            <p:ph type="body" idx="1"/>
          </p:nvPr>
        </p:nvSpPr>
        <p:spPr>
          <a:xfrm>
            <a:off x="563321" y="1212850"/>
            <a:ext cx="9641205" cy="408368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044315" y="6512511"/>
            <a:ext cx="4651375" cy="416927"/>
          </a:xfrm>
          <a:prstGeom prst="rect">
            <a:avLst/>
          </a:prstGeom>
        </p:spPr>
        <p:txBody>
          <a:bodyPr wrap="square" lIns="0" tIns="0" rIns="0" bIns="0">
            <a:spAutoFit/>
          </a:bodyPr>
          <a:lstStyle>
            <a:lvl1pPr>
              <a:defRPr sz="1800" b="0" i="0">
                <a:solidFill>
                  <a:srgbClr val="C99648"/>
                </a:solidFill>
                <a:latin typeface="Cambria"/>
                <a:cs typeface="Cambria"/>
              </a:defRPr>
            </a:lvl1pPr>
          </a:lstStyle>
          <a:p>
            <a:pPr marL="841375">
              <a:lnSpc>
                <a:spcPts val="2115"/>
              </a:lnSpc>
            </a:pPr>
            <a:r>
              <a:rPr dirty="0"/>
              <a:t>Faculty</a:t>
            </a:r>
            <a:r>
              <a:rPr spc="10" dirty="0"/>
              <a:t> </a:t>
            </a:r>
            <a:r>
              <a:rPr dirty="0"/>
              <a:t>of</a:t>
            </a:r>
            <a:r>
              <a:rPr spc="250" dirty="0"/>
              <a:t> </a:t>
            </a:r>
            <a:r>
              <a:rPr spc="-10" dirty="0"/>
              <a:t>Engineering</a:t>
            </a:r>
            <a:r>
              <a:rPr spc="25" dirty="0"/>
              <a:t> </a:t>
            </a:r>
            <a:r>
              <a:rPr dirty="0"/>
              <a:t>and</a:t>
            </a:r>
            <a:r>
              <a:rPr spc="-35" dirty="0"/>
              <a:t> </a:t>
            </a:r>
            <a:r>
              <a:rPr spc="-10" dirty="0"/>
              <a:t>Technology</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11/4/2025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1142998"/>
            <a:ext cx="12197081" cy="5715001"/>
          </a:xfrm>
          <a:custGeom>
            <a:avLst/>
            <a:gdLst/>
            <a:ahLst/>
            <a:cxnLst/>
            <a:rect l="l" t="t" r="r" b="b"/>
            <a:pathLst>
              <a:path w="12192000" h="5739130">
                <a:moveTo>
                  <a:pt x="0" y="5738748"/>
                </a:moveTo>
                <a:lnTo>
                  <a:pt x="12192000" y="5738748"/>
                </a:lnTo>
                <a:lnTo>
                  <a:pt x="12192000" y="0"/>
                </a:lnTo>
                <a:lnTo>
                  <a:pt x="0" y="0"/>
                </a:lnTo>
                <a:lnTo>
                  <a:pt x="0" y="5738748"/>
                </a:lnTo>
                <a:close/>
              </a:path>
            </a:pathLst>
          </a:custGeom>
          <a:solidFill>
            <a:srgbClr val="EDEBE0"/>
          </a:solidFill>
        </p:spPr>
        <p:txBody>
          <a:bodyPr wrap="square" lIns="0" tIns="0" rIns="0" bIns="0" rtlCol="0"/>
          <a:lstStyle/>
          <a:p>
            <a:r>
              <a:rPr lang="en-IN" dirty="0"/>
              <a:t> </a:t>
            </a:r>
            <a:endParaRPr dirty="0"/>
          </a:p>
        </p:txBody>
      </p:sp>
      <p:sp>
        <p:nvSpPr>
          <p:cNvPr id="3" name="object 3"/>
          <p:cNvSpPr/>
          <p:nvPr/>
        </p:nvSpPr>
        <p:spPr>
          <a:xfrm>
            <a:off x="0" y="0"/>
            <a:ext cx="12192000" cy="5080"/>
          </a:xfrm>
          <a:custGeom>
            <a:avLst/>
            <a:gdLst/>
            <a:ahLst/>
            <a:cxnLst/>
            <a:rect l="l" t="t" r="r" b="b"/>
            <a:pathLst>
              <a:path w="12192000" h="5080">
                <a:moveTo>
                  <a:pt x="0" y="4826"/>
                </a:moveTo>
                <a:lnTo>
                  <a:pt x="12192000" y="4826"/>
                </a:lnTo>
                <a:lnTo>
                  <a:pt x="12192000" y="0"/>
                </a:lnTo>
                <a:lnTo>
                  <a:pt x="0" y="0"/>
                </a:lnTo>
                <a:lnTo>
                  <a:pt x="0" y="4826"/>
                </a:lnTo>
                <a:close/>
              </a:path>
            </a:pathLst>
          </a:custGeom>
          <a:solidFill>
            <a:srgbClr val="EDEBE0"/>
          </a:solidFill>
        </p:spPr>
        <p:txBody>
          <a:bodyPr wrap="square" lIns="0" tIns="0" rIns="0" bIns="0" rtlCol="0"/>
          <a:lstStyle/>
          <a:p>
            <a:endParaRPr/>
          </a:p>
        </p:txBody>
      </p:sp>
      <p:sp>
        <p:nvSpPr>
          <p:cNvPr id="4" name="object 4"/>
          <p:cNvSpPr txBox="1"/>
          <p:nvPr/>
        </p:nvSpPr>
        <p:spPr>
          <a:xfrm>
            <a:off x="491172" y="5558234"/>
            <a:ext cx="2450465" cy="1017269"/>
          </a:xfrm>
          <a:prstGeom prst="rect">
            <a:avLst/>
          </a:prstGeom>
        </p:spPr>
        <p:txBody>
          <a:bodyPr vert="horz" wrap="square" lIns="0" tIns="6350" rIns="0" bIns="0" rtlCol="0">
            <a:spAutoFit/>
          </a:bodyPr>
          <a:lstStyle/>
          <a:p>
            <a:pPr algn="r">
              <a:lnSpc>
                <a:spcPct val="100000"/>
              </a:lnSpc>
              <a:spcBef>
                <a:spcPts val="50"/>
              </a:spcBef>
            </a:pPr>
            <a:r>
              <a:rPr sz="950" spc="-80" dirty="0">
                <a:latin typeface="Verdana"/>
                <a:cs typeface="Verdana"/>
              </a:rPr>
              <a:t>B.E,</a:t>
            </a:r>
            <a:r>
              <a:rPr sz="950" spc="-120" dirty="0">
                <a:latin typeface="Verdana"/>
                <a:cs typeface="Verdana"/>
              </a:rPr>
              <a:t> </a:t>
            </a:r>
            <a:r>
              <a:rPr sz="950" spc="-10" dirty="0">
                <a:latin typeface="Verdana"/>
                <a:cs typeface="Verdana"/>
              </a:rPr>
              <a:t>M.Tech</a:t>
            </a:r>
            <a:endParaRPr sz="950">
              <a:latin typeface="Verdana"/>
              <a:cs typeface="Verdana"/>
            </a:endParaRPr>
          </a:p>
          <a:p>
            <a:pPr>
              <a:lnSpc>
                <a:spcPct val="100000"/>
              </a:lnSpc>
            </a:pPr>
            <a:endParaRPr sz="950">
              <a:latin typeface="Verdana"/>
              <a:cs typeface="Verdana"/>
            </a:endParaRPr>
          </a:p>
          <a:p>
            <a:pPr>
              <a:lnSpc>
                <a:spcPct val="100000"/>
              </a:lnSpc>
            </a:pPr>
            <a:endParaRPr sz="950">
              <a:latin typeface="Verdana"/>
              <a:cs typeface="Verdana"/>
            </a:endParaRPr>
          </a:p>
          <a:p>
            <a:pPr>
              <a:lnSpc>
                <a:spcPct val="100000"/>
              </a:lnSpc>
            </a:pPr>
            <a:endParaRPr sz="950">
              <a:latin typeface="Verdana"/>
              <a:cs typeface="Verdana"/>
            </a:endParaRPr>
          </a:p>
          <a:p>
            <a:pPr>
              <a:lnSpc>
                <a:spcPct val="100000"/>
              </a:lnSpc>
              <a:spcBef>
                <a:spcPts val="960"/>
              </a:spcBef>
            </a:pPr>
            <a:endParaRPr sz="950">
              <a:latin typeface="Verdana"/>
              <a:cs typeface="Verdana"/>
            </a:endParaRPr>
          </a:p>
          <a:p>
            <a:pPr>
              <a:lnSpc>
                <a:spcPct val="100000"/>
              </a:lnSpc>
            </a:pPr>
            <a:r>
              <a:rPr sz="950" spc="-50" dirty="0">
                <a:latin typeface="Microsoft JhengHei"/>
                <a:cs typeface="Microsoft JhengHei"/>
              </a:rPr>
              <a:t>1</a:t>
            </a:r>
            <a:endParaRPr sz="950">
              <a:latin typeface="Microsoft JhengHei"/>
              <a:cs typeface="Microsoft JhengHei"/>
            </a:endParaRPr>
          </a:p>
        </p:txBody>
      </p:sp>
      <p:grpSp>
        <p:nvGrpSpPr>
          <p:cNvPr id="5" name="object 5"/>
          <p:cNvGrpSpPr/>
          <p:nvPr/>
        </p:nvGrpSpPr>
        <p:grpSpPr>
          <a:xfrm>
            <a:off x="-7936" y="-7874"/>
            <a:ext cx="12212955" cy="6866255"/>
            <a:chOff x="-7936" y="-7874"/>
            <a:chExt cx="12212955" cy="6866255"/>
          </a:xfrm>
        </p:grpSpPr>
        <p:sp>
          <p:nvSpPr>
            <p:cNvPr id="6" name="object 6"/>
            <p:cNvSpPr/>
            <p:nvPr/>
          </p:nvSpPr>
          <p:spPr>
            <a:xfrm>
              <a:off x="4763" y="4825"/>
              <a:ext cx="12187555" cy="1114425"/>
            </a:xfrm>
            <a:custGeom>
              <a:avLst/>
              <a:gdLst/>
              <a:ahLst/>
              <a:cxnLst/>
              <a:rect l="l" t="t" r="r" b="b"/>
              <a:pathLst>
                <a:path w="12187555" h="1114425">
                  <a:moveTo>
                    <a:pt x="12187236" y="0"/>
                  </a:moveTo>
                  <a:lnTo>
                    <a:pt x="0" y="0"/>
                  </a:lnTo>
                  <a:lnTo>
                    <a:pt x="0" y="1114425"/>
                  </a:lnTo>
                  <a:lnTo>
                    <a:pt x="12187236" y="1114425"/>
                  </a:lnTo>
                  <a:lnTo>
                    <a:pt x="12187236" y="0"/>
                  </a:lnTo>
                  <a:close/>
                </a:path>
              </a:pathLst>
            </a:custGeom>
            <a:solidFill>
              <a:srgbClr val="5B1F1F"/>
            </a:solidFill>
          </p:spPr>
          <p:txBody>
            <a:bodyPr wrap="square" lIns="0" tIns="0" rIns="0" bIns="0" rtlCol="0"/>
            <a:lstStyle/>
            <a:p>
              <a:endParaRPr/>
            </a:p>
          </p:txBody>
        </p:sp>
        <p:sp>
          <p:nvSpPr>
            <p:cNvPr id="7" name="object 7"/>
            <p:cNvSpPr/>
            <p:nvPr/>
          </p:nvSpPr>
          <p:spPr>
            <a:xfrm>
              <a:off x="4763" y="4825"/>
              <a:ext cx="12187555" cy="1114425"/>
            </a:xfrm>
            <a:custGeom>
              <a:avLst/>
              <a:gdLst/>
              <a:ahLst/>
              <a:cxnLst/>
              <a:rect l="l" t="t" r="r" b="b"/>
              <a:pathLst>
                <a:path w="12187555" h="1114425">
                  <a:moveTo>
                    <a:pt x="12187236" y="0"/>
                  </a:moveTo>
                  <a:lnTo>
                    <a:pt x="0" y="0"/>
                  </a:lnTo>
                  <a:lnTo>
                    <a:pt x="0" y="1114425"/>
                  </a:lnTo>
                  <a:lnTo>
                    <a:pt x="12187236" y="1114425"/>
                  </a:lnTo>
                </a:path>
              </a:pathLst>
            </a:custGeom>
            <a:ln w="25400">
              <a:solidFill>
                <a:srgbClr val="622422"/>
              </a:solidFill>
            </a:ln>
          </p:spPr>
          <p:txBody>
            <a:bodyPr wrap="square" lIns="0" tIns="0" rIns="0" bIns="0" rtlCol="0"/>
            <a:lstStyle/>
            <a:p>
              <a:endParaRPr/>
            </a:p>
          </p:txBody>
        </p:sp>
        <p:pic>
          <p:nvPicPr>
            <p:cNvPr id="8" name="object 8"/>
            <p:cNvPicPr/>
            <p:nvPr/>
          </p:nvPicPr>
          <p:blipFill>
            <a:blip r:embed="rId2" cstate="print"/>
            <a:stretch>
              <a:fillRect/>
            </a:stretch>
          </p:blipFill>
          <p:spPr>
            <a:xfrm>
              <a:off x="10896599" y="0"/>
              <a:ext cx="1295400" cy="1114425"/>
            </a:xfrm>
            <a:prstGeom prst="rect">
              <a:avLst/>
            </a:prstGeom>
          </p:spPr>
        </p:pic>
        <p:pic>
          <p:nvPicPr>
            <p:cNvPr id="9" name="object 9"/>
            <p:cNvPicPr/>
            <p:nvPr/>
          </p:nvPicPr>
          <p:blipFill>
            <a:blip r:embed="rId3" cstate="print"/>
            <a:stretch>
              <a:fillRect/>
            </a:stretch>
          </p:blipFill>
          <p:spPr>
            <a:xfrm>
              <a:off x="0" y="1142999"/>
              <a:ext cx="4000499" cy="5714998"/>
            </a:xfrm>
            <a:prstGeom prst="rect">
              <a:avLst/>
            </a:prstGeom>
          </p:spPr>
        </p:pic>
      </p:grpSp>
      <p:sp>
        <p:nvSpPr>
          <p:cNvPr id="10" name="object 10"/>
          <p:cNvSpPr txBox="1">
            <a:spLocks noGrp="1"/>
          </p:cNvSpPr>
          <p:nvPr>
            <p:ph type="title"/>
          </p:nvPr>
        </p:nvSpPr>
        <p:spPr>
          <a:xfrm>
            <a:off x="4883150" y="85343"/>
            <a:ext cx="3618865" cy="575310"/>
          </a:xfrm>
          <a:prstGeom prst="rect">
            <a:avLst/>
          </a:prstGeom>
        </p:spPr>
        <p:txBody>
          <a:bodyPr vert="horz" wrap="square" lIns="0" tIns="13335" rIns="0" bIns="0" rtlCol="0">
            <a:spAutoFit/>
          </a:bodyPr>
          <a:lstStyle/>
          <a:p>
            <a:pPr marL="12700">
              <a:lnSpc>
                <a:spcPct val="100000"/>
              </a:lnSpc>
              <a:spcBef>
                <a:spcPts val="105"/>
              </a:spcBef>
            </a:pPr>
            <a:r>
              <a:rPr sz="3600" b="0" dirty="0">
                <a:solidFill>
                  <a:srgbClr val="FFC000"/>
                </a:solidFill>
                <a:latin typeface="Times New Roman"/>
                <a:cs typeface="Times New Roman"/>
              </a:rPr>
              <a:t>GM</a:t>
            </a:r>
            <a:r>
              <a:rPr sz="3600" b="0" spc="-10" dirty="0">
                <a:solidFill>
                  <a:srgbClr val="FFC000"/>
                </a:solidFill>
                <a:latin typeface="Times New Roman"/>
                <a:cs typeface="Times New Roman"/>
              </a:rPr>
              <a:t> UNIVERSITY</a:t>
            </a:r>
            <a:endParaRPr sz="3600">
              <a:latin typeface="Times New Roman"/>
              <a:cs typeface="Times New Roman"/>
            </a:endParaRPr>
          </a:p>
        </p:txBody>
      </p:sp>
      <p:sp>
        <p:nvSpPr>
          <p:cNvPr id="11" name="object 11"/>
          <p:cNvSpPr txBox="1"/>
          <p:nvPr/>
        </p:nvSpPr>
        <p:spPr>
          <a:xfrm>
            <a:off x="4267200" y="421300"/>
            <a:ext cx="6858000" cy="2464136"/>
          </a:xfrm>
          <a:prstGeom prst="rect">
            <a:avLst/>
          </a:prstGeom>
        </p:spPr>
        <p:txBody>
          <a:bodyPr vert="horz" wrap="square" lIns="0" tIns="266065" rIns="0" bIns="0" rtlCol="0">
            <a:spAutoFit/>
          </a:bodyPr>
          <a:lstStyle/>
          <a:p>
            <a:pPr marL="946785">
              <a:lnSpc>
                <a:spcPct val="100000"/>
              </a:lnSpc>
              <a:spcBef>
                <a:spcPts val="2095"/>
              </a:spcBef>
            </a:pPr>
            <a:r>
              <a:rPr sz="2750" spc="-10" dirty="0">
                <a:solidFill>
                  <a:srgbClr val="FFC000"/>
                </a:solidFill>
                <a:latin typeface="Cambria"/>
                <a:cs typeface="Cambria"/>
              </a:rPr>
              <a:t>Davanagere</a:t>
            </a:r>
            <a:endParaRPr lang="en-IN" sz="2750" dirty="0">
              <a:latin typeface="Cambria"/>
              <a:cs typeface="Cambria"/>
            </a:endParaRPr>
          </a:p>
          <a:p>
            <a:pPr marL="1108075" algn="ctr">
              <a:lnSpc>
                <a:spcPct val="100000"/>
              </a:lnSpc>
              <a:spcBef>
                <a:spcPts val="2850"/>
              </a:spcBef>
            </a:pPr>
            <a:r>
              <a:rPr lang="en-IN" sz="3200" b="1" dirty="0">
                <a:latin typeface="Times New Roman"/>
                <a:cs typeface="Times New Roman"/>
              </a:rPr>
              <a:t> PBL</a:t>
            </a:r>
            <a:r>
              <a:rPr lang="en-IN" sz="3200" b="1" spc="-165" dirty="0">
                <a:latin typeface="Times New Roman"/>
                <a:cs typeface="Times New Roman"/>
              </a:rPr>
              <a:t> </a:t>
            </a:r>
            <a:r>
              <a:rPr lang="en-IN" sz="3200" b="1" dirty="0">
                <a:latin typeface="Times New Roman"/>
                <a:cs typeface="Times New Roman"/>
              </a:rPr>
              <a:t>PRESENTATION  ON</a:t>
            </a:r>
            <a:endParaRPr lang="en-IN" sz="3200" dirty="0">
              <a:latin typeface="Times New Roman"/>
              <a:cs typeface="Times New Roman"/>
            </a:endParaRPr>
          </a:p>
          <a:p>
            <a:pPr marL="704850" marR="5080" indent="-692785" algn="ctr">
              <a:lnSpc>
                <a:spcPct val="100000"/>
              </a:lnSpc>
              <a:spcBef>
                <a:spcPts val="65"/>
              </a:spcBef>
            </a:pPr>
            <a:r>
              <a:rPr lang="en-IN" sz="2750" dirty="0">
                <a:solidFill>
                  <a:srgbClr val="FF0000"/>
                </a:solidFill>
                <a:latin typeface="Times New Roman"/>
                <a:cs typeface="Times New Roman"/>
              </a:rPr>
              <a:t>            “HEALTHCARE PATIENT PORTAL”</a:t>
            </a:r>
            <a:endParaRPr lang="en-IN" sz="2750" dirty="0">
              <a:latin typeface="Times New Roman"/>
              <a:cs typeface="Times New Roman"/>
            </a:endParaRPr>
          </a:p>
          <a:p>
            <a:pPr marL="2700655">
              <a:lnSpc>
                <a:spcPct val="100000"/>
              </a:lnSpc>
              <a:spcBef>
                <a:spcPts val="844"/>
              </a:spcBef>
            </a:pPr>
            <a:r>
              <a:rPr sz="2400" b="1" dirty="0">
                <a:solidFill>
                  <a:srgbClr val="00AF50"/>
                </a:solidFill>
                <a:latin typeface="Times New Roman"/>
                <a:cs typeface="Times New Roman"/>
              </a:rPr>
              <a:t>Presented</a:t>
            </a:r>
            <a:r>
              <a:rPr sz="2400" b="1" spc="-95" dirty="0">
                <a:solidFill>
                  <a:srgbClr val="00AF50"/>
                </a:solidFill>
                <a:latin typeface="Times New Roman"/>
                <a:cs typeface="Times New Roman"/>
              </a:rPr>
              <a:t> </a:t>
            </a:r>
            <a:r>
              <a:rPr sz="2400" b="1" spc="-25" dirty="0">
                <a:solidFill>
                  <a:srgbClr val="00AF50"/>
                </a:solidFill>
                <a:latin typeface="Times New Roman"/>
                <a:cs typeface="Times New Roman"/>
              </a:rPr>
              <a:t>by,</a:t>
            </a:r>
            <a:endParaRPr sz="2400" dirty="0">
              <a:latin typeface="Times New Roman"/>
              <a:cs typeface="Times New Roman"/>
            </a:endParaRPr>
          </a:p>
        </p:txBody>
      </p:sp>
      <p:sp>
        <p:nvSpPr>
          <p:cNvPr id="12" name="object 12"/>
          <p:cNvSpPr txBox="1"/>
          <p:nvPr/>
        </p:nvSpPr>
        <p:spPr>
          <a:xfrm>
            <a:off x="5950584" y="3467163"/>
            <a:ext cx="2526030" cy="1575431"/>
          </a:xfrm>
          <a:prstGeom prst="rect">
            <a:avLst/>
          </a:prstGeom>
        </p:spPr>
        <p:txBody>
          <a:bodyPr vert="horz" wrap="square" lIns="0" tIns="120015" rIns="0" bIns="0" rtlCol="0">
            <a:spAutoFit/>
          </a:bodyPr>
          <a:lstStyle/>
          <a:p>
            <a:pPr marL="228600" indent="-215900">
              <a:lnSpc>
                <a:spcPct val="100000"/>
              </a:lnSpc>
              <a:spcBef>
                <a:spcPts val="945"/>
              </a:spcBef>
              <a:buAutoNum type="arabicPeriod"/>
              <a:tabLst>
                <a:tab pos="228600" algn="l"/>
              </a:tabLst>
            </a:pPr>
            <a:r>
              <a:rPr lang="en-US" dirty="0" err="1">
                <a:latin typeface="Times New Roman"/>
                <a:cs typeface="Times New Roman"/>
              </a:rPr>
              <a:t>Abhhishek</a:t>
            </a:r>
            <a:r>
              <a:rPr lang="en-US" dirty="0">
                <a:latin typeface="Times New Roman"/>
                <a:cs typeface="Times New Roman"/>
              </a:rPr>
              <a:t> M.P	-</a:t>
            </a:r>
            <a:endParaRPr lang="en-US" sz="1800" dirty="0">
              <a:latin typeface="Times New Roman"/>
              <a:cs typeface="Times New Roman"/>
            </a:endParaRPr>
          </a:p>
          <a:p>
            <a:pPr marL="228600" indent="-215900">
              <a:lnSpc>
                <a:spcPct val="100000"/>
              </a:lnSpc>
              <a:spcBef>
                <a:spcPts val="945"/>
              </a:spcBef>
              <a:buAutoNum type="arabicPeriod"/>
              <a:tabLst>
                <a:tab pos="228600" algn="l"/>
              </a:tabLst>
            </a:pPr>
            <a:r>
              <a:rPr lang="en-US" dirty="0">
                <a:latin typeface="Times New Roman"/>
                <a:cs typeface="Times New Roman"/>
              </a:rPr>
              <a:t>Adarsh D.S	-</a:t>
            </a:r>
          </a:p>
          <a:p>
            <a:pPr marL="228600" indent="-215900">
              <a:lnSpc>
                <a:spcPct val="100000"/>
              </a:lnSpc>
              <a:spcBef>
                <a:spcPts val="945"/>
              </a:spcBef>
              <a:buAutoNum type="arabicPeriod"/>
              <a:tabLst>
                <a:tab pos="228600" algn="l"/>
              </a:tabLst>
            </a:pPr>
            <a:r>
              <a:rPr lang="en-US" dirty="0" err="1">
                <a:latin typeface="Times New Roman"/>
                <a:cs typeface="Times New Roman"/>
              </a:rPr>
              <a:t>Alsamad</a:t>
            </a:r>
            <a:r>
              <a:rPr lang="en-US" dirty="0">
                <a:latin typeface="Times New Roman"/>
                <a:cs typeface="Times New Roman"/>
              </a:rPr>
              <a:t> H.M	-</a:t>
            </a:r>
            <a:endParaRPr lang="en-US" sz="1800" dirty="0">
              <a:latin typeface="Times New Roman"/>
              <a:cs typeface="Times New Roman"/>
            </a:endParaRPr>
          </a:p>
          <a:p>
            <a:pPr marL="228600" indent="-215900">
              <a:lnSpc>
                <a:spcPct val="100000"/>
              </a:lnSpc>
              <a:spcBef>
                <a:spcPts val="945"/>
              </a:spcBef>
              <a:buAutoNum type="arabicPeriod"/>
              <a:tabLst>
                <a:tab pos="228600" algn="l"/>
              </a:tabLst>
            </a:pPr>
            <a:r>
              <a:rPr lang="en-US" dirty="0">
                <a:latin typeface="Times New Roman"/>
                <a:cs typeface="Times New Roman"/>
              </a:rPr>
              <a:t>Chetan S.J	-</a:t>
            </a:r>
            <a:endParaRPr sz="1800" dirty="0">
              <a:latin typeface="Times New Roman"/>
              <a:cs typeface="Times New Roman"/>
            </a:endParaRPr>
          </a:p>
        </p:txBody>
      </p:sp>
      <p:sp>
        <p:nvSpPr>
          <p:cNvPr id="13" name="object 13"/>
          <p:cNvSpPr txBox="1"/>
          <p:nvPr/>
        </p:nvSpPr>
        <p:spPr>
          <a:xfrm>
            <a:off x="9345204" y="3480210"/>
            <a:ext cx="1571625" cy="1549335"/>
          </a:xfrm>
          <a:prstGeom prst="rect">
            <a:avLst/>
          </a:prstGeom>
        </p:spPr>
        <p:txBody>
          <a:bodyPr vert="horz" wrap="square" lIns="0" tIns="12700" rIns="0" bIns="0" rtlCol="0">
            <a:spAutoFit/>
          </a:bodyPr>
          <a:lstStyle/>
          <a:p>
            <a:pPr marL="34925" marR="5080" indent="-22860" algn="just">
              <a:lnSpc>
                <a:spcPct val="139100"/>
              </a:lnSpc>
              <a:spcBef>
                <a:spcPts val="100"/>
              </a:spcBef>
            </a:pPr>
            <a:r>
              <a:rPr lang="en-US" sz="1800" spc="-10" dirty="0">
                <a:latin typeface="Times New Roman"/>
                <a:cs typeface="Times New Roman"/>
              </a:rPr>
              <a:t>U25E01AI002</a:t>
            </a:r>
          </a:p>
          <a:p>
            <a:pPr marL="34925" marR="5080" indent="-22860" algn="just">
              <a:lnSpc>
                <a:spcPct val="139100"/>
              </a:lnSpc>
              <a:spcBef>
                <a:spcPts val="100"/>
              </a:spcBef>
            </a:pPr>
            <a:r>
              <a:rPr lang="en-US" sz="1800" spc="-10" dirty="0">
                <a:latin typeface="Times New Roman"/>
                <a:cs typeface="Times New Roman"/>
              </a:rPr>
              <a:t>U25E01AI003</a:t>
            </a:r>
          </a:p>
          <a:p>
            <a:pPr marL="34925" marR="5080" indent="-22860" algn="just">
              <a:lnSpc>
                <a:spcPct val="139100"/>
              </a:lnSpc>
              <a:spcBef>
                <a:spcPts val="100"/>
              </a:spcBef>
            </a:pPr>
            <a:r>
              <a:rPr lang="en-US" spc="-10" dirty="0">
                <a:latin typeface="Times New Roman"/>
                <a:cs typeface="Times New Roman"/>
              </a:rPr>
              <a:t>U25E01AI009</a:t>
            </a:r>
            <a:endParaRPr lang="en-US" sz="1800" spc="-10" dirty="0">
              <a:latin typeface="Times New Roman"/>
              <a:cs typeface="Times New Roman"/>
            </a:endParaRPr>
          </a:p>
          <a:p>
            <a:pPr marL="34925" marR="5080" indent="-22860" algn="just">
              <a:lnSpc>
                <a:spcPct val="139100"/>
              </a:lnSpc>
              <a:spcBef>
                <a:spcPts val="100"/>
              </a:spcBef>
            </a:pPr>
            <a:r>
              <a:rPr lang="en-IN" spc="-10" dirty="0">
                <a:latin typeface="Times New Roman"/>
                <a:cs typeface="Times New Roman"/>
              </a:rPr>
              <a:t>U25E01AI031</a:t>
            </a:r>
            <a:endParaRPr sz="1800" dirty="0">
              <a:latin typeface="Times New Roman"/>
              <a:cs typeface="Times New Roman"/>
            </a:endParaRPr>
          </a:p>
        </p:txBody>
      </p:sp>
      <p:graphicFrame>
        <p:nvGraphicFramePr>
          <p:cNvPr id="14" name="object 14"/>
          <p:cNvGraphicFramePr>
            <a:graphicFrameLocks noGrp="1"/>
          </p:cNvGraphicFramePr>
          <p:nvPr>
            <p:extLst>
              <p:ext uri="{D42A27DB-BD31-4B8C-83A1-F6EECF244321}">
                <p14:modId xmlns:p14="http://schemas.microsoft.com/office/powerpoint/2010/main" val="1484784067"/>
              </p:ext>
            </p:extLst>
          </p:nvPr>
        </p:nvGraphicFramePr>
        <p:xfrm>
          <a:off x="4038600" y="5216843"/>
          <a:ext cx="8187056" cy="1381759"/>
        </p:xfrm>
        <a:graphic>
          <a:graphicData uri="http://schemas.openxmlformats.org/drawingml/2006/table">
            <a:tbl>
              <a:tblPr firstRow="1" bandRow="1">
                <a:tableStyleId>{2D5ABB26-0587-4C30-8999-92F81FD0307C}</a:tableStyleId>
              </a:tblPr>
              <a:tblGrid>
                <a:gridCol w="2614185">
                  <a:extLst>
                    <a:ext uri="{9D8B030D-6E8A-4147-A177-3AD203B41FA5}">
                      <a16:colId xmlns:a16="http://schemas.microsoft.com/office/drawing/2014/main" val="20000"/>
                    </a:ext>
                  </a:extLst>
                </a:gridCol>
                <a:gridCol w="3549035">
                  <a:extLst>
                    <a:ext uri="{9D8B030D-6E8A-4147-A177-3AD203B41FA5}">
                      <a16:colId xmlns:a16="http://schemas.microsoft.com/office/drawing/2014/main" val="20001"/>
                    </a:ext>
                  </a:extLst>
                </a:gridCol>
                <a:gridCol w="2023836">
                  <a:extLst>
                    <a:ext uri="{9D8B030D-6E8A-4147-A177-3AD203B41FA5}">
                      <a16:colId xmlns:a16="http://schemas.microsoft.com/office/drawing/2014/main" val="20002"/>
                    </a:ext>
                  </a:extLst>
                </a:gridCol>
              </a:tblGrid>
              <a:tr h="558645">
                <a:tc>
                  <a:txBody>
                    <a:bodyPr/>
                    <a:lstStyle/>
                    <a:p>
                      <a:pPr marL="31750">
                        <a:lnSpc>
                          <a:spcPts val="1964"/>
                        </a:lnSpc>
                      </a:pPr>
                      <a:r>
                        <a:rPr lang="en-IN" sz="1800" b="1" spc="-10" dirty="0">
                          <a:solidFill>
                            <a:srgbClr val="00AFEF"/>
                          </a:solidFill>
                          <a:latin typeface="Times New Roman"/>
                          <a:cs typeface="Times New Roman"/>
                        </a:rPr>
                        <a:t>      G</a:t>
                      </a:r>
                      <a:r>
                        <a:rPr sz="1800" b="1" spc="-10" dirty="0">
                          <a:solidFill>
                            <a:srgbClr val="00AFEF"/>
                          </a:solidFill>
                          <a:latin typeface="Times New Roman"/>
                          <a:cs typeface="Times New Roman"/>
                        </a:rPr>
                        <a:t>u</a:t>
                      </a:r>
                      <a:r>
                        <a:rPr lang="en-IN" sz="1800" b="1" spc="-10" dirty="0">
                          <a:solidFill>
                            <a:srgbClr val="00AFEF"/>
                          </a:solidFill>
                          <a:latin typeface="Times New Roman"/>
                          <a:cs typeface="Times New Roman"/>
                        </a:rPr>
                        <a:t>i</a:t>
                      </a:r>
                      <a:r>
                        <a:rPr sz="1800" b="1" spc="-10" dirty="0">
                          <a:solidFill>
                            <a:srgbClr val="00AFEF"/>
                          </a:solidFill>
                          <a:latin typeface="Times New Roman"/>
                          <a:cs typeface="Times New Roman"/>
                        </a:rPr>
                        <a:t>d</a:t>
                      </a:r>
                      <a:r>
                        <a:rPr lang="en-IN" sz="1800" b="1" spc="-10" dirty="0">
                          <a:solidFill>
                            <a:srgbClr val="00AFEF"/>
                          </a:solidFill>
                          <a:latin typeface="Times New Roman"/>
                          <a:cs typeface="Times New Roman"/>
                        </a:rPr>
                        <a:t>e </a:t>
                      </a:r>
                    </a:p>
                    <a:p>
                      <a:pPr marL="31750">
                        <a:lnSpc>
                          <a:spcPts val="1964"/>
                        </a:lnSpc>
                      </a:pPr>
                      <a:r>
                        <a:rPr lang="en-IN" sz="1800" b="1" spc="-10" dirty="0">
                          <a:solidFill>
                            <a:srgbClr val="00AFEF"/>
                          </a:solidFill>
                          <a:latin typeface="Times New Roman"/>
                          <a:cs typeface="Times New Roman"/>
                        </a:rPr>
                        <a:t>   Ms. Kavya K N</a:t>
                      </a:r>
                    </a:p>
                    <a:p>
                      <a:pPr marL="31750">
                        <a:lnSpc>
                          <a:spcPts val="1964"/>
                        </a:lnSpc>
                      </a:pPr>
                      <a:endParaRPr lang="en-IN" sz="1800" b="1" spc="-10" dirty="0">
                        <a:solidFill>
                          <a:srgbClr val="00AFEF"/>
                        </a:solidFill>
                        <a:latin typeface="Times New Roman"/>
                        <a:cs typeface="Times New Roman"/>
                      </a:endParaRPr>
                    </a:p>
                  </a:txBody>
                  <a:tcPr marL="0" marR="0" marT="0" marB="0">
                    <a:solidFill>
                      <a:srgbClr val="EDEBE0"/>
                    </a:solidFill>
                  </a:tcPr>
                </a:tc>
                <a:tc>
                  <a:txBody>
                    <a:bodyPr/>
                    <a:lstStyle/>
                    <a:p>
                      <a:pPr marL="438784">
                        <a:lnSpc>
                          <a:spcPts val="1964"/>
                        </a:lnSpc>
                      </a:pPr>
                      <a:r>
                        <a:rPr sz="1800" b="1" dirty="0">
                          <a:solidFill>
                            <a:srgbClr val="00AFEF"/>
                          </a:solidFill>
                          <a:latin typeface="Times New Roman"/>
                          <a:cs typeface="Times New Roman"/>
                        </a:rPr>
                        <a:t>PBL</a:t>
                      </a:r>
                      <a:r>
                        <a:rPr lang="en-IN" sz="1800" b="1" dirty="0">
                          <a:solidFill>
                            <a:srgbClr val="00AFEF"/>
                          </a:solidFill>
                          <a:latin typeface="Times New Roman"/>
                          <a:cs typeface="Times New Roman"/>
                        </a:rPr>
                        <a:t> </a:t>
                      </a:r>
                      <a:r>
                        <a:rPr sz="1800" b="1" spc="-155" dirty="0">
                          <a:solidFill>
                            <a:srgbClr val="00AFEF"/>
                          </a:solidFill>
                          <a:latin typeface="Times New Roman"/>
                          <a:cs typeface="Times New Roman"/>
                        </a:rPr>
                        <a:t> </a:t>
                      </a:r>
                      <a:r>
                        <a:rPr sz="1800" b="1" dirty="0">
                          <a:solidFill>
                            <a:srgbClr val="00AFEF"/>
                          </a:solidFill>
                          <a:latin typeface="Times New Roman"/>
                          <a:cs typeface="Times New Roman"/>
                        </a:rPr>
                        <a:t>Coordinator</a:t>
                      </a:r>
                      <a:r>
                        <a:rPr sz="1800" b="1" spc="25" dirty="0">
                          <a:solidFill>
                            <a:srgbClr val="00AFEF"/>
                          </a:solidFill>
                          <a:latin typeface="Times New Roman"/>
                          <a:cs typeface="Times New Roman"/>
                        </a:rPr>
                        <a:t> </a:t>
                      </a:r>
                      <a:endParaRPr lang="en-IN" sz="1800" b="1" spc="-50" dirty="0">
                        <a:solidFill>
                          <a:srgbClr val="00AFEF"/>
                        </a:solidFill>
                        <a:latin typeface="Times New Roman"/>
                        <a:cs typeface="Times New Roman"/>
                      </a:endParaRPr>
                    </a:p>
                    <a:p>
                      <a:pPr marL="438784" algn="l">
                        <a:lnSpc>
                          <a:spcPts val="1964"/>
                        </a:lnSpc>
                      </a:pPr>
                      <a:r>
                        <a:rPr lang="en-IN" sz="1800" b="1" spc="-50" dirty="0">
                          <a:solidFill>
                            <a:srgbClr val="00AFEF"/>
                          </a:solidFill>
                          <a:latin typeface="Times New Roman"/>
                          <a:cs typeface="Times New Roman"/>
                        </a:rPr>
                        <a:t>Mr. Mohammad Zeeshan M</a:t>
                      </a:r>
                      <a:endParaRPr sz="1800" dirty="0">
                        <a:latin typeface="Times New Roman"/>
                        <a:cs typeface="Times New Roman"/>
                      </a:endParaRPr>
                    </a:p>
                  </a:txBody>
                  <a:tcPr marL="0" marR="0" marT="0" marB="0">
                    <a:solidFill>
                      <a:srgbClr val="EDEBE0"/>
                    </a:solidFill>
                  </a:tcPr>
                </a:tc>
                <a:tc>
                  <a:txBody>
                    <a:bodyPr/>
                    <a:lstStyle/>
                    <a:p>
                      <a:pPr marL="647065" algn="just">
                        <a:lnSpc>
                          <a:spcPts val="1964"/>
                        </a:lnSpc>
                      </a:pPr>
                      <a:r>
                        <a:rPr lang="en-US" sz="1800" b="1" spc="-10" dirty="0">
                          <a:solidFill>
                            <a:srgbClr val="00AFEF"/>
                          </a:solidFill>
                          <a:latin typeface="Times New Roman"/>
                          <a:cs typeface="Times New Roman"/>
                        </a:rPr>
                        <a:t>   HOD</a:t>
                      </a:r>
                      <a:endParaRPr lang="en-US" sz="1800" b="1" spc="-50" dirty="0">
                        <a:solidFill>
                          <a:srgbClr val="00AFEF"/>
                        </a:solidFill>
                        <a:latin typeface="Times New Roman"/>
                        <a:cs typeface="Times New Roman"/>
                      </a:endParaRPr>
                    </a:p>
                    <a:p>
                      <a:pPr marL="647065">
                        <a:lnSpc>
                          <a:spcPts val="1964"/>
                        </a:lnSpc>
                      </a:pPr>
                      <a:r>
                        <a:rPr lang="en-US" sz="1800" b="1" spc="-50" dirty="0">
                          <a:solidFill>
                            <a:srgbClr val="00AFEF"/>
                          </a:solidFill>
                          <a:latin typeface="Times New Roman"/>
                          <a:cs typeface="Times New Roman"/>
                        </a:rPr>
                        <a:t>Dr. Asha K</a:t>
                      </a:r>
                    </a:p>
                  </a:txBody>
                  <a:tcPr marL="0" marR="0" marT="0" marB="0">
                    <a:solidFill>
                      <a:srgbClr val="EDEBE0"/>
                    </a:solidFill>
                  </a:tcPr>
                </a:tc>
                <a:extLst>
                  <a:ext uri="{0D108BD9-81ED-4DB2-BD59-A6C34878D82A}">
                    <a16:rowId xmlns:a16="http://schemas.microsoft.com/office/drawing/2014/main" val="10000"/>
                  </a:ext>
                </a:extLst>
              </a:tr>
              <a:tr h="231440">
                <a:tc>
                  <a:txBody>
                    <a:bodyPr/>
                    <a:lstStyle/>
                    <a:p>
                      <a:pPr marL="31750">
                        <a:lnSpc>
                          <a:spcPct val="100000"/>
                        </a:lnSpc>
                        <a:spcBef>
                          <a:spcPts val="309"/>
                        </a:spcBef>
                      </a:pPr>
                      <a:endParaRPr sz="1800" dirty="0">
                        <a:latin typeface="Times New Roman"/>
                        <a:cs typeface="Times New Roman"/>
                      </a:endParaRPr>
                    </a:p>
                  </a:txBody>
                  <a:tcPr marL="0" marR="0" marT="39369" marB="0">
                    <a:solidFill>
                      <a:srgbClr val="EDEBE0"/>
                    </a:solidFill>
                  </a:tcPr>
                </a:tc>
                <a:tc>
                  <a:txBody>
                    <a:bodyPr/>
                    <a:lstStyle/>
                    <a:p>
                      <a:pPr marL="429895">
                        <a:lnSpc>
                          <a:spcPct val="100000"/>
                        </a:lnSpc>
                        <a:spcBef>
                          <a:spcPts val="309"/>
                        </a:spcBef>
                      </a:pPr>
                      <a:endParaRPr sz="1800" dirty="0">
                        <a:latin typeface="Times New Roman"/>
                        <a:cs typeface="Times New Roman"/>
                      </a:endParaRPr>
                    </a:p>
                  </a:txBody>
                  <a:tcPr marL="0" marR="0" marT="39369" marB="0">
                    <a:solidFill>
                      <a:srgbClr val="EDEBE0"/>
                    </a:solidFill>
                  </a:tcPr>
                </a:tc>
                <a:tc>
                  <a:txBody>
                    <a:bodyPr/>
                    <a:lstStyle/>
                    <a:p>
                      <a:pPr marL="553085">
                        <a:lnSpc>
                          <a:spcPct val="100000"/>
                        </a:lnSpc>
                        <a:spcBef>
                          <a:spcPts val="309"/>
                        </a:spcBef>
                      </a:pPr>
                      <a:endParaRPr sz="1800" dirty="0">
                        <a:latin typeface="Times New Roman"/>
                        <a:cs typeface="Times New Roman"/>
                      </a:endParaRPr>
                    </a:p>
                  </a:txBody>
                  <a:tcPr marL="0" marR="0" marT="39369" marB="0">
                    <a:solidFill>
                      <a:srgbClr val="EDEBE0"/>
                    </a:solidFill>
                  </a:tcPr>
                </a:tc>
                <a:extLst>
                  <a:ext uri="{0D108BD9-81ED-4DB2-BD59-A6C34878D82A}">
                    <a16:rowId xmlns:a16="http://schemas.microsoft.com/office/drawing/2014/main" val="10001"/>
                  </a:ext>
                </a:extLst>
              </a:tr>
              <a:tr h="224389">
                <a:tc>
                  <a:txBody>
                    <a:bodyPr/>
                    <a:lstStyle/>
                    <a:p>
                      <a:pPr>
                        <a:lnSpc>
                          <a:spcPct val="100000"/>
                        </a:lnSpc>
                      </a:pPr>
                      <a:endParaRPr sz="2000">
                        <a:latin typeface="Times New Roman"/>
                        <a:cs typeface="Times New Roman"/>
                      </a:endParaRPr>
                    </a:p>
                  </a:txBody>
                  <a:tcPr marL="0" marR="0" marT="0" marB="0">
                    <a:solidFill>
                      <a:srgbClr val="EDEBE0"/>
                    </a:solidFill>
                  </a:tcPr>
                </a:tc>
                <a:tc>
                  <a:txBody>
                    <a:bodyPr/>
                    <a:lstStyle/>
                    <a:p>
                      <a:pPr marL="451484">
                        <a:lnSpc>
                          <a:spcPts val="2090"/>
                        </a:lnSpc>
                        <a:spcBef>
                          <a:spcPts val="310"/>
                        </a:spcBef>
                      </a:pPr>
                      <a:endParaRPr sz="1800" dirty="0">
                        <a:latin typeface="Times New Roman"/>
                        <a:cs typeface="Times New Roman"/>
                      </a:endParaRPr>
                    </a:p>
                  </a:txBody>
                  <a:tcPr marL="0" marR="0" marT="39370" marB="0">
                    <a:solidFill>
                      <a:srgbClr val="EDEBE0"/>
                    </a:solidFill>
                  </a:tcPr>
                </a:tc>
                <a:tc>
                  <a:txBody>
                    <a:bodyPr/>
                    <a:lstStyle/>
                    <a:p>
                      <a:pPr>
                        <a:lnSpc>
                          <a:spcPct val="100000"/>
                        </a:lnSpc>
                      </a:pPr>
                      <a:endParaRPr sz="2000" dirty="0">
                        <a:latin typeface="Times New Roman"/>
                        <a:cs typeface="Times New Roman"/>
                      </a:endParaRPr>
                    </a:p>
                  </a:txBody>
                  <a:tcPr marL="0" marR="0" marT="0" marB="0">
                    <a:solidFill>
                      <a:srgbClr val="EDEBE0"/>
                    </a:solidFill>
                  </a:tcPr>
                </a:tc>
                <a:extLst>
                  <a:ext uri="{0D108BD9-81ED-4DB2-BD59-A6C34878D82A}">
                    <a16:rowId xmlns:a16="http://schemas.microsoft.com/office/drawing/2014/main" val="10002"/>
                  </a:ext>
                </a:extLst>
              </a:tr>
            </a:tbl>
          </a:graphicData>
        </a:graphic>
      </p:graphicFrame>
      <p:grpSp>
        <p:nvGrpSpPr>
          <p:cNvPr id="15" name="object 15"/>
          <p:cNvGrpSpPr/>
          <p:nvPr/>
        </p:nvGrpSpPr>
        <p:grpSpPr>
          <a:xfrm>
            <a:off x="-12700" y="6326187"/>
            <a:ext cx="12203430" cy="544830"/>
            <a:chOff x="-12700" y="6326187"/>
            <a:chExt cx="12203430" cy="544830"/>
          </a:xfrm>
        </p:grpSpPr>
        <p:sp>
          <p:nvSpPr>
            <p:cNvPr id="16" name="object 16"/>
            <p:cNvSpPr/>
            <p:nvPr/>
          </p:nvSpPr>
          <p:spPr>
            <a:xfrm>
              <a:off x="0" y="6338887"/>
              <a:ext cx="12178030" cy="519430"/>
            </a:xfrm>
            <a:custGeom>
              <a:avLst/>
              <a:gdLst/>
              <a:ahLst/>
              <a:cxnLst/>
              <a:rect l="l" t="t" r="r" b="b"/>
              <a:pathLst>
                <a:path w="12178030" h="519429">
                  <a:moveTo>
                    <a:pt x="12177711" y="519112"/>
                  </a:moveTo>
                  <a:lnTo>
                    <a:pt x="12177711" y="0"/>
                  </a:lnTo>
                  <a:lnTo>
                    <a:pt x="0" y="0"/>
                  </a:lnTo>
                  <a:lnTo>
                    <a:pt x="0" y="519112"/>
                  </a:lnTo>
                  <a:lnTo>
                    <a:pt x="12177711" y="519112"/>
                  </a:lnTo>
                  <a:close/>
                </a:path>
              </a:pathLst>
            </a:custGeom>
            <a:solidFill>
              <a:srgbClr val="622422"/>
            </a:solidFill>
          </p:spPr>
          <p:txBody>
            <a:bodyPr wrap="square" lIns="0" tIns="0" rIns="0" bIns="0" rtlCol="0"/>
            <a:lstStyle/>
            <a:p>
              <a:endParaRPr/>
            </a:p>
          </p:txBody>
        </p:sp>
        <p:sp>
          <p:nvSpPr>
            <p:cNvPr id="17" name="object 17"/>
            <p:cNvSpPr/>
            <p:nvPr/>
          </p:nvSpPr>
          <p:spPr>
            <a:xfrm>
              <a:off x="0" y="6338887"/>
              <a:ext cx="12178030" cy="519430"/>
            </a:xfrm>
            <a:custGeom>
              <a:avLst/>
              <a:gdLst/>
              <a:ahLst/>
              <a:cxnLst/>
              <a:rect l="l" t="t" r="r" b="b"/>
              <a:pathLst>
                <a:path w="12178030" h="519429">
                  <a:moveTo>
                    <a:pt x="12177711" y="519112"/>
                  </a:moveTo>
                  <a:lnTo>
                    <a:pt x="12177711" y="0"/>
                  </a:lnTo>
                  <a:lnTo>
                    <a:pt x="0" y="0"/>
                  </a:lnTo>
                </a:path>
              </a:pathLst>
            </a:custGeom>
            <a:ln w="25400">
              <a:solidFill>
                <a:srgbClr val="622422"/>
              </a:solidFill>
            </a:ln>
          </p:spPr>
          <p:txBody>
            <a:bodyPr wrap="square" lIns="0" tIns="0" rIns="0" bIns="0" rtlCol="0"/>
            <a:lstStyle/>
            <a:p>
              <a:endParaRPr/>
            </a:p>
          </p:txBody>
        </p:sp>
      </p:grpSp>
      <p:sp>
        <p:nvSpPr>
          <p:cNvPr id="18" name="object 18"/>
          <p:cNvSpPr txBox="1">
            <a:spLocks noGrp="1"/>
          </p:cNvSpPr>
          <p:nvPr>
            <p:ph type="ftr" sz="quarter" idx="5"/>
          </p:nvPr>
        </p:nvSpPr>
        <p:spPr>
          <a:prstGeom prst="rect">
            <a:avLst/>
          </a:prstGeom>
        </p:spPr>
        <p:txBody>
          <a:bodyPr vert="horz" wrap="square" lIns="0" tIns="0" rIns="0" bIns="0" rtlCol="0">
            <a:spAutoFit/>
          </a:bodyPr>
          <a:lstStyle/>
          <a:p>
            <a:pPr marL="841375">
              <a:lnSpc>
                <a:spcPts val="2115"/>
              </a:lnSpc>
            </a:pPr>
            <a:r>
              <a:rPr dirty="0"/>
              <a:t>Faculty</a:t>
            </a:r>
            <a:r>
              <a:rPr spc="10" dirty="0"/>
              <a:t> </a:t>
            </a:r>
            <a:r>
              <a:rPr dirty="0"/>
              <a:t>of</a:t>
            </a:r>
            <a:r>
              <a:rPr spc="250" dirty="0"/>
              <a:t> </a:t>
            </a:r>
            <a:r>
              <a:rPr spc="-10" dirty="0"/>
              <a:t>Engineering</a:t>
            </a:r>
            <a:r>
              <a:rPr spc="25" dirty="0"/>
              <a:t> </a:t>
            </a:r>
            <a:r>
              <a:rPr dirty="0"/>
              <a:t>and</a:t>
            </a:r>
            <a:r>
              <a:rPr spc="-35" dirty="0"/>
              <a:t> </a:t>
            </a:r>
            <a:r>
              <a:rPr spc="-10" dirty="0"/>
              <a:t>Technology</a:t>
            </a: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AF937-EC6A-114F-5695-E1A3691F1931}"/>
            </a:ext>
          </a:extLst>
        </p:cNvPr>
        <p:cNvGrpSpPr/>
        <p:nvPr/>
      </p:nvGrpSpPr>
      <p:grpSpPr>
        <a:xfrm>
          <a:off x="0" y="0"/>
          <a:ext cx="0" cy="0"/>
          <a:chOff x="0" y="0"/>
          <a:chExt cx="0" cy="0"/>
        </a:xfrm>
      </p:grpSpPr>
      <p:sp>
        <p:nvSpPr>
          <p:cNvPr id="5" name="Right Triangle 4">
            <a:extLst>
              <a:ext uri="{FF2B5EF4-FFF2-40B4-BE49-F238E27FC236}">
                <a16:creationId xmlns:a16="http://schemas.microsoft.com/office/drawing/2014/main" id="{2D471579-1F13-9992-5E82-A3F1AADDEE0F}"/>
              </a:ext>
            </a:extLst>
          </p:cNvPr>
          <p:cNvSpPr/>
          <p:nvPr/>
        </p:nvSpPr>
        <p:spPr>
          <a:xfrm rot="10800000">
            <a:off x="9813851"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A logo of a tree and book&#10;&#10;Description automatically generated">
            <a:extLst>
              <a:ext uri="{FF2B5EF4-FFF2-40B4-BE49-F238E27FC236}">
                <a16:creationId xmlns:a16="http://schemas.microsoft.com/office/drawing/2014/main" id="{216353D5-BC34-A510-31F5-AAD219D57B3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0980" t="14982" r="10064" b="14301"/>
          <a:stretch/>
        </p:blipFill>
        <p:spPr>
          <a:xfrm>
            <a:off x="10969349" y="8137"/>
            <a:ext cx="1222744" cy="1095155"/>
          </a:xfrm>
          <a:prstGeom prst="rect">
            <a:avLst/>
          </a:prstGeom>
        </p:spPr>
      </p:pic>
      <p:sp>
        <p:nvSpPr>
          <p:cNvPr id="7" name="Rectangle 6">
            <a:extLst>
              <a:ext uri="{FF2B5EF4-FFF2-40B4-BE49-F238E27FC236}">
                <a16:creationId xmlns:a16="http://schemas.microsoft.com/office/drawing/2014/main" id="{0465CF81-7C04-1FEC-0326-7F8F35CE1E73}"/>
              </a:ext>
            </a:extLst>
          </p:cNvPr>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921BBC03-C10E-E750-0AB2-BC4A68FB99A1}"/>
              </a:ext>
            </a:extLst>
          </p:cNvPr>
          <p:cNvSpPr/>
          <p:nvPr/>
        </p:nvSpPr>
        <p:spPr>
          <a:xfrm>
            <a:off x="457476" y="486035"/>
            <a:ext cx="11641491" cy="646331"/>
          </a:xfrm>
          <a:prstGeom prst="rect">
            <a:avLst/>
          </a:prstGeom>
        </p:spPr>
        <p:txBody>
          <a:bodyPr wrap="square">
            <a:spAutoFit/>
          </a:bodyPr>
          <a:lstStyle/>
          <a:p>
            <a:endParaRPr lang="en-US" dirty="0"/>
          </a:p>
          <a:p>
            <a:r>
              <a:rPr lang="en-US" dirty="0"/>
              <a:t> </a:t>
            </a:r>
          </a:p>
        </p:txBody>
      </p:sp>
      <p:sp>
        <p:nvSpPr>
          <p:cNvPr id="3" name="AutoShape 2">
            <a:extLst>
              <a:ext uri="{FF2B5EF4-FFF2-40B4-BE49-F238E27FC236}">
                <a16:creationId xmlns:a16="http://schemas.microsoft.com/office/drawing/2014/main" id="{F7E4471B-4439-F166-9C90-C3689900A393}"/>
              </a:ext>
            </a:extLst>
          </p:cNvPr>
          <p:cNvSpPr>
            <a:spLocks noChangeAspect="1" noChangeArrowheads="1"/>
          </p:cNvSpPr>
          <p:nvPr/>
        </p:nvSpPr>
        <p:spPr bwMode="auto">
          <a:xfrm>
            <a:off x="7731734" y="2567970"/>
            <a:ext cx="3618940" cy="36189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0" name="AutoShape 8">
            <a:extLst>
              <a:ext uri="{FF2B5EF4-FFF2-40B4-BE49-F238E27FC236}">
                <a16:creationId xmlns:a16="http://schemas.microsoft.com/office/drawing/2014/main" id="{1FD3DCD7-6F4E-2A28-6649-2DDFFC9C174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4" name="Rectangle 13"/>
          <p:cNvSpPr/>
          <p:nvPr/>
        </p:nvSpPr>
        <p:spPr>
          <a:xfrm>
            <a:off x="2630" y="101314"/>
            <a:ext cx="12191998" cy="707886"/>
          </a:xfrm>
          <a:prstGeom prst="rect">
            <a:avLst/>
          </a:prstGeom>
        </p:spPr>
        <p:txBody>
          <a:bodyPr wrap="square">
            <a:spAutoFit/>
          </a:bodyPr>
          <a:lstStyle/>
          <a:p>
            <a:pPr algn="ctr"/>
            <a:r>
              <a:rPr lang="en-US" sz="4000" b="1" dirty="0">
                <a:solidFill>
                  <a:srgbClr val="FF0000"/>
                </a:solidFill>
                <a:latin typeface="Times New Roman" pitchFamily="18" charset="0"/>
                <a:cs typeface="Times New Roman" pitchFamily="18" charset="0"/>
              </a:rPr>
              <a:t>CONTENTS</a:t>
            </a:r>
            <a:endParaRPr lang="en-US" sz="4000" b="1" dirty="0">
              <a:solidFill>
                <a:srgbClr val="FF0000"/>
              </a:solidFill>
            </a:endParaRPr>
          </a:p>
        </p:txBody>
      </p:sp>
      <p:sp>
        <p:nvSpPr>
          <p:cNvPr id="12" name="object 4">
            <a:extLst>
              <a:ext uri="{FF2B5EF4-FFF2-40B4-BE49-F238E27FC236}">
                <a16:creationId xmlns:a16="http://schemas.microsoft.com/office/drawing/2014/main" id="{24D4CA09-A8BD-43B2-B6A0-339B66FABE38}"/>
              </a:ext>
            </a:extLst>
          </p:cNvPr>
          <p:cNvSpPr txBox="1"/>
          <p:nvPr/>
        </p:nvSpPr>
        <p:spPr>
          <a:xfrm>
            <a:off x="656935" y="843359"/>
            <a:ext cx="5719445" cy="5547801"/>
          </a:xfrm>
          <a:prstGeom prst="rect">
            <a:avLst/>
          </a:prstGeom>
        </p:spPr>
        <p:txBody>
          <a:bodyPr vert="horz" wrap="square" lIns="0" tIns="15875" rIns="0" bIns="0" rtlCol="0">
            <a:spAutoFit/>
          </a:bodyPr>
          <a:lstStyle/>
          <a:p>
            <a:pPr marL="12700">
              <a:lnSpc>
                <a:spcPct val="150000"/>
              </a:lnSpc>
              <a:spcBef>
                <a:spcPts val="2710"/>
              </a:spcBef>
              <a:tabLst>
                <a:tab pos="367665" algn="l"/>
              </a:tabLst>
            </a:pPr>
            <a:r>
              <a:rPr lang="en-IN" sz="2800" spc="-10" dirty="0">
                <a:latin typeface="Times New Roman"/>
                <a:cs typeface="Times New Roman"/>
              </a:rPr>
              <a:t>1. Abstracts</a:t>
            </a:r>
          </a:p>
          <a:p>
            <a:pPr marL="12700">
              <a:lnSpc>
                <a:spcPct val="150000"/>
              </a:lnSpc>
              <a:spcBef>
                <a:spcPts val="2710"/>
              </a:spcBef>
              <a:tabLst>
                <a:tab pos="367665" algn="l"/>
              </a:tabLst>
            </a:pPr>
            <a:r>
              <a:rPr lang="en-IN" sz="2800" spc="-10" dirty="0">
                <a:latin typeface="Times New Roman"/>
                <a:cs typeface="Times New Roman"/>
              </a:rPr>
              <a:t>2. </a:t>
            </a:r>
            <a:r>
              <a:rPr sz="2800" spc="-10" dirty="0">
                <a:latin typeface="Times New Roman"/>
                <a:cs typeface="Times New Roman"/>
              </a:rPr>
              <a:t>Introduction</a:t>
            </a:r>
            <a:endParaRPr sz="2800" dirty="0">
              <a:latin typeface="Times New Roman"/>
              <a:cs typeface="Times New Roman"/>
            </a:endParaRPr>
          </a:p>
          <a:p>
            <a:pPr marL="12700">
              <a:lnSpc>
                <a:spcPct val="150000"/>
              </a:lnSpc>
              <a:spcBef>
                <a:spcPts val="2710"/>
              </a:spcBef>
              <a:tabLst>
                <a:tab pos="367665" algn="l"/>
              </a:tabLst>
            </a:pPr>
            <a:r>
              <a:rPr lang="en-IN" sz="2800" dirty="0">
                <a:latin typeface="Times New Roman"/>
                <a:cs typeface="Times New Roman"/>
              </a:rPr>
              <a:t>3. </a:t>
            </a:r>
            <a:r>
              <a:rPr sz="2800" dirty="0">
                <a:latin typeface="Times New Roman"/>
                <a:cs typeface="Times New Roman"/>
              </a:rPr>
              <a:t>Problem</a:t>
            </a:r>
            <a:r>
              <a:rPr sz="2800" spc="165" dirty="0">
                <a:latin typeface="Times New Roman"/>
                <a:cs typeface="Times New Roman"/>
              </a:rPr>
              <a:t> </a:t>
            </a:r>
            <a:r>
              <a:rPr sz="2800" spc="-10" dirty="0">
                <a:latin typeface="Times New Roman"/>
                <a:cs typeface="Times New Roman"/>
              </a:rPr>
              <a:t>statement</a:t>
            </a:r>
            <a:endParaRPr sz="2800" dirty="0">
              <a:latin typeface="Times New Roman"/>
              <a:cs typeface="Times New Roman"/>
            </a:endParaRPr>
          </a:p>
          <a:p>
            <a:pPr marL="12700">
              <a:lnSpc>
                <a:spcPct val="150000"/>
              </a:lnSpc>
              <a:spcBef>
                <a:spcPts val="2705"/>
              </a:spcBef>
              <a:tabLst>
                <a:tab pos="367665" algn="l"/>
              </a:tabLst>
            </a:pPr>
            <a:r>
              <a:rPr lang="en-IN" sz="2800" dirty="0">
                <a:latin typeface="Times New Roman"/>
                <a:cs typeface="Times New Roman"/>
              </a:rPr>
              <a:t>4. </a:t>
            </a:r>
            <a:r>
              <a:rPr sz="2800" dirty="0">
                <a:latin typeface="Times New Roman"/>
                <a:cs typeface="Times New Roman"/>
              </a:rPr>
              <a:t>Objectives</a:t>
            </a:r>
          </a:p>
          <a:p>
            <a:pPr marL="12700">
              <a:lnSpc>
                <a:spcPct val="150000"/>
              </a:lnSpc>
              <a:spcBef>
                <a:spcPts val="2710"/>
              </a:spcBef>
              <a:tabLst>
                <a:tab pos="367665" algn="l"/>
              </a:tabLst>
            </a:pPr>
            <a:r>
              <a:rPr lang="en-IN" sz="2800" dirty="0">
                <a:latin typeface="Times New Roman"/>
                <a:cs typeface="Times New Roman"/>
              </a:rPr>
              <a:t>5. Methodology</a:t>
            </a:r>
          </a:p>
          <a:p>
            <a:pPr marL="12700">
              <a:lnSpc>
                <a:spcPct val="150000"/>
              </a:lnSpc>
              <a:spcBef>
                <a:spcPts val="2710"/>
              </a:spcBef>
              <a:tabLst>
                <a:tab pos="367665" algn="l"/>
              </a:tabLst>
            </a:pPr>
            <a:r>
              <a:rPr lang="en-IN" sz="2800" dirty="0">
                <a:latin typeface="Times New Roman"/>
                <a:cs typeface="Times New Roman"/>
              </a:rPr>
              <a:t>6. Software and hardware specifications</a:t>
            </a:r>
            <a:endParaRPr sz="2800" dirty="0">
              <a:latin typeface="Times New Roman"/>
              <a:cs typeface="Times New Roman"/>
            </a:endParaRPr>
          </a:p>
        </p:txBody>
      </p:sp>
    </p:spTree>
    <p:extLst>
      <p:ext uri="{BB962C8B-B14F-4D97-AF65-F5344CB8AC3E}">
        <p14:creationId xmlns:p14="http://schemas.microsoft.com/office/powerpoint/2010/main" val="1747906391"/>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AF937-EC6A-114F-5695-E1A3691F1931}"/>
            </a:ext>
          </a:extLst>
        </p:cNvPr>
        <p:cNvGrpSpPr/>
        <p:nvPr/>
      </p:nvGrpSpPr>
      <p:grpSpPr>
        <a:xfrm>
          <a:off x="0" y="0"/>
          <a:ext cx="0" cy="0"/>
          <a:chOff x="0" y="0"/>
          <a:chExt cx="0" cy="0"/>
        </a:xfrm>
      </p:grpSpPr>
      <p:sp>
        <p:nvSpPr>
          <p:cNvPr id="5" name="Right Triangle 4">
            <a:extLst>
              <a:ext uri="{FF2B5EF4-FFF2-40B4-BE49-F238E27FC236}">
                <a16:creationId xmlns:a16="http://schemas.microsoft.com/office/drawing/2014/main" id="{2D471579-1F13-9992-5E82-A3F1AADDEE0F}"/>
              </a:ext>
            </a:extLst>
          </p:cNvPr>
          <p:cNvSpPr/>
          <p:nvPr/>
        </p:nvSpPr>
        <p:spPr>
          <a:xfrm rot="10800000">
            <a:off x="9813851"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A logo of a tree and book&#10;&#10;Description automatically generated">
            <a:extLst>
              <a:ext uri="{FF2B5EF4-FFF2-40B4-BE49-F238E27FC236}">
                <a16:creationId xmlns:a16="http://schemas.microsoft.com/office/drawing/2014/main" id="{216353D5-BC34-A510-31F5-AAD219D57B3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0980" t="14982" r="10064" b="14301"/>
          <a:stretch/>
        </p:blipFill>
        <p:spPr>
          <a:xfrm>
            <a:off x="10969349" y="8137"/>
            <a:ext cx="1222744" cy="1095155"/>
          </a:xfrm>
          <a:prstGeom prst="rect">
            <a:avLst/>
          </a:prstGeom>
        </p:spPr>
      </p:pic>
      <p:sp>
        <p:nvSpPr>
          <p:cNvPr id="7" name="Rectangle 6">
            <a:extLst>
              <a:ext uri="{FF2B5EF4-FFF2-40B4-BE49-F238E27FC236}">
                <a16:creationId xmlns:a16="http://schemas.microsoft.com/office/drawing/2014/main" id="{0465CF81-7C04-1FEC-0326-7F8F35CE1E73}"/>
              </a:ext>
            </a:extLst>
          </p:cNvPr>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921BBC03-C10E-E750-0AB2-BC4A68FB99A1}"/>
              </a:ext>
            </a:extLst>
          </p:cNvPr>
          <p:cNvSpPr/>
          <p:nvPr/>
        </p:nvSpPr>
        <p:spPr>
          <a:xfrm>
            <a:off x="457476" y="486035"/>
            <a:ext cx="11641491" cy="646331"/>
          </a:xfrm>
          <a:prstGeom prst="rect">
            <a:avLst/>
          </a:prstGeom>
        </p:spPr>
        <p:txBody>
          <a:bodyPr wrap="square">
            <a:spAutoFit/>
          </a:bodyPr>
          <a:lstStyle/>
          <a:p>
            <a:endParaRPr lang="en-US" dirty="0"/>
          </a:p>
          <a:p>
            <a:r>
              <a:rPr lang="en-US" dirty="0"/>
              <a:t> </a:t>
            </a:r>
          </a:p>
        </p:txBody>
      </p:sp>
      <p:sp>
        <p:nvSpPr>
          <p:cNvPr id="3" name="AutoShape 2">
            <a:extLst>
              <a:ext uri="{FF2B5EF4-FFF2-40B4-BE49-F238E27FC236}">
                <a16:creationId xmlns:a16="http://schemas.microsoft.com/office/drawing/2014/main" id="{F7E4471B-4439-F166-9C90-C3689900A393}"/>
              </a:ext>
            </a:extLst>
          </p:cNvPr>
          <p:cNvSpPr>
            <a:spLocks noChangeAspect="1" noChangeArrowheads="1"/>
          </p:cNvSpPr>
          <p:nvPr/>
        </p:nvSpPr>
        <p:spPr bwMode="auto">
          <a:xfrm>
            <a:off x="7731734" y="2567970"/>
            <a:ext cx="3618940" cy="36189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8" name="AutoShape 4">
            <a:extLst>
              <a:ext uri="{FF2B5EF4-FFF2-40B4-BE49-F238E27FC236}">
                <a16:creationId xmlns:a16="http://schemas.microsoft.com/office/drawing/2014/main" id="{47C22E53-91C4-C214-0037-FB8B1CBF4EB6}"/>
              </a:ext>
            </a:extLst>
          </p:cNvPr>
          <p:cNvSpPr>
            <a:spLocks noChangeAspect="1" noChangeArrowheads="1"/>
          </p:cNvSpPr>
          <p:nvPr/>
        </p:nvSpPr>
        <p:spPr bwMode="auto">
          <a:xfrm>
            <a:off x="5943600" y="3276600"/>
            <a:ext cx="3339548" cy="333954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0" name="AutoShape 8">
            <a:extLst>
              <a:ext uri="{FF2B5EF4-FFF2-40B4-BE49-F238E27FC236}">
                <a16:creationId xmlns:a16="http://schemas.microsoft.com/office/drawing/2014/main" id="{1FD3DCD7-6F4E-2A28-6649-2DDFFC9C174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4" name="Rectangle 13"/>
          <p:cNvSpPr/>
          <p:nvPr/>
        </p:nvSpPr>
        <p:spPr>
          <a:xfrm>
            <a:off x="2630" y="101314"/>
            <a:ext cx="12191998" cy="707886"/>
          </a:xfrm>
          <a:prstGeom prst="rect">
            <a:avLst/>
          </a:prstGeom>
        </p:spPr>
        <p:txBody>
          <a:bodyPr wrap="square">
            <a:spAutoFit/>
          </a:bodyPr>
          <a:lstStyle/>
          <a:p>
            <a:pPr algn="ctr"/>
            <a:r>
              <a:rPr lang="en-US" sz="4000" b="1" dirty="0">
                <a:solidFill>
                  <a:srgbClr val="FF0000"/>
                </a:solidFill>
                <a:latin typeface="Times New Roman" pitchFamily="18" charset="0"/>
                <a:cs typeface="Times New Roman" pitchFamily="18" charset="0"/>
              </a:rPr>
              <a:t>ABSTRACT</a:t>
            </a:r>
            <a:endParaRPr lang="en-US" sz="4000" b="1" dirty="0">
              <a:solidFill>
                <a:srgbClr val="FF0000"/>
              </a:solidFill>
            </a:endParaRPr>
          </a:p>
        </p:txBody>
      </p:sp>
      <p:sp>
        <p:nvSpPr>
          <p:cNvPr id="12" name="TextBox 11">
            <a:extLst>
              <a:ext uri="{FF2B5EF4-FFF2-40B4-BE49-F238E27FC236}">
                <a16:creationId xmlns:a16="http://schemas.microsoft.com/office/drawing/2014/main" id="{D68B8169-FCC4-BE23-23F0-BBE0CFFD3792}"/>
              </a:ext>
            </a:extLst>
          </p:cNvPr>
          <p:cNvSpPr txBox="1"/>
          <p:nvPr/>
        </p:nvSpPr>
        <p:spPr>
          <a:xfrm>
            <a:off x="1179702" y="1132366"/>
            <a:ext cx="9527796" cy="3139321"/>
          </a:xfrm>
          <a:prstGeom prst="rect">
            <a:avLst/>
          </a:prstGeom>
          <a:noFill/>
        </p:spPr>
        <p:txBody>
          <a:bodyPr wrap="square">
            <a:spAutoFit/>
          </a:bodyPr>
          <a:lstStyle/>
          <a:p>
            <a:endParaRPr lang="en-US" dirty="0"/>
          </a:p>
          <a:p>
            <a:r>
              <a:rPr lang="en-US" dirty="0"/>
              <a:t>A Healthcare Patient Portal is a secure online platform for patients to </a:t>
            </a:r>
            <a:r>
              <a:rPr lang="en-US" dirty="0" err="1"/>
              <a:t>acess</a:t>
            </a:r>
            <a:r>
              <a:rPr lang="en-US" dirty="0"/>
              <a:t> and manage their personal health </a:t>
            </a:r>
            <a:r>
              <a:rPr lang="en-US" dirty="0" err="1"/>
              <a:t>infconveniently</a:t>
            </a:r>
            <a:r>
              <a:rPr lang="en-US" dirty="0"/>
              <a:t>. It serves as a digital bridge between patients and </a:t>
            </a:r>
            <a:r>
              <a:rPr lang="en-US" dirty="0" err="1"/>
              <a:t>healthcareproviders</a:t>
            </a:r>
            <a:r>
              <a:rPr lang="en-US" dirty="0"/>
              <a:t>, it allows patients to access their health records, test </a:t>
            </a:r>
            <a:r>
              <a:rPr lang="en-US" dirty="0" err="1"/>
              <a:t>results,and</a:t>
            </a:r>
            <a:r>
              <a:rPr lang="en-US" dirty="0"/>
              <a:t> </a:t>
            </a:r>
            <a:r>
              <a:rPr lang="en-US" dirty="0" err="1"/>
              <a:t>appoitments</a:t>
            </a:r>
            <a:r>
              <a:rPr lang="en-US" dirty="0"/>
              <a:t> anytime.</a:t>
            </a:r>
          </a:p>
          <a:p>
            <a:endParaRPr lang="en-US" dirty="0"/>
          </a:p>
          <a:p>
            <a:r>
              <a:rPr lang="en-US" dirty="0"/>
              <a:t>A Health Care Portal is an online platform that helps patients manage their health easily Through the portal, patients  View their medical reports and prescriptions Book doctor appointments Check lab test results Communicate with doctors through messages or video calls Pay medical bills online Patients can view reports, prescriptions, and appointments </a:t>
            </a:r>
            <a:r>
              <a:rPr lang="en-US" dirty="0" err="1"/>
              <a:t>easily.It</a:t>
            </a:r>
            <a:r>
              <a:rPr lang="en-US" dirty="0"/>
              <a:t> saves time and reduces paperwork in hospitals.</a:t>
            </a:r>
          </a:p>
        </p:txBody>
      </p:sp>
    </p:spTree>
    <p:extLst>
      <p:ext uri="{BB962C8B-B14F-4D97-AF65-F5344CB8AC3E}">
        <p14:creationId xmlns:p14="http://schemas.microsoft.com/office/powerpoint/2010/main" val="1598740542"/>
      </p:ext>
    </p:extLst>
  </p:cSld>
  <p:clrMapOvr>
    <a:masterClrMapping/>
  </p:clrMapOvr>
  <p:transition spd="slow">
    <p:wheel spokes="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AF937-EC6A-114F-5695-E1A3691F1931}"/>
            </a:ext>
          </a:extLst>
        </p:cNvPr>
        <p:cNvGrpSpPr/>
        <p:nvPr/>
      </p:nvGrpSpPr>
      <p:grpSpPr>
        <a:xfrm>
          <a:off x="0" y="0"/>
          <a:ext cx="0" cy="0"/>
          <a:chOff x="0" y="0"/>
          <a:chExt cx="0" cy="0"/>
        </a:xfrm>
      </p:grpSpPr>
      <p:sp>
        <p:nvSpPr>
          <p:cNvPr id="5" name="Right Triangle 4">
            <a:extLst>
              <a:ext uri="{FF2B5EF4-FFF2-40B4-BE49-F238E27FC236}">
                <a16:creationId xmlns:a16="http://schemas.microsoft.com/office/drawing/2014/main" id="{2D471579-1F13-9992-5E82-A3F1AADDEE0F}"/>
              </a:ext>
            </a:extLst>
          </p:cNvPr>
          <p:cNvSpPr/>
          <p:nvPr/>
        </p:nvSpPr>
        <p:spPr>
          <a:xfrm rot="10800000">
            <a:off x="9813851"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A logo of a tree and book&#10;&#10;Description automatically generated">
            <a:extLst>
              <a:ext uri="{FF2B5EF4-FFF2-40B4-BE49-F238E27FC236}">
                <a16:creationId xmlns:a16="http://schemas.microsoft.com/office/drawing/2014/main" id="{216353D5-BC34-A510-31F5-AAD219D57B3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0980" t="14982" r="10064" b="14301"/>
          <a:stretch/>
        </p:blipFill>
        <p:spPr>
          <a:xfrm>
            <a:off x="10969349" y="8137"/>
            <a:ext cx="1222744" cy="1095155"/>
          </a:xfrm>
          <a:prstGeom prst="rect">
            <a:avLst/>
          </a:prstGeom>
        </p:spPr>
      </p:pic>
      <p:sp>
        <p:nvSpPr>
          <p:cNvPr id="7" name="Rectangle 6">
            <a:extLst>
              <a:ext uri="{FF2B5EF4-FFF2-40B4-BE49-F238E27FC236}">
                <a16:creationId xmlns:a16="http://schemas.microsoft.com/office/drawing/2014/main" id="{0465CF81-7C04-1FEC-0326-7F8F35CE1E73}"/>
              </a:ext>
            </a:extLst>
          </p:cNvPr>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921BBC03-C10E-E750-0AB2-BC4A68FB99A1}"/>
              </a:ext>
            </a:extLst>
          </p:cNvPr>
          <p:cNvSpPr/>
          <p:nvPr/>
        </p:nvSpPr>
        <p:spPr>
          <a:xfrm>
            <a:off x="457476" y="486035"/>
            <a:ext cx="11641491" cy="646331"/>
          </a:xfrm>
          <a:prstGeom prst="rect">
            <a:avLst/>
          </a:prstGeom>
        </p:spPr>
        <p:txBody>
          <a:bodyPr wrap="square">
            <a:spAutoFit/>
          </a:bodyPr>
          <a:lstStyle/>
          <a:p>
            <a:endParaRPr lang="en-US" dirty="0"/>
          </a:p>
          <a:p>
            <a:r>
              <a:rPr lang="en-US" dirty="0"/>
              <a:t> </a:t>
            </a:r>
          </a:p>
        </p:txBody>
      </p:sp>
      <p:sp>
        <p:nvSpPr>
          <p:cNvPr id="3" name="AutoShape 2">
            <a:extLst>
              <a:ext uri="{FF2B5EF4-FFF2-40B4-BE49-F238E27FC236}">
                <a16:creationId xmlns:a16="http://schemas.microsoft.com/office/drawing/2014/main" id="{F7E4471B-4439-F166-9C90-C3689900A393}"/>
              </a:ext>
            </a:extLst>
          </p:cNvPr>
          <p:cNvSpPr>
            <a:spLocks noChangeAspect="1" noChangeArrowheads="1"/>
          </p:cNvSpPr>
          <p:nvPr/>
        </p:nvSpPr>
        <p:spPr bwMode="auto">
          <a:xfrm>
            <a:off x="7731734" y="2567970"/>
            <a:ext cx="3618940" cy="36189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8" name="AutoShape 4">
            <a:extLst>
              <a:ext uri="{FF2B5EF4-FFF2-40B4-BE49-F238E27FC236}">
                <a16:creationId xmlns:a16="http://schemas.microsoft.com/office/drawing/2014/main" id="{47C22E53-91C4-C214-0037-FB8B1CBF4EB6}"/>
              </a:ext>
            </a:extLst>
          </p:cNvPr>
          <p:cNvSpPr>
            <a:spLocks noChangeAspect="1" noChangeArrowheads="1"/>
          </p:cNvSpPr>
          <p:nvPr/>
        </p:nvSpPr>
        <p:spPr bwMode="auto">
          <a:xfrm>
            <a:off x="5943600" y="3276600"/>
            <a:ext cx="3339548" cy="333954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0" name="AutoShape 8">
            <a:extLst>
              <a:ext uri="{FF2B5EF4-FFF2-40B4-BE49-F238E27FC236}">
                <a16:creationId xmlns:a16="http://schemas.microsoft.com/office/drawing/2014/main" id="{1FD3DCD7-6F4E-2A28-6649-2DDFFC9C174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4" name="Rectangle 13"/>
          <p:cNvSpPr/>
          <p:nvPr/>
        </p:nvSpPr>
        <p:spPr>
          <a:xfrm>
            <a:off x="2630" y="101314"/>
            <a:ext cx="12191998" cy="707886"/>
          </a:xfrm>
          <a:prstGeom prst="rect">
            <a:avLst/>
          </a:prstGeom>
        </p:spPr>
        <p:txBody>
          <a:bodyPr wrap="square">
            <a:spAutoFit/>
          </a:bodyPr>
          <a:lstStyle/>
          <a:p>
            <a:pPr algn="ctr"/>
            <a:r>
              <a:rPr lang="en-US" sz="4000" b="1" dirty="0">
                <a:solidFill>
                  <a:srgbClr val="FF0000"/>
                </a:solidFill>
                <a:latin typeface="Times New Roman" pitchFamily="18" charset="0"/>
                <a:cs typeface="Times New Roman" pitchFamily="18" charset="0"/>
              </a:rPr>
              <a:t>INTRODUCTION</a:t>
            </a:r>
            <a:endParaRPr lang="en-US" sz="4000" b="1" dirty="0">
              <a:solidFill>
                <a:srgbClr val="FF0000"/>
              </a:solidFill>
            </a:endParaRPr>
          </a:p>
        </p:txBody>
      </p:sp>
      <p:sp>
        <p:nvSpPr>
          <p:cNvPr id="4" name="Rectangle 1">
            <a:extLst>
              <a:ext uri="{FF2B5EF4-FFF2-40B4-BE49-F238E27FC236}">
                <a16:creationId xmlns:a16="http://schemas.microsoft.com/office/drawing/2014/main" id="{4283A56F-CDDE-BBE8-5E27-EAB16F1A9804}"/>
              </a:ext>
            </a:extLst>
          </p:cNvPr>
          <p:cNvSpPr>
            <a:spLocks noChangeArrowheads="1"/>
          </p:cNvSpPr>
          <p:nvPr/>
        </p:nvSpPr>
        <p:spPr bwMode="auto">
          <a:xfrm>
            <a:off x="1270638" y="1376619"/>
            <a:ext cx="9345923"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IN" altLang="en-US" sz="1800" b="0" i="0" u="none" strike="noStrike" cap="none" normalizeH="0" baseline="0" dirty="0">
                <a:ln>
                  <a:noFill/>
                </a:ln>
                <a:solidFill>
                  <a:schemeClr val="tx1"/>
                </a:solidFill>
                <a:effectLst/>
                <a:latin typeface="Arial" panose="020B0604020202020204" pitchFamily="34" charset="0"/>
              </a:rPr>
              <a:t>A Healthcare Portal is an Online platform that helps patients manage their health easily.</a:t>
            </a:r>
            <a:r>
              <a:rPr lang="en-US" altLang="en-US" dirty="0">
                <a:solidFill>
                  <a:schemeClr val="tx1"/>
                </a:solidFill>
                <a:latin typeface="Arial" panose="020B0604020202020204" pitchFamily="34" charset="0"/>
              </a:rPr>
              <a:t> Through the portal, patients can view their medical reports and prescriptions. They can also book doctor appointments and also check their lab test results. They can communicate with doctors through messages or video calls and able to pay medical bills online.</a:t>
            </a:r>
          </a:p>
          <a:p>
            <a:pPr algn="l" rtl="0" eaLnBrk="0" fontAlgn="base" hangingPunct="0">
              <a:spcBef>
                <a:spcPct val="0"/>
              </a:spcBef>
              <a:spcAft>
                <a:spcPct val="0"/>
              </a:spcAft>
            </a:pPr>
            <a:endParaRPr lang="en-US" dirty="0"/>
          </a:p>
          <a:p>
            <a:pPr algn="l" rtl="0" eaLnBrk="0" fontAlgn="base" hangingPunct="0">
              <a:spcBef>
                <a:spcPct val="0"/>
              </a:spcBef>
              <a:spcAft>
                <a:spcPct val="0"/>
              </a:spcAft>
            </a:pPr>
            <a:r>
              <a:rPr lang="en-US" dirty="0"/>
              <a:t>This project presents a </a:t>
            </a:r>
            <a:r>
              <a:rPr lang="en-US" b="1" dirty="0"/>
              <a:t>secure, user-friendly digital platform</a:t>
            </a:r>
            <a:r>
              <a:rPr lang="en-US" dirty="0"/>
              <a:t> designed to transform the way patients interact with healthcare services. The Healthcare Patient Portal empowers individuals to manage their health records, appointments, prescriptions, and provider communication—all from one centralized interface.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IN"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6726438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AF937-EC6A-114F-5695-E1A3691F1931}"/>
            </a:ext>
          </a:extLst>
        </p:cNvPr>
        <p:cNvGrpSpPr/>
        <p:nvPr/>
      </p:nvGrpSpPr>
      <p:grpSpPr>
        <a:xfrm>
          <a:off x="0" y="0"/>
          <a:ext cx="0" cy="0"/>
          <a:chOff x="0" y="0"/>
          <a:chExt cx="0" cy="0"/>
        </a:xfrm>
      </p:grpSpPr>
      <p:sp>
        <p:nvSpPr>
          <p:cNvPr id="5" name="Right Triangle 4">
            <a:extLst>
              <a:ext uri="{FF2B5EF4-FFF2-40B4-BE49-F238E27FC236}">
                <a16:creationId xmlns:a16="http://schemas.microsoft.com/office/drawing/2014/main" id="{2D471579-1F13-9992-5E82-A3F1AADDEE0F}"/>
              </a:ext>
            </a:extLst>
          </p:cNvPr>
          <p:cNvSpPr/>
          <p:nvPr/>
        </p:nvSpPr>
        <p:spPr>
          <a:xfrm rot="10800000">
            <a:off x="9813851"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A logo of a tree and book&#10;&#10;Description automatically generated">
            <a:extLst>
              <a:ext uri="{FF2B5EF4-FFF2-40B4-BE49-F238E27FC236}">
                <a16:creationId xmlns:a16="http://schemas.microsoft.com/office/drawing/2014/main" id="{216353D5-BC34-A510-31F5-AAD219D57B3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0980" t="14982" r="10064" b="14301"/>
          <a:stretch/>
        </p:blipFill>
        <p:spPr>
          <a:xfrm>
            <a:off x="10969349" y="8137"/>
            <a:ext cx="1222744" cy="1095155"/>
          </a:xfrm>
          <a:prstGeom prst="rect">
            <a:avLst/>
          </a:prstGeom>
        </p:spPr>
      </p:pic>
      <p:sp>
        <p:nvSpPr>
          <p:cNvPr id="7" name="Rectangle 6">
            <a:extLst>
              <a:ext uri="{FF2B5EF4-FFF2-40B4-BE49-F238E27FC236}">
                <a16:creationId xmlns:a16="http://schemas.microsoft.com/office/drawing/2014/main" id="{0465CF81-7C04-1FEC-0326-7F8F35CE1E73}"/>
              </a:ext>
            </a:extLst>
          </p:cNvPr>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921BBC03-C10E-E750-0AB2-BC4A68FB99A1}"/>
              </a:ext>
            </a:extLst>
          </p:cNvPr>
          <p:cNvSpPr/>
          <p:nvPr/>
        </p:nvSpPr>
        <p:spPr>
          <a:xfrm>
            <a:off x="457476" y="486035"/>
            <a:ext cx="11641491" cy="646331"/>
          </a:xfrm>
          <a:prstGeom prst="rect">
            <a:avLst/>
          </a:prstGeom>
        </p:spPr>
        <p:txBody>
          <a:bodyPr wrap="square">
            <a:spAutoFit/>
          </a:bodyPr>
          <a:lstStyle/>
          <a:p>
            <a:endParaRPr lang="en-US" dirty="0"/>
          </a:p>
          <a:p>
            <a:r>
              <a:rPr lang="en-US" dirty="0"/>
              <a:t> </a:t>
            </a:r>
          </a:p>
        </p:txBody>
      </p:sp>
      <p:sp>
        <p:nvSpPr>
          <p:cNvPr id="3" name="AutoShape 2">
            <a:extLst>
              <a:ext uri="{FF2B5EF4-FFF2-40B4-BE49-F238E27FC236}">
                <a16:creationId xmlns:a16="http://schemas.microsoft.com/office/drawing/2014/main" id="{F7E4471B-4439-F166-9C90-C3689900A393}"/>
              </a:ext>
            </a:extLst>
          </p:cNvPr>
          <p:cNvSpPr>
            <a:spLocks noChangeAspect="1" noChangeArrowheads="1"/>
          </p:cNvSpPr>
          <p:nvPr/>
        </p:nvSpPr>
        <p:spPr bwMode="auto">
          <a:xfrm>
            <a:off x="7731734" y="2567970"/>
            <a:ext cx="3618940" cy="36189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8" name="AutoShape 4">
            <a:extLst>
              <a:ext uri="{FF2B5EF4-FFF2-40B4-BE49-F238E27FC236}">
                <a16:creationId xmlns:a16="http://schemas.microsoft.com/office/drawing/2014/main" id="{47C22E53-91C4-C214-0037-FB8B1CBF4EB6}"/>
              </a:ext>
            </a:extLst>
          </p:cNvPr>
          <p:cNvSpPr>
            <a:spLocks noChangeAspect="1" noChangeArrowheads="1"/>
          </p:cNvSpPr>
          <p:nvPr/>
        </p:nvSpPr>
        <p:spPr bwMode="auto">
          <a:xfrm>
            <a:off x="5943600" y="3276600"/>
            <a:ext cx="3339548" cy="333954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0" name="AutoShape 8">
            <a:extLst>
              <a:ext uri="{FF2B5EF4-FFF2-40B4-BE49-F238E27FC236}">
                <a16:creationId xmlns:a16="http://schemas.microsoft.com/office/drawing/2014/main" id="{1FD3DCD7-6F4E-2A28-6649-2DDFFC9C174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4" name="Rectangle 13"/>
          <p:cNvSpPr/>
          <p:nvPr/>
        </p:nvSpPr>
        <p:spPr>
          <a:xfrm>
            <a:off x="2630" y="101314"/>
            <a:ext cx="12191998" cy="707886"/>
          </a:xfrm>
          <a:prstGeom prst="rect">
            <a:avLst/>
          </a:prstGeom>
        </p:spPr>
        <p:txBody>
          <a:bodyPr wrap="square">
            <a:spAutoFit/>
          </a:bodyPr>
          <a:lstStyle/>
          <a:p>
            <a:pPr algn="ctr"/>
            <a:r>
              <a:rPr lang="en-US" sz="4000" b="1" dirty="0">
                <a:solidFill>
                  <a:srgbClr val="FF0000"/>
                </a:solidFill>
                <a:latin typeface="Times New Roman" pitchFamily="18" charset="0"/>
                <a:cs typeface="Times New Roman" pitchFamily="18" charset="0"/>
              </a:rPr>
              <a:t>PROBLEM STATEMENT</a:t>
            </a:r>
            <a:endParaRPr lang="en-US" sz="4000" b="1" dirty="0">
              <a:solidFill>
                <a:srgbClr val="FF0000"/>
              </a:solidFill>
            </a:endParaRPr>
          </a:p>
        </p:txBody>
      </p:sp>
      <p:sp>
        <p:nvSpPr>
          <p:cNvPr id="2" name="TextBox 1">
            <a:extLst>
              <a:ext uri="{FF2B5EF4-FFF2-40B4-BE49-F238E27FC236}">
                <a16:creationId xmlns:a16="http://schemas.microsoft.com/office/drawing/2014/main" id="{D2C8D700-F1A5-4579-7F71-072A6B0837F1}"/>
              </a:ext>
            </a:extLst>
          </p:cNvPr>
          <p:cNvSpPr txBox="1"/>
          <p:nvPr/>
        </p:nvSpPr>
        <p:spPr>
          <a:xfrm>
            <a:off x="1063349" y="1630590"/>
            <a:ext cx="9906000" cy="2308324"/>
          </a:xfrm>
          <a:prstGeom prst="rect">
            <a:avLst/>
          </a:prstGeom>
          <a:noFill/>
        </p:spPr>
        <p:txBody>
          <a:bodyPr wrap="square" rtlCol="0">
            <a:spAutoFit/>
          </a:bodyPr>
          <a:lstStyle/>
          <a:p>
            <a:r>
              <a:rPr lang="en-US" sz="1800" dirty="0"/>
              <a:t>In many healthcare systems, patients face difficulties in accessing their medical records, booking appointments, and communicating with healthcare providers. The absence of a centralized and user-friendly digital platform leads to delays, data errors, and poor patient engagement. Therefore, there is a need for a secure and efficient healthcare patient portal that provides easy access to personal health information and improves communication between patients and healthcare professionals.</a:t>
            </a:r>
          </a:p>
          <a:p>
            <a:br>
              <a:rPr lang="en-US" sz="1800" b="1" dirty="0"/>
            </a:br>
            <a:endParaRPr lang="en-US" dirty="0"/>
          </a:p>
        </p:txBody>
      </p:sp>
    </p:spTree>
    <p:extLst>
      <p:ext uri="{BB962C8B-B14F-4D97-AF65-F5344CB8AC3E}">
        <p14:creationId xmlns:p14="http://schemas.microsoft.com/office/powerpoint/2010/main" val="266363283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AF937-EC6A-114F-5695-E1A3691F1931}"/>
            </a:ext>
          </a:extLst>
        </p:cNvPr>
        <p:cNvGrpSpPr/>
        <p:nvPr/>
      </p:nvGrpSpPr>
      <p:grpSpPr>
        <a:xfrm>
          <a:off x="0" y="0"/>
          <a:ext cx="0" cy="0"/>
          <a:chOff x="0" y="0"/>
          <a:chExt cx="0" cy="0"/>
        </a:xfrm>
      </p:grpSpPr>
      <p:sp>
        <p:nvSpPr>
          <p:cNvPr id="5" name="Right Triangle 4">
            <a:extLst>
              <a:ext uri="{FF2B5EF4-FFF2-40B4-BE49-F238E27FC236}">
                <a16:creationId xmlns:a16="http://schemas.microsoft.com/office/drawing/2014/main" id="{2D471579-1F13-9992-5E82-A3F1AADDEE0F}"/>
              </a:ext>
            </a:extLst>
          </p:cNvPr>
          <p:cNvSpPr/>
          <p:nvPr/>
        </p:nvSpPr>
        <p:spPr>
          <a:xfrm rot="10800000">
            <a:off x="9813851"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A logo of a tree and book&#10;&#10;Description automatically generated">
            <a:extLst>
              <a:ext uri="{FF2B5EF4-FFF2-40B4-BE49-F238E27FC236}">
                <a16:creationId xmlns:a16="http://schemas.microsoft.com/office/drawing/2014/main" id="{216353D5-BC34-A510-31F5-AAD219D57B3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0980" t="14982" r="10064" b="14301"/>
          <a:stretch/>
        </p:blipFill>
        <p:spPr>
          <a:xfrm>
            <a:off x="10969349" y="8137"/>
            <a:ext cx="1222744" cy="1095155"/>
          </a:xfrm>
          <a:prstGeom prst="rect">
            <a:avLst/>
          </a:prstGeom>
        </p:spPr>
      </p:pic>
      <p:sp>
        <p:nvSpPr>
          <p:cNvPr id="7" name="Rectangle 6">
            <a:extLst>
              <a:ext uri="{FF2B5EF4-FFF2-40B4-BE49-F238E27FC236}">
                <a16:creationId xmlns:a16="http://schemas.microsoft.com/office/drawing/2014/main" id="{0465CF81-7C04-1FEC-0326-7F8F35CE1E73}"/>
              </a:ext>
            </a:extLst>
          </p:cNvPr>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921BBC03-C10E-E750-0AB2-BC4A68FB99A1}"/>
              </a:ext>
            </a:extLst>
          </p:cNvPr>
          <p:cNvSpPr/>
          <p:nvPr/>
        </p:nvSpPr>
        <p:spPr>
          <a:xfrm>
            <a:off x="457476" y="486035"/>
            <a:ext cx="11641491" cy="646331"/>
          </a:xfrm>
          <a:prstGeom prst="rect">
            <a:avLst/>
          </a:prstGeom>
        </p:spPr>
        <p:txBody>
          <a:bodyPr wrap="square">
            <a:spAutoFit/>
          </a:bodyPr>
          <a:lstStyle/>
          <a:p>
            <a:endParaRPr lang="en-US" dirty="0"/>
          </a:p>
          <a:p>
            <a:r>
              <a:rPr lang="en-US" dirty="0"/>
              <a:t> </a:t>
            </a:r>
          </a:p>
        </p:txBody>
      </p:sp>
      <p:sp>
        <p:nvSpPr>
          <p:cNvPr id="3" name="AutoShape 2">
            <a:extLst>
              <a:ext uri="{FF2B5EF4-FFF2-40B4-BE49-F238E27FC236}">
                <a16:creationId xmlns:a16="http://schemas.microsoft.com/office/drawing/2014/main" id="{F7E4471B-4439-F166-9C90-C3689900A393}"/>
              </a:ext>
            </a:extLst>
          </p:cNvPr>
          <p:cNvSpPr>
            <a:spLocks noChangeAspect="1" noChangeArrowheads="1"/>
          </p:cNvSpPr>
          <p:nvPr/>
        </p:nvSpPr>
        <p:spPr bwMode="auto">
          <a:xfrm>
            <a:off x="7731734" y="2567970"/>
            <a:ext cx="3618940" cy="36189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8" name="AutoShape 4">
            <a:extLst>
              <a:ext uri="{FF2B5EF4-FFF2-40B4-BE49-F238E27FC236}">
                <a16:creationId xmlns:a16="http://schemas.microsoft.com/office/drawing/2014/main" id="{47C22E53-91C4-C214-0037-FB8B1CBF4EB6}"/>
              </a:ext>
            </a:extLst>
          </p:cNvPr>
          <p:cNvSpPr>
            <a:spLocks noChangeAspect="1" noChangeArrowheads="1"/>
          </p:cNvSpPr>
          <p:nvPr/>
        </p:nvSpPr>
        <p:spPr bwMode="auto">
          <a:xfrm>
            <a:off x="5943600" y="3276600"/>
            <a:ext cx="3339548" cy="333954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0" name="AutoShape 8">
            <a:extLst>
              <a:ext uri="{FF2B5EF4-FFF2-40B4-BE49-F238E27FC236}">
                <a16:creationId xmlns:a16="http://schemas.microsoft.com/office/drawing/2014/main" id="{1FD3DCD7-6F4E-2A28-6649-2DDFFC9C174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4" name="Rectangle 13"/>
          <p:cNvSpPr/>
          <p:nvPr/>
        </p:nvSpPr>
        <p:spPr>
          <a:xfrm>
            <a:off x="2630" y="101314"/>
            <a:ext cx="12191998" cy="707886"/>
          </a:xfrm>
          <a:prstGeom prst="rect">
            <a:avLst/>
          </a:prstGeom>
        </p:spPr>
        <p:txBody>
          <a:bodyPr wrap="square">
            <a:spAutoFit/>
          </a:bodyPr>
          <a:lstStyle/>
          <a:p>
            <a:pPr algn="ctr"/>
            <a:r>
              <a:rPr lang="en-US" sz="4000" b="1" dirty="0">
                <a:solidFill>
                  <a:srgbClr val="FF0000"/>
                </a:solidFill>
                <a:latin typeface="Times New Roman" pitchFamily="18" charset="0"/>
                <a:cs typeface="Times New Roman" pitchFamily="18" charset="0"/>
              </a:rPr>
              <a:t>OBJECTIVES</a:t>
            </a:r>
            <a:endParaRPr lang="en-US" sz="4000" b="1" dirty="0">
              <a:solidFill>
                <a:srgbClr val="FF0000"/>
              </a:solidFill>
            </a:endParaRPr>
          </a:p>
        </p:txBody>
      </p:sp>
      <p:sp>
        <p:nvSpPr>
          <p:cNvPr id="2" name="Rectangle 1">
            <a:extLst>
              <a:ext uri="{FF2B5EF4-FFF2-40B4-BE49-F238E27FC236}">
                <a16:creationId xmlns:a16="http://schemas.microsoft.com/office/drawing/2014/main" id="{E13F2DC6-7827-D08F-C006-BD0FAF6C92BE}"/>
              </a:ext>
            </a:extLst>
          </p:cNvPr>
          <p:cNvSpPr>
            <a:spLocks noChangeArrowheads="1"/>
          </p:cNvSpPr>
          <p:nvPr/>
        </p:nvSpPr>
        <p:spPr bwMode="auto">
          <a:xfrm>
            <a:off x="685800" y="2012332"/>
            <a:ext cx="1104900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rtl="0"/>
            <a:r>
              <a:rPr lang="en-US" sz="1800" dirty="0"/>
              <a:t>1. To provide patients with secure and convenient access to their personal health information.</a:t>
            </a:r>
          </a:p>
          <a:p>
            <a:r>
              <a:rPr lang="en-US" sz="1800" dirty="0"/>
              <a:t> </a:t>
            </a:r>
          </a:p>
          <a:p>
            <a:r>
              <a:rPr lang="en-US" sz="1800" dirty="0"/>
              <a:t> 2. To improve communication between patients and healthcare providers.</a:t>
            </a:r>
          </a:p>
          <a:p>
            <a:r>
              <a:rPr lang="en-US" sz="1800" dirty="0"/>
              <a:t> </a:t>
            </a:r>
          </a:p>
          <a:p>
            <a:r>
              <a:rPr lang="en-US" sz="1800" dirty="0"/>
              <a:t> 3. To allow online appointment scheduling, billing, and prescription refills.</a:t>
            </a:r>
          </a:p>
          <a:p>
            <a:r>
              <a:rPr lang="en-US" sz="1800" dirty="0"/>
              <a:t> </a:t>
            </a:r>
          </a:p>
          <a:p>
            <a:r>
              <a:rPr lang="en-US" sz="1800" dirty="0"/>
              <a:t> 4. To enhance patient engagement and participation in their own healthcare.</a:t>
            </a:r>
          </a:p>
          <a:p>
            <a:r>
              <a:rPr lang="en-US" sz="1800" dirty="0"/>
              <a:t> </a:t>
            </a:r>
          </a:p>
          <a:p>
            <a:r>
              <a:rPr lang="en-US" sz="1800" dirty="0"/>
              <a:t> 5. To reduce administrative workload and paperwork in hospitals or clinics.</a:t>
            </a:r>
          </a:p>
          <a:p>
            <a:r>
              <a:rPr lang="en-US" sz="1800" dirty="0"/>
              <a:t> </a:t>
            </a:r>
          </a:p>
          <a:p>
            <a:r>
              <a:rPr lang="en-US" sz="1800" dirty="0"/>
              <a:t> 6. To ensure accuracy, privacy, and timely updates of patient data.</a:t>
            </a:r>
          </a:p>
          <a:p>
            <a:r>
              <a:rPr lang="en-US" sz="1800" dirty="0"/>
              <a:t> </a:t>
            </a:r>
          </a:p>
          <a:p>
            <a:r>
              <a:rPr lang="en-US" sz="1800" dirty="0"/>
              <a:t> 7. To support better decision-making through access to electronic health records (EHR).</a:t>
            </a:r>
            <a:endParaRPr kumimoji="0" lang="en-US" altLang="en-US" sz="18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8413714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AF937-EC6A-114F-5695-E1A3691F1931}"/>
            </a:ext>
          </a:extLst>
        </p:cNvPr>
        <p:cNvGrpSpPr/>
        <p:nvPr/>
      </p:nvGrpSpPr>
      <p:grpSpPr>
        <a:xfrm>
          <a:off x="0" y="0"/>
          <a:ext cx="0" cy="0"/>
          <a:chOff x="0" y="0"/>
          <a:chExt cx="0" cy="0"/>
        </a:xfrm>
      </p:grpSpPr>
      <p:sp>
        <p:nvSpPr>
          <p:cNvPr id="5" name="Right Triangle 4">
            <a:extLst>
              <a:ext uri="{FF2B5EF4-FFF2-40B4-BE49-F238E27FC236}">
                <a16:creationId xmlns:a16="http://schemas.microsoft.com/office/drawing/2014/main" id="{2D471579-1F13-9992-5E82-A3F1AADDEE0F}"/>
              </a:ext>
            </a:extLst>
          </p:cNvPr>
          <p:cNvSpPr/>
          <p:nvPr/>
        </p:nvSpPr>
        <p:spPr>
          <a:xfrm rot="10800000">
            <a:off x="9813851"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A logo of a tree and book&#10;&#10;Description automatically generated">
            <a:extLst>
              <a:ext uri="{FF2B5EF4-FFF2-40B4-BE49-F238E27FC236}">
                <a16:creationId xmlns:a16="http://schemas.microsoft.com/office/drawing/2014/main" id="{216353D5-BC34-A510-31F5-AAD219D57B3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0980" t="14982" r="10064" b="14301"/>
          <a:stretch/>
        </p:blipFill>
        <p:spPr>
          <a:xfrm>
            <a:off x="10969349" y="8137"/>
            <a:ext cx="1222744" cy="1095155"/>
          </a:xfrm>
          <a:prstGeom prst="rect">
            <a:avLst/>
          </a:prstGeom>
        </p:spPr>
      </p:pic>
      <p:sp>
        <p:nvSpPr>
          <p:cNvPr id="7" name="Rectangle 6">
            <a:extLst>
              <a:ext uri="{FF2B5EF4-FFF2-40B4-BE49-F238E27FC236}">
                <a16:creationId xmlns:a16="http://schemas.microsoft.com/office/drawing/2014/main" id="{0465CF81-7C04-1FEC-0326-7F8F35CE1E73}"/>
              </a:ext>
            </a:extLst>
          </p:cNvPr>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AutoShape 8">
            <a:extLst>
              <a:ext uri="{FF2B5EF4-FFF2-40B4-BE49-F238E27FC236}">
                <a16:creationId xmlns:a16="http://schemas.microsoft.com/office/drawing/2014/main" id="{1FD3DCD7-6F4E-2A28-6649-2DDFFC9C174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4" name="Rectangle 13"/>
          <p:cNvSpPr/>
          <p:nvPr/>
        </p:nvSpPr>
        <p:spPr>
          <a:xfrm>
            <a:off x="467832" y="101314"/>
            <a:ext cx="11726795" cy="707886"/>
          </a:xfrm>
          <a:prstGeom prst="rect">
            <a:avLst/>
          </a:prstGeom>
        </p:spPr>
        <p:txBody>
          <a:bodyPr wrap="square">
            <a:spAutoFit/>
          </a:bodyPr>
          <a:lstStyle/>
          <a:p>
            <a:pPr algn="ctr"/>
            <a:r>
              <a:rPr lang="en-US" sz="4000" b="1" dirty="0">
                <a:solidFill>
                  <a:srgbClr val="FF0000"/>
                </a:solidFill>
                <a:latin typeface="Times New Roman" pitchFamily="18" charset="0"/>
                <a:cs typeface="Times New Roman" pitchFamily="18" charset="0"/>
              </a:rPr>
              <a:t>SOFTWARE REQUIREMENTS </a:t>
            </a:r>
            <a:endParaRPr lang="en-US" sz="4000" b="1" dirty="0">
              <a:solidFill>
                <a:srgbClr val="FF0000"/>
              </a:solidFill>
            </a:endParaRPr>
          </a:p>
        </p:txBody>
      </p:sp>
      <p:sp>
        <p:nvSpPr>
          <p:cNvPr id="4" name="TextBox 3">
            <a:extLst>
              <a:ext uri="{FF2B5EF4-FFF2-40B4-BE49-F238E27FC236}">
                <a16:creationId xmlns:a16="http://schemas.microsoft.com/office/drawing/2014/main" id="{AFCF9F1B-275E-7AFE-AAB4-241540DB5D3D}"/>
              </a:ext>
            </a:extLst>
          </p:cNvPr>
          <p:cNvSpPr txBox="1"/>
          <p:nvPr/>
        </p:nvSpPr>
        <p:spPr>
          <a:xfrm>
            <a:off x="1447800" y="1770221"/>
            <a:ext cx="6107184" cy="646331"/>
          </a:xfrm>
          <a:prstGeom prst="rect">
            <a:avLst/>
          </a:prstGeom>
          <a:noFill/>
        </p:spPr>
        <p:txBody>
          <a:bodyPr wrap="square">
            <a:spAutoFit/>
          </a:bodyPr>
          <a:lstStyle/>
          <a:p>
            <a:pPr>
              <a:buNone/>
            </a:pPr>
            <a:br>
              <a:rPr lang="en-US" sz="1800" b="1" dirty="0">
                <a:effectLst/>
                <a:latin typeface="Times New Roman" panose="02020603050405020304" pitchFamily="18" charset="0"/>
                <a:ea typeface="Times New Roman" panose="02020603050405020304" pitchFamily="18" charset="0"/>
              </a:rPr>
            </a:br>
            <a:endParaRPr lang="en-US" dirty="0"/>
          </a:p>
        </p:txBody>
      </p:sp>
      <p:sp>
        <p:nvSpPr>
          <p:cNvPr id="3" name="TextBox 2">
            <a:extLst>
              <a:ext uri="{FF2B5EF4-FFF2-40B4-BE49-F238E27FC236}">
                <a16:creationId xmlns:a16="http://schemas.microsoft.com/office/drawing/2014/main" id="{D21D71FF-4186-5877-568E-5303527EED6C}"/>
              </a:ext>
            </a:extLst>
          </p:cNvPr>
          <p:cNvSpPr txBox="1"/>
          <p:nvPr/>
        </p:nvSpPr>
        <p:spPr>
          <a:xfrm>
            <a:off x="1600200" y="1536481"/>
            <a:ext cx="6107184" cy="3635867"/>
          </a:xfrm>
          <a:prstGeom prst="rect">
            <a:avLst/>
          </a:prstGeom>
          <a:noFill/>
        </p:spPr>
        <p:txBody>
          <a:bodyPr wrap="square">
            <a:spAutoFit/>
          </a:bodyPr>
          <a:lstStyle/>
          <a:p>
            <a:pPr marL="285750" lvl="0" indent="-285750" rtl="0">
              <a:lnSpc>
                <a:spcPct val="150000"/>
              </a:lnSpc>
              <a:spcBef>
                <a:spcPts val="300"/>
              </a:spcBef>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rPr>
              <a:t>HTML5 – Structure the voting interface</a:t>
            </a:r>
            <a:endParaRPr lang="en-US" sz="1600" dirty="0">
              <a:latin typeface="Times New Roman" panose="02020603050405020304" pitchFamily="18" charset="0"/>
              <a:ea typeface="Times New Roman" panose="02020603050405020304" pitchFamily="18" charset="0"/>
            </a:endParaRPr>
          </a:p>
          <a:p>
            <a:pPr marL="285750" lvl="0" indent="-285750" rtl="0">
              <a:lnSpc>
                <a:spcPct val="150000"/>
              </a:lnSpc>
              <a:spcBef>
                <a:spcPts val="300"/>
              </a:spcBef>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rPr>
              <a:t>CSS3 – Style the layout with civic-themed visuals</a:t>
            </a:r>
            <a:endParaRPr lang="en-US" sz="1600" dirty="0">
              <a:latin typeface="Times New Roman" panose="02020603050405020304" pitchFamily="18" charset="0"/>
              <a:ea typeface="Times New Roman" panose="02020603050405020304" pitchFamily="18" charset="0"/>
            </a:endParaRPr>
          </a:p>
          <a:p>
            <a:pPr marL="285750" lvl="0" indent="-285750" rtl="0">
              <a:lnSpc>
                <a:spcPct val="150000"/>
              </a:lnSpc>
              <a:spcBef>
                <a:spcPts val="300"/>
              </a:spcBef>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rPr>
              <a:t>JavaScript – Power vote logic and interactivity</a:t>
            </a:r>
            <a:endParaRPr lang="en-US" sz="1600" dirty="0">
              <a:latin typeface="Times New Roman" panose="02020603050405020304" pitchFamily="18" charset="0"/>
              <a:ea typeface="Times New Roman" panose="02020603050405020304" pitchFamily="18" charset="0"/>
            </a:endParaRPr>
          </a:p>
          <a:p>
            <a:pPr marL="285750" lvl="0" indent="-285750" rtl="0">
              <a:lnSpc>
                <a:spcPct val="150000"/>
              </a:lnSpc>
              <a:spcBef>
                <a:spcPts val="300"/>
              </a:spcBef>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rPr>
              <a:t>Canva – Design banners, icons, and UI mockups</a:t>
            </a:r>
            <a:endParaRPr lang="en-US" sz="1600" dirty="0">
              <a:latin typeface="Times New Roman" panose="02020603050405020304" pitchFamily="18" charset="0"/>
              <a:ea typeface="Times New Roman" panose="02020603050405020304" pitchFamily="18" charset="0"/>
            </a:endParaRPr>
          </a:p>
          <a:p>
            <a:pPr marL="285750" lvl="0" indent="-285750" rtl="0">
              <a:lnSpc>
                <a:spcPct val="150000"/>
              </a:lnSpc>
              <a:spcBef>
                <a:spcPts val="300"/>
              </a:spcBef>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rPr>
              <a:t>Visual Studio Code – Code editor for development</a:t>
            </a:r>
            <a:endParaRPr lang="en-US" sz="1600" dirty="0">
              <a:latin typeface="Times New Roman" panose="02020603050405020304" pitchFamily="18" charset="0"/>
              <a:ea typeface="Times New Roman" panose="02020603050405020304" pitchFamily="18" charset="0"/>
            </a:endParaRPr>
          </a:p>
          <a:p>
            <a:pPr marL="285750" lvl="0" indent="-285750" rtl="0">
              <a:lnSpc>
                <a:spcPct val="150000"/>
              </a:lnSpc>
              <a:spcBef>
                <a:spcPts val="300"/>
              </a:spcBef>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rPr>
              <a:t>Live Server – Real-time preview while coding</a:t>
            </a:r>
            <a:endParaRPr lang="en-US" sz="1600" dirty="0">
              <a:latin typeface="Times New Roman" panose="02020603050405020304" pitchFamily="18" charset="0"/>
              <a:ea typeface="Times New Roman" panose="02020603050405020304" pitchFamily="18" charset="0"/>
            </a:endParaRPr>
          </a:p>
          <a:p>
            <a:pPr marL="285750" lvl="0" indent="-285750" rtl="0">
              <a:lnSpc>
                <a:spcPct val="150000"/>
              </a:lnSpc>
              <a:spcBef>
                <a:spcPts val="300"/>
              </a:spcBef>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rPr>
              <a:t>Web Browser – Test and demo the simulation</a:t>
            </a:r>
            <a:endParaRPr lang="en-US" sz="1600" dirty="0">
              <a:latin typeface="Times New Roman" panose="02020603050405020304" pitchFamily="18" charset="0"/>
              <a:ea typeface="Times New Roman" panose="02020603050405020304" pitchFamily="18" charset="0"/>
            </a:endParaRPr>
          </a:p>
          <a:p>
            <a:pPr marL="285750" lvl="0" indent="-285750" rtl="0">
              <a:lnSpc>
                <a:spcPct val="150000"/>
              </a:lnSpc>
              <a:spcBef>
                <a:spcPts val="300"/>
              </a:spcBef>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rPr>
              <a:t>Git &amp; GitHub – Version control and project hosting</a:t>
            </a:r>
            <a:endParaRPr lang="en-US" sz="16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9960740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AF937-EC6A-114F-5695-E1A3691F1931}"/>
            </a:ext>
          </a:extLst>
        </p:cNvPr>
        <p:cNvGrpSpPr/>
        <p:nvPr/>
      </p:nvGrpSpPr>
      <p:grpSpPr>
        <a:xfrm>
          <a:off x="0" y="0"/>
          <a:ext cx="0" cy="0"/>
          <a:chOff x="0" y="0"/>
          <a:chExt cx="0" cy="0"/>
        </a:xfrm>
      </p:grpSpPr>
      <p:sp>
        <p:nvSpPr>
          <p:cNvPr id="5" name="Right Triangle 4">
            <a:extLst>
              <a:ext uri="{FF2B5EF4-FFF2-40B4-BE49-F238E27FC236}">
                <a16:creationId xmlns:a16="http://schemas.microsoft.com/office/drawing/2014/main" id="{2D471579-1F13-9992-5E82-A3F1AADDEE0F}"/>
              </a:ext>
            </a:extLst>
          </p:cNvPr>
          <p:cNvSpPr/>
          <p:nvPr/>
        </p:nvSpPr>
        <p:spPr>
          <a:xfrm rot="10800000">
            <a:off x="9813851"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A logo of a tree and book&#10;&#10;Description automatically generated">
            <a:extLst>
              <a:ext uri="{FF2B5EF4-FFF2-40B4-BE49-F238E27FC236}">
                <a16:creationId xmlns:a16="http://schemas.microsoft.com/office/drawing/2014/main" id="{216353D5-BC34-A510-31F5-AAD219D57B3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0980" t="14982" r="10064" b="14301"/>
          <a:stretch/>
        </p:blipFill>
        <p:spPr>
          <a:xfrm>
            <a:off x="10969349" y="8137"/>
            <a:ext cx="1222744" cy="1095155"/>
          </a:xfrm>
          <a:prstGeom prst="rect">
            <a:avLst/>
          </a:prstGeom>
        </p:spPr>
      </p:pic>
      <p:sp>
        <p:nvSpPr>
          <p:cNvPr id="7" name="Rectangle 6">
            <a:extLst>
              <a:ext uri="{FF2B5EF4-FFF2-40B4-BE49-F238E27FC236}">
                <a16:creationId xmlns:a16="http://schemas.microsoft.com/office/drawing/2014/main" id="{0465CF81-7C04-1FEC-0326-7F8F35CE1E73}"/>
              </a:ext>
            </a:extLst>
          </p:cNvPr>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AutoShape 2">
            <a:extLst>
              <a:ext uri="{FF2B5EF4-FFF2-40B4-BE49-F238E27FC236}">
                <a16:creationId xmlns:a16="http://schemas.microsoft.com/office/drawing/2014/main" id="{F7E4471B-4439-F166-9C90-C3689900A393}"/>
              </a:ext>
            </a:extLst>
          </p:cNvPr>
          <p:cNvSpPr>
            <a:spLocks noChangeAspect="1" noChangeArrowheads="1"/>
          </p:cNvSpPr>
          <p:nvPr/>
        </p:nvSpPr>
        <p:spPr bwMode="auto">
          <a:xfrm>
            <a:off x="7731734" y="2567970"/>
            <a:ext cx="3618940" cy="36189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8" name="AutoShape 4">
            <a:extLst>
              <a:ext uri="{FF2B5EF4-FFF2-40B4-BE49-F238E27FC236}">
                <a16:creationId xmlns:a16="http://schemas.microsoft.com/office/drawing/2014/main" id="{47C22E53-91C4-C214-0037-FB8B1CBF4EB6}"/>
              </a:ext>
            </a:extLst>
          </p:cNvPr>
          <p:cNvSpPr>
            <a:spLocks noChangeAspect="1" noChangeArrowheads="1"/>
          </p:cNvSpPr>
          <p:nvPr/>
        </p:nvSpPr>
        <p:spPr bwMode="auto">
          <a:xfrm>
            <a:off x="5943600" y="3276600"/>
            <a:ext cx="3339548" cy="333954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0" name="AutoShape 8">
            <a:extLst>
              <a:ext uri="{FF2B5EF4-FFF2-40B4-BE49-F238E27FC236}">
                <a16:creationId xmlns:a16="http://schemas.microsoft.com/office/drawing/2014/main" id="{1FD3DCD7-6F4E-2A28-6649-2DDFFC9C174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4" name="Rectangle 13"/>
          <p:cNvSpPr/>
          <p:nvPr/>
        </p:nvSpPr>
        <p:spPr>
          <a:xfrm>
            <a:off x="2630" y="101314"/>
            <a:ext cx="12191998" cy="707886"/>
          </a:xfrm>
          <a:prstGeom prst="rect">
            <a:avLst/>
          </a:prstGeom>
        </p:spPr>
        <p:txBody>
          <a:bodyPr wrap="square">
            <a:spAutoFit/>
          </a:bodyPr>
          <a:lstStyle/>
          <a:p>
            <a:pPr algn="ctr"/>
            <a:r>
              <a:rPr lang="en-US" sz="4000" b="1" dirty="0">
                <a:solidFill>
                  <a:srgbClr val="FF0000"/>
                </a:solidFill>
                <a:latin typeface="Times New Roman" pitchFamily="18" charset="0"/>
                <a:cs typeface="Times New Roman" pitchFamily="18" charset="0"/>
              </a:rPr>
              <a:t>METHODOLOGY</a:t>
            </a:r>
            <a:endParaRPr lang="en-US" sz="4000" b="1" dirty="0">
              <a:solidFill>
                <a:srgbClr val="FF0000"/>
              </a:solidFill>
            </a:endParaRPr>
          </a:p>
        </p:txBody>
      </p:sp>
      <p:pic>
        <p:nvPicPr>
          <p:cNvPr id="4" name="Picture 3">
            <a:extLst>
              <a:ext uri="{FF2B5EF4-FFF2-40B4-BE49-F238E27FC236}">
                <a16:creationId xmlns:a16="http://schemas.microsoft.com/office/drawing/2014/main" id="{444405E3-2E98-45EF-3B28-CE8C55232970}"/>
              </a:ext>
            </a:extLst>
          </p:cNvPr>
          <p:cNvPicPr>
            <a:picLocks noChangeAspect="1"/>
          </p:cNvPicPr>
          <p:nvPr/>
        </p:nvPicPr>
        <p:blipFill>
          <a:blip r:embed="rId3"/>
          <a:stretch>
            <a:fillRect/>
          </a:stretch>
        </p:blipFill>
        <p:spPr>
          <a:xfrm>
            <a:off x="4206240" y="1001058"/>
            <a:ext cx="3779520" cy="5669280"/>
          </a:xfrm>
          <a:prstGeom prst="rect">
            <a:avLst/>
          </a:prstGeom>
        </p:spPr>
      </p:pic>
      <p:sp>
        <p:nvSpPr>
          <p:cNvPr id="9" name="Rectangle 8">
            <a:extLst>
              <a:ext uri="{FF2B5EF4-FFF2-40B4-BE49-F238E27FC236}">
                <a16:creationId xmlns:a16="http://schemas.microsoft.com/office/drawing/2014/main" id="{E201CCD4-3940-7900-E373-68DC71E94AEA}"/>
              </a:ext>
            </a:extLst>
          </p:cNvPr>
          <p:cNvSpPr/>
          <p:nvPr/>
        </p:nvSpPr>
        <p:spPr>
          <a:xfrm>
            <a:off x="3962400" y="914400"/>
            <a:ext cx="4343400" cy="603430"/>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8017245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1172" y="6406222"/>
            <a:ext cx="133985" cy="169545"/>
          </a:xfrm>
          <a:prstGeom prst="rect">
            <a:avLst/>
          </a:prstGeom>
        </p:spPr>
        <p:txBody>
          <a:bodyPr vert="horz" wrap="square" lIns="0" tIns="12065" rIns="0" bIns="0" rtlCol="0">
            <a:spAutoFit/>
          </a:bodyPr>
          <a:lstStyle/>
          <a:p>
            <a:pPr>
              <a:lnSpc>
                <a:spcPct val="100000"/>
              </a:lnSpc>
              <a:spcBef>
                <a:spcPts val="95"/>
              </a:spcBef>
            </a:pPr>
            <a:r>
              <a:rPr sz="950" spc="-55" dirty="0">
                <a:latin typeface="Microsoft JhengHei"/>
                <a:cs typeface="Microsoft JhengHei"/>
              </a:rPr>
              <a:t>12</a:t>
            </a:r>
            <a:endParaRPr sz="950">
              <a:latin typeface="Microsoft JhengHei"/>
              <a:cs typeface="Microsoft JhengHei"/>
            </a:endParaRPr>
          </a:p>
        </p:txBody>
      </p:sp>
      <p:grpSp>
        <p:nvGrpSpPr>
          <p:cNvPr id="3" name="object 3"/>
          <p:cNvGrpSpPr/>
          <p:nvPr/>
        </p:nvGrpSpPr>
        <p:grpSpPr>
          <a:xfrm>
            <a:off x="-7936" y="3002026"/>
            <a:ext cx="12212955" cy="863600"/>
            <a:chOff x="-7936" y="3002026"/>
            <a:chExt cx="12212955" cy="863600"/>
          </a:xfrm>
        </p:grpSpPr>
        <p:sp>
          <p:nvSpPr>
            <p:cNvPr id="4" name="object 4"/>
            <p:cNvSpPr/>
            <p:nvPr/>
          </p:nvSpPr>
          <p:spPr>
            <a:xfrm>
              <a:off x="4763" y="3014726"/>
              <a:ext cx="12187555" cy="838200"/>
            </a:xfrm>
            <a:custGeom>
              <a:avLst/>
              <a:gdLst/>
              <a:ahLst/>
              <a:cxnLst/>
              <a:rect l="l" t="t" r="r" b="b"/>
              <a:pathLst>
                <a:path w="12187555" h="838200">
                  <a:moveTo>
                    <a:pt x="12187236" y="0"/>
                  </a:moveTo>
                  <a:lnTo>
                    <a:pt x="0" y="0"/>
                  </a:lnTo>
                  <a:lnTo>
                    <a:pt x="0" y="838200"/>
                  </a:lnTo>
                  <a:lnTo>
                    <a:pt x="12187236" y="838200"/>
                  </a:lnTo>
                  <a:lnTo>
                    <a:pt x="12187236" y="0"/>
                  </a:lnTo>
                  <a:close/>
                </a:path>
              </a:pathLst>
            </a:custGeom>
            <a:solidFill>
              <a:srgbClr val="622422"/>
            </a:solidFill>
          </p:spPr>
          <p:txBody>
            <a:bodyPr wrap="square" lIns="0" tIns="0" rIns="0" bIns="0" rtlCol="0"/>
            <a:lstStyle/>
            <a:p>
              <a:endParaRPr/>
            </a:p>
          </p:txBody>
        </p:sp>
        <p:sp>
          <p:nvSpPr>
            <p:cNvPr id="5" name="object 5"/>
            <p:cNvSpPr/>
            <p:nvPr/>
          </p:nvSpPr>
          <p:spPr>
            <a:xfrm>
              <a:off x="4763" y="3014726"/>
              <a:ext cx="12187555" cy="838200"/>
            </a:xfrm>
            <a:custGeom>
              <a:avLst/>
              <a:gdLst/>
              <a:ahLst/>
              <a:cxnLst/>
              <a:rect l="l" t="t" r="r" b="b"/>
              <a:pathLst>
                <a:path w="12187555" h="838200">
                  <a:moveTo>
                    <a:pt x="12187236" y="0"/>
                  </a:moveTo>
                  <a:lnTo>
                    <a:pt x="0" y="0"/>
                  </a:lnTo>
                  <a:lnTo>
                    <a:pt x="0" y="838200"/>
                  </a:lnTo>
                  <a:lnTo>
                    <a:pt x="12187236" y="838200"/>
                  </a:lnTo>
                </a:path>
              </a:pathLst>
            </a:custGeom>
            <a:ln w="25400">
              <a:solidFill>
                <a:srgbClr val="622422"/>
              </a:solidFill>
            </a:ln>
          </p:spPr>
          <p:txBody>
            <a:bodyPr wrap="square" lIns="0" tIns="0" rIns="0" bIns="0" rtlCol="0"/>
            <a:lstStyle/>
            <a:p>
              <a:endParaRPr/>
            </a:p>
          </p:txBody>
        </p:sp>
      </p:grpSp>
      <p:sp>
        <p:nvSpPr>
          <p:cNvPr id="6" name="object 6"/>
          <p:cNvSpPr txBox="1">
            <a:spLocks noGrp="1"/>
          </p:cNvSpPr>
          <p:nvPr>
            <p:ph type="title"/>
          </p:nvPr>
        </p:nvSpPr>
        <p:spPr>
          <a:xfrm>
            <a:off x="3990975" y="2971984"/>
            <a:ext cx="4210050" cy="847668"/>
          </a:xfrm>
          <a:prstGeom prst="rect">
            <a:avLst/>
          </a:prstGeom>
        </p:spPr>
        <p:txBody>
          <a:bodyPr vert="horz" wrap="square" lIns="0" tIns="16510" rIns="0" bIns="0" rtlCol="0">
            <a:spAutoFit/>
          </a:bodyPr>
          <a:lstStyle/>
          <a:p>
            <a:pPr marL="12700">
              <a:lnSpc>
                <a:spcPct val="100000"/>
              </a:lnSpc>
              <a:spcBef>
                <a:spcPts val="130"/>
              </a:spcBef>
            </a:pPr>
            <a:r>
              <a:rPr sz="5400" b="0" spc="250" dirty="0">
                <a:solidFill>
                  <a:srgbClr val="C99648"/>
                </a:solidFill>
                <a:latin typeface="Times New Roman" panose="02020603050405020304" pitchFamily="18" charset="0"/>
                <a:cs typeface="Times New Roman" panose="02020603050405020304" pitchFamily="18" charset="0"/>
              </a:rPr>
              <a:t>Thank</a:t>
            </a:r>
            <a:r>
              <a:rPr sz="5400" b="0" spc="125" dirty="0">
                <a:solidFill>
                  <a:srgbClr val="C99648"/>
                </a:solidFill>
                <a:latin typeface="Times New Roman" panose="02020603050405020304" pitchFamily="18" charset="0"/>
                <a:cs typeface="Times New Roman" panose="02020603050405020304" pitchFamily="18" charset="0"/>
              </a:rPr>
              <a:t> </a:t>
            </a:r>
            <a:r>
              <a:rPr sz="5400" b="0" spc="275" dirty="0">
                <a:solidFill>
                  <a:srgbClr val="C99648"/>
                </a:solidFill>
                <a:latin typeface="Times New Roman" panose="02020603050405020304" pitchFamily="18" charset="0"/>
                <a:cs typeface="Times New Roman" panose="02020603050405020304" pitchFamily="18" charset="0"/>
              </a:rPr>
              <a:t>you</a:t>
            </a:r>
            <a:r>
              <a:rPr sz="5400" b="0" spc="110" dirty="0">
                <a:solidFill>
                  <a:srgbClr val="C99648"/>
                </a:solidFill>
                <a:latin typeface="Times New Roman" panose="02020603050405020304" pitchFamily="18" charset="0"/>
                <a:cs typeface="Times New Roman" panose="02020603050405020304" pitchFamily="18" charset="0"/>
              </a:rPr>
              <a:t> </a:t>
            </a:r>
            <a:r>
              <a:rPr sz="5400" b="0" spc="220" dirty="0">
                <a:solidFill>
                  <a:srgbClr val="C99648"/>
                </a:solidFill>
                <a:latin typeface="Times New Roman" panose="02020603050405020304" pitchFamily="18" charset="0"/>
                <a:cs typeface="Times New Roman" panose="02020603050405020304" pitchFamily="18" charset="0"/>
              </a:rPr>
              <a:t>all</a:t>
            </a:r>
            <a:endParaRPr sz="5400" dirty="0">
              <a:latin typeface="Times New Roman" panose="02020603050405020304" pitchFamily="18" charset="0"/>
              <a:cs typeface="Times New Roman" panose="02020603050405020304" pitchFamily="18" charset="0"/>
            </a:endParaRPr>
          </a:p>
        </p:txBody>
      </p:sp>
      <p:grpSp>
        <p:nvGrpSpPr>
          <p:cNvPr id="7" name="object 7"/>
          <p:cNvGrpSpPr/>
          <p:nvPr/>
        </p:nvGrpSpPr>
        <p:grpSpPr>
          <a:xfrm>
            <a:off x="-7936" y="-12700"/>
            <a:ext cx="12212955" cy="6870700"/>
            <a:chOff x="-7936" y="-12700"/>
            <a:chExt cx="12212955" cy="6870700"/>
          </a:xfrm>
        </p:grpSpPr>
        <p:sp>
          <p:nvSpPr>
            <p:cNvPr id="8" name="object 8"/>
            <p:cNvSpPr/>
            <p:nvPr/>
          </p:nvSpPr>
          <p:spPr>
            <a:xfrm>
              <a:off x="4763" y="0"/>
              <a:ext cx="628650" cy="6858000"/>
            </a:xfrm>
            <a:custGeom>
              <a:avLst/>
              <a:gdLst/>
              <a:ahLst/>
              <a:cxnLst/>
              <a:rect l="l" t="t" r="r" b="b"/>
              <a:pathLst>
                <a:path w="628650" h="6858000">
                  <a:moveTo>
                    <a:pt x="0" y="6857997"/>
                  </a:moveTo>
                  <a:lnTo>
                    <a:pt x="628650" y="6857997"/>
                  </a:lnTo>
                  <a:lnTo>
                    <a:pt x="628650" y="0"/>
                  </a:lnTo>
                  <a:lnTo>
                    <a:pt x="0" y="0"/>
                  </a:lnTo>
                  <a:lnTo>
                    <a:pt x="0" y="6857997"/>
                  </a:lnTo>
                  <a:close/>
                </a:path>
              </a:pathLst>
            </a:custGeom>
            <a:solidFill>
              <a:srgbClr val="622422"/>
            </a:solidFill>
          </p:spPr>
          <p:txBody>
            <a:bodyPr wrap="square" lIns="0" tIns="0" rIns="0" bIns="0" rtlCol="0"/>
            <a:lstStyle/>
            <a:p>
              <a:endParaRPr/>
            </a:p>
          </p:txBody>
        </p:sp>
        <p:sp>
          <p:nvSpPr>
            <p:cNvPr id="9" name="object 9"/>
            <p:cNvSpPr/>
            <p:nvPr/>
          </p:nvSpPr>
          <p:spPr>
            <a:xfrm>
              <a:off x="4763" y="0"/>
              <a:ext cx="628650" cy="6858000"/>
            </a:xfrm>
            <a:custGeom>
              <a:avLst/>
              <a:gdLst/>
              <a:ahLst/>
              <a:cxnLst/>
              <a:rect l="l" t="t" r="r" b="b"/>
              <a:pathLst>
                <a:path w="628650" h="6858000">
                  <a:moveTo>
                    <a:pt x="628650" y="6857997"/>
                  </a:moveTo>
                  <a:lnTo>
                    <a:pt x="628650" y="0"/>
                  </a:lnTo>
                </a:path>
                <a:path w="628650" h="6858000">
                  <a:moveTo>
                    <a:pt x="0" y="0"/>
                  </a:moveTo>
                  <a:lnTo>
                    <a:pt x="0" y="6857997"/>
                  </a:lnTo>
                </a:path>
              </a:pathLst>
            </a:custGeom>
            <a:ln w="25400">
              <a:solidFill>
                <a:srgbClr val="622422"/>
              </a:solidFill>
            </a:ln>
          </p:spPr>
          <p:txBody>
            <a:bodyPr wrap="square" lIns="0" tIns="0" rIns="0" bIns="0" rtlCol="0"/>
            <a:lstStyle/>
            <a:p>
              <a:endParaRPr/>
            </a:p>
          </p:txBody>
        </p:sp>
        <p:sp>
          <p:nvSpPr>
            <p:cNvPr id="10" name="object 10"/>
            <p:cNvSpPr/>
            <p:nvPr/>
          </p:nvSpPr>
          <p:spPr>
            <a:xfrm>
              <a:off x="9839261" y="0"/>
              <a:ext cx="2353310" cy="2371725"/>
            </a:xfrm>
            <a:custGeom>
              <a:avLst/>
              <a:gdLst/>
              <a:ahLst/>
              <a:cxnLst/>
              <a:rect l="l" t="t" r="r" b="b"/>
              <a:pathLst>
                <a:path w="2353309" h="2371725">
                  <a:moveTo>
                    <a:pt x="2352738" y="0"/>
                  </a:moveTo>
                  <a:lnTo>
                    <a:pt x="0" y="0"/>
                  </a:lnTo>
                  <a:lnTo>
                    <a:pt x="2352738" y="2371686"/>
                  </a:lnTo>
                  <a:lnTo>
                    <a:pt x="2352738" y="0"/>
                  </a:lnTo>
                  <a:close/>
                </a:path>
              </a:pathLst>
            </a:custGeom>
            <a:solidFill>
              <a:srgbClr val="5B1F1F"/>
            </a:solidFill>
          </p:spPr>
          <p:txBody>
            <a:bodyPr wrap="square" lIns="0" tIns="0" rIns="0" bIns="0" rtlCol="0"/>
            <a:lstStyle/>
            <a:p>
              <a:endParaRPr/>
            </a:p>
          </p:txBody>
        </p:sp>
        <p:sp>
          <p:nvSpPr>
            <p:cNvPr id="11" name="object 11"/>
            <p:cNvSpPr/>
            <p:nvPr/>
          </p:nvSpPr>
          <p:spPr>
            <a:xfrm>
              <a:off x="9839261" y="0"/>
              <a:ext cx="2353310" cy="2371725"/>
            </a:xfrm>
            <a:custGeom>
              <a:avLst/>
              <a:gdLst/>
              <a:ahLst/>
              <a:cxnLst/>
              <a:rect l="l" t="t" r="r" b="b"/>
              <a:pathLst>
                <a:path w="2353309" h="2371725">
                  <a:moveTo>
                    <a:pt x="2352738" y="2371686"/>
                  </a:moveTo>
                  <a:lnTo>
                    <a:pt x="0" y="0"/>
                  </a:lnTo>
                </a:path>
              </a:pathLst>
            </a:custGeom>
            <a:ln w="25400">
              <a:solidFill>
                <a:srgbClr val="1C334E"/>
              </a:solidFill>
            </a:ln>
          </p:spPr>
          <p:txBody>
            <a:bodyPr wrap="square" lIns="0" tIns="0" rIns="0" bIns="0" rtlCol="0"/>
            <a:lstStyle/>
            <a:p>
              <a:endParaRPr/>
            </a:p>
          </p:txBody>
        </p:sp>
        <p:pic>
          <p:nvPicPr>
            <p:cNvPr id="12" name="object 12"/>
            <p:cNvPicPr/>
            <p:nvPr/>
          </p:nvPicPr>
          <p:blipFill>
            <a:blip r:embed="rId2" cstate="print"/>
            <a:stretch>
              <a:fillRect/>
            </a:stretch>
          </p:blipFill>
          <p:spPr>
            <a:xfrm>
              <a:off x="11048999" y="28575"/>
              <a:ext cx="1143000" cy="1190625"/>
            </a:xfrm>
            <a:prstGeom prst="rect">
              <a:avLst/>
            </a:prstGeom>
          </p:spPr>
        </p:pic>
      </p:grpSp>
      <p:sp>
        <p:nvSpPr>
          <p:cNvPr id="13" name="object 13"/>
          <p:cNvSpPr txBox="1">
            <a:spLocks noGrp="1"/>
          </p:cNvSpPr>
          <p:nvPr>
            <p:ph type="ftr" sz="quarter" idx="5"/>
          </p:nvPr>
        </p:nvSpPr>
        <p:spPr>
          <a:prstGeom prst="rect">
            <a:avLst/>
          </a:prstGeom>
        </p:spPr>
        <p:txBody>
          <a:bodyPr vert="horz" wrap="square" lIns="0" tIns="0" rIns="0" bIns="0" rtlCol="0">
            <a:spAutoFit/>
          </a:bodyPr>
          <a:lstStyle/>
          <a:p>
            <a:pPr marL="546100">
              <a:lnSpc>
                <a:spcPts val="2115"/>
              </a:lnSpc>
            </a:pPr>
            <a:r>
              <a:rPr dirty="0"/>
              <a:t>Faculty</a:t>
            </a:r>
            <a:r>
              <a:rPr spc="15" dirty="0"/>
              <a:t> </a:t>
            </a:r>
            <a:r>
              <a:rPr dirty="0"/>
              <a:t>of</a:t>
            </a:r>
            <a:r>
              <a:rPr spc="245" dirty="0"/>
              <a:t> </a:t>
            </a:r>
            <a:r>
              <a:rPr spc="-10" dirty="0"/>
              <a:t>Engineering</a:t>
            </a:r>
            <a:r>
              <a:rPr spc="30" dirty="0"/>
              <a:t> </a:t>
            </a:r>
            <a:r>
              <a:rPr dirty="0"/>
              <a:t>and</a:t>
            </a:r>
            <a:r>
              <a:rPr spc="-35" dirty="0"/>
              <a:t> </a:t>
            </a:r>
            <a:r>
              <a:rPr spc="-10" dirty="0"/>
              <a:t>Technology</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410</TotalTime>
  <Words>596</Words>
  <Application>Microsoft Office PowerPoint</Application>
  <PresentationFormat>Widescreen</PresentationFormat>
  <Paragraphs>85</Paragraphs>
  <Slides>9</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Microsoft JhengHei</vt:lpstr>
      <vt:lpstr>Aptos</vt:lpstr>
      <vt:lpstr>Arial</vt:lpstr>
      <vt:lpstr>Calibri</vt:lpstr>
      <vt:lpstr>Cambria</vt:lpstr>
      <vt:lpstr>Times New Roman</vt:lpstr>
      <vt:lpstr>Verdana</vt:lpstr>
      <vt:lpstr>Office Theme</vt:lpstr>
      <vt:lpstr>GM UNIVERSITY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all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 UNIVERSITY</dc:title>
  <dc:creator>keerthana r</dc:creator>
  <cp:lastModifiedBy>Imran Hashmi</cp:lastModifiedBy>
  <cp:revision>20</cp:revision>
  <dcterms:created xsi:type="dcterms:W3CDTF">2025-04-12T03:51:56Z</dcterms:created>
  <dcterms:modified xsi:type="dcterms:W3CDTF">2025-11-04T18:20:29Z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2025-03-24T00:00:00Z</vt:filetime>
  </property>
  <property fmtid="{D5CDD505-2E9C-101B-9397-08002B2CF9AE}" pid="3" name="LastSaved">
    <vt:filetime>2025-04-12T00:00:00Z</vt:filetime>
  </property>
</Properties>
</file>