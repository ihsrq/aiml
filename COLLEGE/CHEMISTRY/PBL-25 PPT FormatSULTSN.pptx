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268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7C7389-6BC3-4E8C-9234-0B5405BAA1FD}" v="1" dt="2025-04-15T05:09:47.7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276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99648"/>
                </a:solidFill>
                <a:latin typeface="Cambria"/>
                <a:cs typeface="Cambria"/>
              </a:defRPr>
            </a:lvl1pPr>
          </a:lstStyle>
          <a:p>
            <a:pPr marL="841375">
              <a:lnSpc>
                <a:spcPts val="2115"/>
              </a:lnSpc>
            </a:pPr>
            <a:r>
              <a:rPr dirty="0"/>
              <a:t>Faculty</a:t>
            </a:r>
            <a:r>
              <a:rPr spc="1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99648"/>
                </a:solidFill>
                <a:latin typeface="Cambria"/>
                <a:cs typeface="Cambria"/>
              </a:defRPr>
            </a:lvl1pPr>
          </a:lstStyle>
          <a:p>
            <a:pPr marL="841375">
              <a:lnSpc>
                <a:spcPts val="2115"/>
              </a:lnSpc>
            </a:pPr>
            <a:r>
              <a:rPr dirty="0"/>
              <a:t>Faculty</a:t>
            </a:r>
            <a:r>
              <a:rPr spc="1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99648"/>
                </a:solidFill>
                <a:latin typeface="Cambria"/>
                <a:cs typeface="Cambria"/>
              </a:defRPr>
            </a:lvl1pPr>
          </a:lstStyle>
          <a:p>
            <a:pPr marL="841375">
              <a:lnSpc>
                <a:spcPts val="2115"/>
              </a:lnSpc>
            </a:pPr>
            <a:r>
              <a:rPr dirty="0"/>
              <a:t>Faculty</a:t>
            </a:r>
            <a:r>
              <a:rPr spc="1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99648"/>
                </a:solidFill>
                <a:latin typeface="Cambria"/>
                <a:cs typeface="Cambria"/>
              </a:defRPr>
            </a:lvl1pPr>
          </a:lstStyle>
          <a:p>
            <a:pPr marL="841375">
              <a:lnSpc>
                <a:spcPts val="2115"/>
              </a:lnSpc>
            </a:pPr>
            <a:r>
              <a:rPr dirty="0"/>
              <a:t>Faculty</a:t>
            </a:r>
            <a:r>
              <a:rPr spc="1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8353" y="159060"/>
            <a:ext cx="11792585" cy="6464935"/>
          </a:xfrm>
          <a:custGeom>
            <a:avLst/>
            <a:gdLst/>
            <a:ahLst/>
            <a:cxnLst/>
            <a:rect l="l" t="t" r="r" b="b"/>
            <a:pathLst>
              <a:path w="11792585" h="6464934">
                <a:moveTo>
                  <a:pt x="11791976" y="0"/>
                </a:moveTo>
                <a:lnTo>
                  <a:pt x="0" y="0"/>
                </a:lnTo>
                <a:lnTo>
                  <a:pt x="0" y="6464518"/>
                </a:lnTo>
                <a:lnTo>
                  <a:pt x="11791977" y="6464518"/>
                </a:lnTo>
                <a:lnTo>
                  <a:pt x="11791977" y="6445655"/>
                </a:lnTo>
                <a:lnTo>
                  <a:pt x="38466" y="6445655"/>
                </a:lnTo>
                <a:lnTo>
                  <a:pt x="19232" y="6426793"/>
                </a:lnTo>
                <a:lnTo>
                  <a:pt x="38466" y="6426793"/>
                </a:lnTo>
                <a:lnTo>
                  <a:pt x="38466" y="37730"/>
                </a:lnTo>
                <a:lnTo>
                  <a:pt x="19232" y="37730"/>
                </a:lnTo>
                <a:lnTo>
                  <a:pt x="38466" y="18949"/>
                </a:lnTo>
                <a:lnTo>
                  <a:pt x="11791976" y="18949"/>
                </a:lnTo>
                <a:lnTo>
                  <a:pt x="11791976" y="0"/>
                </a:lnTo>
                <a:close/>
              </a:path>
              <a:path w="11792585" h="6464934">
                <a:moveTo>
                  <a:pt x="38466" y="6426793"/>
                </a:moveTo>
                <a:lnTo>
                  <a:pt x="19232" y="6426793"/>
                </a:lnTo>
                <a:lnTo>
                  <a:pt x="38466" y="6445655"/>
                </a:lnTo>
                <a:lnTo>
                  <a:pt x="38466" y="6426793"/>
                </a:lnTo>
                <a:close/>
              </a:path>
              <a:path w="11792585" h="6464934">
                <a:moveTo>
                  <a:pt x="11753505" y="6426793"/>
                </a:moveTo>
                <a:lnTo>
                  <a:pt x="38466" y="6426793"/>
                </a:lnTo>
                <a:lnTo>
                  <a:pt x="38466" y="6445655"/>
                </a:lnTo>
                <a:lnTo>
                  <a:pt x="11753505" y="6445655"/>
                </a:lnTo>
                <a:lnTo>
                  <a:pt x="11753505" y="6426793"/>
                </a:lnTo>
                <a:close/>
              </a:path>
              <a:path w="11792585" h="6464934">
                <a:moveTo>
                  <a:pt x="11753505" y="18949"/>
                </a:moveTo>
                <a:lnTo>
                  <a:pt x="11753505" y="6445655"/>
                </a:lnTo>
                <a:lnTo>
                  <a:pt x="11772826" y="6426793"/>
                </a:lnTo>
                <a:lnTo>
                  <a:pt x="11791977" y="6426793"/>
                </a:lnTo>
                <a:lnTo>
                  <a:pt x="11791976" y="37730"/>
                </a:lnTo>
                <a:lnTo>
                  <a:pt x="11772826" y="37730"/>
                </a:lnTo>
                <a:lnTo>
                  <a:pt x="11753505" y="18949"/>
                </a:lnTo>
                <a:close/>
              </a:path>
              <a:path w="11792585" h="6464934">
                <a:moveTo>
                  <a:pt x="11791977" y="6426793"/>
                </a:moveTo>
                <a:lnTo>
                  <a:pt x="11772826" y="6426793"/>
                </a:lnTo>
                <a:lnTo>
                  <a:pt x="11753505" y="6445655"/>
                </a:lnTo>
                <a:lnTo>
                  <a:pt x="11791977" y="6445655"/>
                </a:lnTo>
                <a:lnTo>
                  <a:pt x="11791977" y="6426793"/>
                </a:lnTo>
                <a:close/>
              </a:path>
              <a:path w="11792585" h="6464934">
                <a:moveTo>
                  <a:pt x="38466" y="18949"/>
                </a:moveTo>
                <a:lnTo>
                  <a:pt x="19232" y="37730"/>
                </a:lnTo>
                <a:lnTo>
                  <a:pt x="38466" y="37730"/>
                </a:lnTo>
                <a:lnTo>
                  <a:pt x="38466" y="18949"/>
                </a:lnTo>
                <a:close/>
              </a:path>
              <a:path w="11792585" h="6464934">
                <a:moveTo>
                  <a:pt x="11753505" y="18949"/>
                </a:moveTo>
                <a:lnTo>
                  <a:pt x="38466" y="18949"/>
                </a:lnTo>
                <a:lnTo>
                  <a:pt x="38466" y="37730"/>
                </a:lnTo>
                <a:lnTo>
                  <a:pt x="11753505" y="37730"/>
                </a:lnTo>
                <a:lnTo>
                  <a:pt x="11753505" y="18949"/>
                </a:lnTo>
                <a:close/>
              </a:path>
              <a:path w="11792585" h="6464934">
                <a:moveTo>
                  <a:pt x="11791976" y="18949"/>
                </a:moveTo>
                <a:lnTo>
                  <a:pt x="11753505" y="18949"/>
                </a:lnTo>
                <a:lnTo>
                  <a:pt x="11772826" y="37730"/>
                </a:lnTo>
                <a:lnTo>
                  <a:pt x="11791976" y="37730"/>
                </a:lnTo>
                <a:lnTo>
                  <a:pt x="11791976" y="189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99648"/>
                </a:solidFill>
                <a:latin typeface="Cambria"/>
                <a:cs typeface="Cambria"/>
              </a:defRPr>
            </a:lvl1pPr>
          </a:lstStyle>
          <a:p>
            <a:pPr marL="841375">
              <a:lnSpc>
                <a:spcPts val="2115"/>
              </a:lnSpc>
            </a:pPr>
            <a:r>
              <a:rPr dirty="0"/>
              <a:t>Faculty</a:t>
            </a:r>
            <a:r>
              <a:rPr spc="1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6244" y="235330"/>
            <a:ext cx="8965565" cy="747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3321" y="1212850"/>
            <a:ext cx="9641205" cy="408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44315" y="6512511"/>
            <a:ext cx="4651375" cy="416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C99648"/>
                </a:solidFill>
                <a:latin typeface="Cambria"/>
                <a:cs typeface="Cambria"/>
              </a:defRPr>
            </a:lvl1pPr>
          </a:lstStyle>
          <a:p>
            <a:pPr marL="841375">
              <a:lnSpc>
                <a:spcPts val="2115"/>
              </a:lnSpc>
            </a:pPr>
            <a:r>
              <a:rPr dirty="0"/>
              <a:t>Faculty</a:t>
            </a:r>
            <a:r>
              <a:rPr spc="1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2962" y="-475675"/>
            <a:ext cx="12197081" cy="5715001"/>
          </a:xfrm>
          <a:custGeom>
            <a:avLst/>
            <a:gdLst/>
            <a:ahLst/>
            <a:cxnLst/>
            <a:rect l="l" t="t" r="r" b="b"/>
            <a:pathLst>
              <a:path w="12192000" h="5739130">
                <a:moveTo>
                  <a:pt x="0" y="5738748"/>
                </a:moveTo>
                <a:lnTo>
                  <a:pt x="12192000" y="5738748"/>
                </a:lnTo>
                <a:lnTo>
                  <a:pt x="12192000" y="0"/>
                </a:lnTo>
                <a:lnTo>
                  <a:pt x="0" y="0"/>
                </a:lnTo>
                <a:lnTo>
                  <a:pt x="0" y="5738748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5080"/>
          </a:xfrm>
          <a:custGeom>
            <a:avLst/>
            <a:gdLst/>
            <a:ahLst/>
            <a:cxnLst/>
            <a:rect l="l" t="t" r="r" b="b"/>
            <a:pathLst>
              <a:path w="12192000" h="5080">
                <a:moveTo>
                  <a:pt x="0" y="4826"/>
                </a:moveTo>
                <a:lnTo>
                  <a:pt x="12192000" y="4826"/>
                </a:lnTo>
                <a:lnTo>
                  <a:pt x="12192000" y="0"/>
                </a:lnTo>
                <a:lnTo>
                  <a:pt x="0" y="0"/>
                </a:lnTo>
                <a:lnTo>
                  <a:pt x="0" y="4826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1172" y="5558234"/>
            <a:ext cx="2450465" cy="101726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50"/>
              </a:spcBef>
            </a:pPr>
            <a:r>
              <a:rPr sz="950" spc="-80" dirty="0">
                <a:latin typeface="Verdana"/>
                <a:cs typeface="Verdana"/>
              </a:rPr>
              <a:t>B.E,</a:t>
            </a:r>
            <a:r>
              <a:rPr sz="950" spc="-120" dirty="0">
                <a:latin typeface="Verdana"/>
                <a:cs typeface="Verdana"/>
              </a:rPr>
              <a:t> </a:t>
            </a:r>
            <a:r>
              <a:rPr sz="950" spc="-10" dirty="0">
                <a:latin typeface="Verdana"/>
                <a:cs typeface="Verdana"/>
              </a:rPr>
              <a:t>M.Tech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950" spc="-50" dirty="0">
                <a:latin typeface="Microsoft JhengHei"/>
                <a:cs typeface="Microsoft JhengHei"/>
              </a:rPr>
              <a:t>1</a:t>
            </a:r>
            <a:endParaRPr sz="950">
              <a:latin typeface="Microsoft JhengHei"/>
              <a:cs typeface="Microsoft JhengHe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7936" y="-7874"/>
            <a:ext cx="12212955" cy="6866255"/>
            <a:chOff x="-7936" y="-7874"/>
            <a:chExt cx="12212955" cy="6866255"/>
          </a:xfrm>
        </p:grpSpPr>
        <p:sp>
          <p:nvSpPr>
            <p:cNvPr id="6" name="object 6"/>
            <p:cNvSpPr/>
            <p:nvPr/>
          </p:nvSpPr>
          <p:spPr>
            <a:xfrm>
              <a:off x="4763" y="4825"/>
              <a:ext cx="12187555" cy="1114425"/>
            </a:xfrm>
            <a:custGeom>
              <a:avLst/>
              <a:gdLst/>
              <a:ahLst/>
              <a:cxnLst/>
              <a:rect l="l" t="t" r="r" b="b"/>
              <a:pathLst>
                <a:path w="12187555" h="1114425">
                  <a:moveTo>
                    <a:pt x="12187236" y="0"/>
                  </a:moveTo>
                  <a:lnTo>
                    <a:pt x="0" y="0"/>
                  </a:lnTo>
                  <a:lnTo>
                    <a:pt x="0" y="1114425"/>
                  </a:lnTo>
                  <a:lnTo>
                    <a:pt x="12187236" y="1114425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5B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63" y="4825"/>
              <a:ext cx="12187555" cy="1114425"/>
            </a:xfrm>
            <a:custGeom>
              <a:avLst/>
              <a:gdLst/>
              <a:ahLst/>
              <a:cxnLst/>
              <a:rect l="l" t="t" r="r" b="b"/>
              <a:pathLst>
                <a:path w="12187555" h="1114425">
                  <a:moveTo>
                    <a:pt x="12187236" y="0"/>
                  </a:moveTo>
                  <a:lnTo>
                    <a:pt x="0" y="0"/>
                  </a:lnTo>
                  <a:lnTo>
                    <a:pt x="0" y="1114425"/>
                  </a:lnTo>
                  <a:lnTo>
                    <a:pt x="12187236" y="1114425"/>
                  </a:lnTo>
                </a:path>
              </a:pathLst>
            </a:custGeom>
            <a:ln w="25400">
              <a:solidFill>
                <a:srgbClr val="6224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599" y="0"/>
              <a:ext cx="1295400" cy="11144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42999"/>
              <a:ext cx="4000499" cy="571499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883150" y="85343"/>
            <a:ext cx="361886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0" dirty="0">
                <a:solidFill>
                  <a:srgbClr val="FFC000"/>
                </a:solidFill>
                <a:latin typeface="Times New Roman"/>
                <a:cs typeface="Times New Roman"/>
              </a:rPr>
              <a:t>GM</a:t>
            </a:r>
            <a:r>
              <a:rPr sz="3600" b="0" spc="-10" dirty="0">
                <a:solidFill>
                  <a:srgbClr val="FFC000"/>
                </a:solidFill>
                <a:latin typeface="Times New Roman"/>
                <a:cs typeface="Times New Roman"/>
              </a:rPr>
              <a:t> UNIVERSITY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3441" y="110580"/>
            <a:ext cx="6311900" cy="3323346"/>
          </a:xfrm>
          <a:prstGeom prst="rect">
            <a:avLst/>
          </a:prstGeom>
        </p:spPr>
        <p:txBody>
          <a:bodyPr vert="horz" wrap="square" lIns="0" tIns="266065" rIns="0" bIns="0" rtlCol="0">
            <a:spAutoFit/>
          </a:bodyPr>
          <a:lstStyle/>
          <a:p>
            <a:pPr marL="946785">
              <a:lnSpc>
                <a:spcPct val="100000"/>
              </a:lnSpc>
              <a:spcBef>
                <a:spcPts val="2095"/>
              </a:spcBef>
            </a:pPr>
            <a:endParaRPr lang="en-IN" sz="2750" dirty="0">
              <a:latin typeface="Cambria"/>
              <a:cs typeface="Cambria"/>
            </a:endParaRPr>
          </a:p>
          <a:p>
            <a:pPr marL="1108075">
              <a:lnSpc>
                <a:spcPct val="100000"/>
              </a:lnSpc>
              <a:spcBef>
                <a:spcPts val="2850"/>
              </a:spcBef>
            </a:pPr>
            <a:r>
              <a:rPr lang="en-IN" sz="3200" b="1" dirty="0">
                <a:latin typeface="Times New Roman"/>
                <a:cs typeface="Times New Roman"/>
              </a:rPr>
              <a:t> PBL</a:t>
            </a:r>
            <a:r>
              <a:rPr lang="en-IN" sz="3200" b="1" spc="-165" dirty="0">
                <a:latin typeface="Times New Roman"/>
                <a:cs typeface="Times New Roman"/>
              </a:rPr>
              <a:t> </a:t>
            </a:r>
            <a:r>
              <a:rPr lang="en-IN" sz="3200" b="1" dirty="0">
                <a:latin typeface="Times New Roman"/>
                <a:cs typeface="Times New Roman"/>
              </a:rPr>
              <a:t>PRESENTATION  ON</a:t>
            </a:r>
            <a:endParaRPr lang="en-IN" sz="3200" dirty="0">
              <a:latin typeface="Times New Roman"/>
              <a:cs typeface="Times New Roman"/>
            </a:endParaRPr>
          </a:p>
          <a:p>
            <a:pPr marL="704850" marR="5080" indent="-692785" algn="ctr">
              <a:lnSpc>
                <a:spcPct val="100000"/>
              </a:lnSpc>
              <a:spcBef>
                <a:spcPts val="65"/>
              </a:spcBef>
            </a:pPr>
            <a:r>
              <a:rPr lang="en-IN" sz="2750" dirty="0">
                <a:solidFill>
                  <a:srgbClr val="FF0000"/>
                </a:solidFill>
                <a:latin typeface="Times New Roman"/>
                <a:cs typeface="Times New Roman"/>
              </a:rPr>
              <a:t>            “TITLE OF THE PROJECT”</a:t>
            </a:r>
          </a:p>
          <a:p>
            <a:pPr marL="704850" marR="5080" indent="-692785" algn="ctr">
              <a:lnSpc>
                <a:spcPct val="100000"/>
              </a:lnSpc>
              <a:spcBef>
                <a:spcPts val="65"/>
              </a:spcBef>
            </a:pPr>
            <a:r>
              <a:rPr lang="en-IN" sz="2750" dirty="0">
                <a:solidFill>
                  <a:srgbClr val="FF0000"/>
                </a:solidFill>
                <a:latin typeface="Times New Roman"/>
                <a:cs typeface="Times New Roman"/>
              </a:rPr>
              <a:t>          </a:t>
            </a:r>
            <a:r>
              <a:rPr lang="en-IN" sz="2750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TRAVEL PLANNING APLICATION</a:t>
            </a:r>
          </a:p>
          <a:p>
            <a:pPr marL="2700655">
              <a:lnSpc>
                <a:spcPct val="100000"/>
              </a:lnSpc>
              <a:spcBef>
                <a:spcPts val="844"/>
              </a:spcBef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Presented</a:t>
            </a:r>
            <a:r>
              <a:rPr sz="2400" b="1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by,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58046" y="3461536"/>
            <a:ext cx="4899015" cy="1575431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945"/>
              </a:spcBef>
              <a:buAutoNum type="arabicPeriod"/>
              <a:tabLst>
                <a:tab pos="22860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NAME :- MOHAMMAD SULTAN MOMIN</a:t>
            </a:r>
          </a:p>
          <a:p>
            <a:pPr marL="228600" indent="-215900">
              <a:lnSpc>
                <a:spcPct val="100000"/>
              </a:lnSpc>
              <a:spcBef>
                <a:spcPts val="945"/>
              </a:spcBef>
              <a:buAutoNum type="arabicPeriod"/>
              <a:tabLst>
                <a:tab pos="228600" algn="l"/>
              </a:tabLst>
            </a:pPr>
            <a:r>
              <a:rPr lang="en-US" dirty="0">
                <a:latin typeface="Times New Roman"/>
                <a:cs typeface="Times New Roman"/>
              </a:rPr>
              <a:t>NAME :- NOOTAN KUMAR K</a:t>
            </a:r>
          </a:p>
          <a:p>
            <a:pPr marL="228600" indent="-215900">
              <a:lnSpc>
                <a:spcPct val="100000"/>
              </a:lnSpc>
              <a:spcBef>
                <a:spcPts val="945"/>
              </a:spcBef>
              <a:buAutoNum type="arabicPeriod"/>
              <a:tabLst>
                <a:tab pos="22860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NAME :- ROSHAN D N </a:t>
            </a:r>
          </a:p>
          <a:p>
            <a:pPr marL="228600" indent="-215900">
              <a:lnSpc>
                <a:spcPct val="100000"/>
              </a:lnSpc>
              <a:spcBef>
                <a:spcPts val="945"/>
              </a:spcBef>
              <a:buAutoNum type="arabicPeriod"/>
              <a:tabLst>
                <a:tab pos="228600" algn="l"/>
              </a:tabLst>
            </a:pPr>
            <a:r>
              <a:rPr lang="en-US" dirty="0">
                <a:latin typeface="Times New Roman"/>
                <a:cs typeface="Times New Roman"/>
              </a:rPr>
              <a:t>NAME :- MOHINUDDIN HASSAN 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46272" y="3429000"/>
            <a:ext cx="2645728" cy="154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indent="-22860" algn="just">
              <a:lnSpc>
                <a:spcPct val="1391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[U</a:t>
            </a:r>
            <a:r>
              <a:rPr lang="en-US" sz="1800" spc="-10" dirty="0">
                <a:latin typeface="Times New Roman"/>
                <a:cs typeface="Times New Roman"/>
              </a:rPr>
              <a:t>SN</a:t>
            </a:r>
            <a:r>
              <a:rPr sz="1800" spc="-10" dirty="0">
                <a:latin typeface="Times New Roman"/>
                <a:cs typeface="Times New Roman"/>
              </a:rPr>
              <a:t>]</a:t>
            </a:r>
            <a:r>
              <a:rPr lang="en-IN" sz="1800" spc="-10" dirty="0">
                <a:latin typeface="Times New Roman"/>
                <a:cs typeface="Times New Roman"/>
              </a:rPr>
              <a:t> :- U25E01AI068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endParaRPr lang="en-US" sz="1800" spc="-10" dirty="0">
              <a:latin typeface="Times New Roman"/>
              <a:cs typeface="Times New Roman"/>
            </a:endParaRPr>
          </a:p>
          <a:p>
            <a:pPr marL="34925" marR="5080" indent="-22860" algn="just">
              <a:lnSpc>
                <a:spcPct val="1391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[U</a:t>
            </a:r>
            <a:r>
              <a:rPr lang="en-US" sz="1800" spc="-10" dirty="0">
                <a:latin typeface="Times New Roman"/>
                <a:cs typeface="Times New Roman"/>
              </a:rPr>
              <a:t>SN] :- </a:t>
            </a:r>
            <a:r>
              <a:rPr lang="en-IN" sz="1800" spc="-10" dirty="0">
                <a:latin typeface="Times New Roman"/>
                <a:cs typeface="Times New Roman"/>
              </a:rPr>
              <a:t>U25E01AI084 </a:t>
            </a:r>
            <a:endParaRPr lang="en-US" sz="1800" spc="-10" dirty="0">
              <a:latin typeface="Times New Roman"/>
              <a:cs typeface="Times New Roman"/>
            </a:endParaRPr>
          </a:p>
          <a:p>
            <a:pPr marL="34925" marR="5080" indent="-22860" algn="just">
              <a:lnSpc>
                <a:spcPct val="1391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[U</a:t>
            </a:r>
            <a:r>
              <a:rPr lang="en-US" sz="1800" spc="-10" dirty="0">
                <a:latin typeface="Times New Roman"/>
                <a:cs typeface="Times New Roman"/>
              </a:rPr>
              <a:t>SN</a:t>
            </a:r>
            <a:r>
              <a:rPr sz="1800" spc="-10" dirty="0">
                <a:latin typeface="Times New Roman"/>
                <a:cs typeface="Times New Roman"/>
              </a:rPr>
              <a:t>] </a:t>
            </a:r>
            <a:r>
              <a:rPr lang="en-IN" sz="1800" spc="-10" dirty="0">
                <a:latin typeface="Times New Roman"/>
                <a:cs typeface="Times New Roman"/>
              </a:rPr>
              <a:t>:- U25E01AI104 </a:t>
            </a:r>
            <a:endParaRPr lang="en-US" sz="1800" spc="-10" dirty="0">
              <a:latin typeface="Times New Roman"/>
              <a:cs typeface="Times New Roman"/>
            </a:endParaRPr>
          </a:p>
          <a:p>
            <a:pPr marL="34925" marR="5080" indent="-22860" algn="just">
              <a:lnSpc>
                <a:spcPct val="1391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[U</a:t>
            </a:r>
            <a:r>
              <a:rPr lang="en-US" sz="1800" spc="-10" dirty="0">
                <a:latin typeface="Times New Roman"/>
                <a:cs typeface="Times New Roman"/>
              </a:rPr>
              <a:t>SN</a:t>
            </a:r>
            <a:r>
              <a:rPr sz="1800" spc="-10" dirty="0">
                <a:latin typeface="Times New Roman"/>
                <a:cs typeface="Times New Roman"/>
              </a:rPr>
              <a:t>]</a:t>
            </a:r>
            <a:r>
              <a:rPr lang="en-IN" sz="1800" spc="-10" dirty="0">
                <a:latin typeface="Times New Roman"/>
                <a:cs typeface="Times New Roman"/>
              </a:rPr>
              <a:t> :- U25E01AI </a:t>
            </a: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545550"/>
              </p:ext>
            </p:extLst>
          </p:nvPr>
        </p:nvGraphicFramePr>
        <p:xfrm>
          <a:off x="4000499" y="5216843"/>
          <a:ext cx="8187056" cy="1178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4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3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645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lang="en-IN" sz="1800" b="1" spc="-1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     G</a:t>
                      </a:r>
                      <a:r>
                        <a:rPr sz="1800" b="1" spc="-1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lang="en-IN" sz="1800" b="1" spc="-1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-1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lang="en-IN" sz="1800" b="1" spc="-1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</a:p>
                    <a:p>
                      <a:pPr marL="31750">
                        <a:lnSpc>
                          <a:spcPts val="1964"/>
                        </a:lnSpc>
                      </a:pPr>
                      <a:r>
                        <a:rPr lang="en-IN" sz="1800" b="1" spc="-1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MS.BHOOMIKA </a:t>
                      </a:r>
                    </a:p>
                  </a:txBody>
                  <a:tcPr marL="0" marR="0" marT="0" marB="0"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438784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PBL</a:t>
                      </a:r>
                      <a:r>
                        <a:rPr lang="en-IN" sz="1800" b="1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55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Coordinator</a:t>
                      </a:r>
                      <a:r>
                        <a:rPr sz="1800" b="1" spc="25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lang="en-IN" sz="1800" b="1" spc="-50" dirty="0">
                        <a:solidFill>
                          <a:srgbClr val="00AFEF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438784" algn="l">
                        <a:lnSpc>
                          <a:spcPts val="1964"/>
                        </a:lnSpc>
                      </a:pPr>
                      <a:r>
                        <a:rPr lang="en-IN" sz="18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Mr. DARSHAN A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647065" algn="just">
                        <a:lnSpc>
                          <a:spcPts val="1964"/>
                        </a:lnSpc>
                      </a:pPr>
                      <a:r>
                        <a:rPr lang="en-US" sz="1800" b="1" spc="-1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  HOD</a:t>
                      </a:r>
                      <a:endParaRPr lang="en-US" sz="1800" b="1" spc="-50" dirty="0">
                        <a:solidFill>
                          <a:srgbClr val="00AFEF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647065">
                        <a:lnSpc>
                          <a:spcPts val="1964"/>
                        </a:lnSpc>
                      </a:pPr>
                      <a:r>
                        <a:rPr lang="en-US" sz="1800" b="1" spc="-5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Dr. Asha K</a:t>
                      </a:r>
                    </a:p>
                  </a:txBody>
                  <a:tcPr marL="0" marR="0" marT="0" marB="0">
                    <a:solidFill>
                      <a:srgbClr val="ED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55308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solidFill>
                      <a:srgbClr val="ED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3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ts val="2090"/>
                        </a:lnSpc>
                        <a:spcBef>
                          <a:spcPts val="31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-12700" y="6326187"/>
            <a:ext cx="12203430" cy="544830"/>
            <a:chOff x="-12700" y="6326187"/>
            <a:chExt cx="12203430" cy="544830"/>
          </a:xfrm>
        </p:grpSpPr>
        <p:sp>
          <p:nvSpPr>
            <p:cNvPr id="16" name="object 16"/>
            <p:cNvSpPr/>
            <p:nvPr/>
          </p:nvSpPr>
          <p:spPr>
            <a:xfrm>
              <a:off x="0" y="6338887"/>
              <a:ext cx="12178030" cy="519430"/>
            </a:xfrm>
            <a:custGeom>
              <a:avLst/>
              <a:gdLst/>
              <a:ahLst/>
              <a:cxnLst/>
              <a:rect l="l" t="t" r="r" b="b"/>
              <a:pathLst>
                <a:path w="12178030" h="519429">
                  <a:moveTo>
                    <a:pt x="12177711" y="519112"/>
                  </a:moveTo>
                  <a:lnTo>
                    <a:pt x="12177711" y="0"/>
                  </a:lnTo>
                  <a:lnTo>
                    <a:pt x="0" y="0"/>
                  </a:lnTo>
                  <a:lnTo>
                    <a:pt x="0" y="519112"/>
                  </a:lnTo>
                  <a:lnTo>
                    <a:pt x="12177711" y="519112"/>
                  </a:lnTo>
                  <a:close/>
                </a:path>
              </a:pathLst>
            </a:custGeom>
            <a:solidFill>
              <a:srgbClr val="6224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338887"/>
              <a:ext cx="12178030" cy="519430"/>
            </a:xfrm>
            <a:custGeom>
              <a:avLst/>
              <a:gdLst/>
              <a:ahLst/>
              <a:cxnLst/>
              <a:rect l="l" t="t" r="r" b="b"/>
              <a:pathLst>
                <a:path w="12178030" h="519429">
                  <a:moveTo>
                    <a:pt x="12177711" y="519112"/>
                  </a:moveTo>
                  <a:lnTo>
                    <a:pt x="12177711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6224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1375">
              <a:lnSpc>
                <a:spcPts val="2115"/>
              </a:lnSpc>
            </a:pPr>
            <a:r>
              <a:rPr dirty="0"/>
              <a:t>Faculty</a:t>
            </a:r>
            <a:r>
              <a:rPr spc="1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123B0-2421-B488-8244-17D39EEE97AA}"/>
              </a:ext>
            </a:extLst>
          </p:cNvPr>
          <p:cNvSpPr txBox="1"/>
          <p:nvPr/>
        </p:nvSpPr>
        <p:spPr>
          <a:xfrm>
            <a:off x="5591191" y="557212"/>
            <a:ext cx="2188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rgbClr val="FFC000"/>
                </a:solidFill>
              </a:rPr>
              <a:t>Davanegere</a:t>
            </a:r>
            <a:endParaRPr lang="en-US" sz="2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F937-EC6A-114F-5695-E1A3691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D471579-1F13-9992-5E82-A3F1AADDEE0F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6353D5-BC34-A510-31F5-AAD219D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37"/>
            <a:ext cx="1222744" cy="10951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5CF81-7C04-1FEC-0326-7F8F35CE1E73}"/>
              </a:ext>
            </a:extLst>
          </p:cNvPr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1BBC03-C10E-E750-0AB2-BC4A68FB99A1}"/>
              </a:ext>
            </a:extLst>
          </p:cNvPr>
          <p:cNvSpPr/>
          <p:nvPr/>
        </p:nvSpPr>
        <p:spPr>
          <a:xfrm>
            <a:off x="457476" y="486035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7E4471B-4439-F166-9C90-C3689900A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1734" y="2567970"/>
            <a:ext cx="3618940" cy="36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FD3DCD7-6F4E-2A28-6649-2DDFFC9C1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2630" y="101314"/>
            <a:ext cx="12191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4D4CA09-A8BD-43B2-B6A0-339B66FABE38}"/>
              </a:ext>
            </a:extLst>
          </p:cNvPr>
          <p:cNvSpPr txBox="1"/>
          <p:nvPr/>
        </p:nvSpPr>
        <p:spPr>
          <a:xfrm>
            <a:off x="656935" y="843359"/>
            <a:ext cx="5719445" cy="554780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2710"/>
              </a:spcBef>
              <a:tabLst>
                <a:tab pos="367665" algn="l"/>
              </a:tabLst>
            </a:pPr>
            <a:r>
              <a:rPr lang="en-IN" sz="2800" spc="-10" dirty="0">
                <a:latin typeface="Times New Roman"/>
                <a:cs typeface="Times New Roman"/>
              </a:rPr>
              <a:t>1. Abstracts</a:t>
            </a:r>
          </a:p>
          <a:p>
            <a:pPr marL="12700">
              <a:lnSpc>
                <a:spcPct val="150000"/>
              </a:lnSpc>
              <a:spcBef>
                <a:spcPts val="2710"/>
              </a:spcBef>
              <a:tabLst>
                <a:tab pos="367665" algn="l"/>
              </a:tabLst>
            </a:pPr>
            <a:r>
              <a:rPr lang="en-IN" sz="2800" spc="-10" dirty="0">
                <a:latin typeface="Times New Roman"/>
                <a:cs typeface="Times New Roman"/>
              </a:rPr>
              <a:t>2. </a:t>
            </a: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50000"/>
              </a:lnSpc>
              <a:spcBef>
                <a:spcPts val="2710"/>
              </a:spcBef>
              <a:tabLst>
                <a:tab pos="36766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3.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50000"/>
              </a:lnSpc>
              <a:spcBef>
                <a:spcPts val="2705"/>
              </a:spcBef>
              <a:tabLst>
                <a:tab pos="36766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4. </a:t>
            </a:r>
            <a:r>
              <a:rPr sz="2800" dirty="0">
                <a:latin typeface="Times New Roman"/>
                <a:cs typeface="Times New Roman"/>
              </a:rPr>
              <a:t>Objectives</a:t>
            </a:r>
          </a:p>
          <a:p>
            <a:pPr marL="12700">
              <a:lnSpc>
                <a:spcPct val="150000"/>
              </a:lnSpc>
              <a:spcBef>
                <a:spcPts val="2710"/>
              </a:spcBef>
              <a:tabLst>
                <a:tab pos="36766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5. Methodology</a:t>
            </a:r>
          </a:p>
          <a:p>
            <a:pPr marL="12700">
              <a:lnSpc>
                <a:spcPct val="150000"/>
              </a:lnSpc>
              <a:spcBef>
                <a:spcPts val="2710"/>
              </a:spcBef>
              <a:tabLst>
                <a:tab pos="36766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6. Software and hardware specifications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790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F937-EC6A-114F-5695-E1A3691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D471579-1F13-9992-5E82-A3F1AADDEE0F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6353D5-BC34-A510-31F5-AAD219D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37"/>
            <a:ext cx="1222744" cy="10951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5CF81-7C04-1FEC-0326-7F8F35CE1E73}"/>
              </a:ext>
            </a:extLst>
          </p:cNvPr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1BBC03-C10E-E750-0AB2-BC4A68FB99A1}"/>
              </a:ext>
            </a:extLst>
          </p:cNvPr>
          <p:cNvSpPr/>
          <p:nvPr/>
        </p:nvSpPr>
        <p:spPr>
          <a:xfrm>
            <a:off x="457476" y="486035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7E4471B-4439-F166-9C90-C3689900A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1734" y="2567970"/>
            <a:ext cx="3618940" cy="36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7C22E53-91C4-C214-0037-FB8B1CBF4E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39548" cy="333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FD3DCD7-6F4E-2A28-6649-2DDFFC9C1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2630" y="101314"/>
            <a:ext cx="12191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B8ECB0-1CB0-4785-1BC5-076174168231}"/>
              </a:ext>
            </a:extLst>
          </p:cNvPr>
          <p:cNvSpPr txBox="1"/>
          <p:nvPr/>
        </p:nvSpPr>
        <p:spPr>
          <a:xfrm>
            <a:off x="1585183" y="1344575"/>
            <a:ext cx="76979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Smart travel planning web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Combines destination search, itinerary, and budget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Real-time data for flights, hotels, and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Simplifies and personalizes trip planning</a:t>
            </a:r>
          </a:p>
        </p:txBody>
      </p:sp>
    </p:spTree>
    <p:extLst>
      <p:ext uri="{BB962C8B-B14F-4D97-AF65-F5344CB8AC3E}">
        <p14:creationId xmlns:p14="http://schemas.microsoft.com/office/powerpoint/2010/main" val="159874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F937-EC6A-114F-5695-E1A3691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D471579-1F13-9992-5E82-A3F1AADDEE0F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6353D5-BC34-A510-31F5-AAD219D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37"/>
            <a:ext cx="1222744" cy="10951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5CF81-7C04-1FEC-0326-7F8F35CE1E73}"/>
              </a:ext>
            </a:extLst>
          </p:cNvPr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1BBC03-C10E-E750-0AB2-BC4A68FB99A1}"/>
              </a:ext>
            </a:extLst>
          </p:cNvPr>
          <p:cNvSpPr/>
          <p:nvPr/>
        </p:nvSpPr>
        <p:spPr>
          <a:xfrm>
            <a:off x="457476" y="486035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7E4471B-4439-F166-9C90-C3689900A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1734" y="2567970"/>
            <a:ext cx="3618940" cy="36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7C22E53-91C4-C214-0037-FB8B1CBF4E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39548" cy="333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FD3DCD7-6F4E-2A28-6649-2DDFFC9C1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2630" y="101314"/>
            <a:ext cx="12191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CA03B3-CAA4-EC8D-4737-6FE10122349B}"/>
              </a:ext>
            </a:extLst>
          </p:cNvPr>
          <p:cNvSpPr txBox="1"/>
          <p:nvPr/>
        </p:nvSpPr>
        <p:spPr>
          <a:xfrm>
            <a:off x="2268779" y="1532597"/>
            <a:ext cx="707334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Travel planning is complex and time-consuming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Integrates multiple travel functions into one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User-friendly interface with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Enhances convenience and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276726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F937-EC6A-114F-5695-E1A3691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D471579-1F13-9992-5E82-A3F1AADDEE0F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6353D5-BC34-A510-31F5-AAD219D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37"/>
            <a:ext cx="1222744" cy="10951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5CF81-7C04-1FEC-0326-7F8F35CE1E73}"/>
              </a:ext>
            </a:extLst>
          </p:cNvPr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1BBC03-C10E-E750-0AB2-BC4A68FB99A1}"/>
              </a:ext>
            </a:extLst>
          </p:cNvPr>
          <p:cNvSpPr/>
          <p:nvPr/>
        </p:nvSpPr>
        <p:spPr>
          <a:xfrm>
            <a:off x="457476" y="486035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7E4471B-4439-F166-9C90-C3689900A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1734" y="2567970"/>
            <a:ext cx="3618940" cy="36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7C22E53-91C4-C214-0037-FB8B1CBF4E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39548" cy="333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FD3DCD7-6F4E-2A28-6649-2DDFFC9C1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2630" y="101314"/>
            <a:ext cx="12191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A86AA0-FA02-9A91-D5B9-269C1B2E137F}"/>
              </a:ext>
            </a:extLst>
          </p:cNvPr>
          <p:cNvSpPr txBox="1"/>
          <p:nvPr/>
        </p:nvSpPr>
        <p:spPr>
          <a:xfrm>
            <a:off x="2044588" y="1905000"/>
            <a:ext cx="72257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Scattered travel information across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Difficult to compare options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Lack of personalized itineraries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Need for an all-in-one travel planner</a:t>
            </a:r>
          </a:p>
        </p:txBody>
      </p:sp>
    </p:spTree>
    <p:extLst>
      <p:ext uri="{BB962C8B-B14F-4D97-AF65-F5344CB8AC3E}">
        <p14:creationId xmlns:p14="http://schemas.microsoft.com/office/powerpoint/2010/main" val="2663632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F937-EC6A-114F-5695-E1A3691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D471579-1F13-9992-5E82-A3F1AADDEE0F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6353D5-BC34-A510-31F5-AAD219D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37"/>
            <a:ext cx="1222744" cy="10951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5CF81-7C04-1FEC-0326-7F8F35CE1E73}"/>
              </a:ext>
            </a:extLst>
          </p:cNvPr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1BBC03-C10E-E750-0AB2-BC4A68FB99A1}"/>
              </a:ext>
            </a:extLst>
          </p:cNvPr>
          <p:cNvSpPr/>
          <p:nvPr/>
        </p:nvSpPr>
        <p:spPr>
          <a:xfrm>
            <a:off x="457476" y="486035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7E4471B-4439-F166-9C90-C3689900A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1734" y="2567970"/>
            <a:ext cx="3618940" cy="36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7C22E53-91C4-C214-0037-FB8B1CBF4E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39548" cy="333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FD3DCD7-6F4E-2A28-6649-2DDFFC9C1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2630" y="101314"/>
            <a:ext cx="12191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9CFA14-ADDD-6965-9DAB-585608A13CB9}"/>
              </a:ext>
            </a:extLst>
          </p:cNvPr>
          <p:cNvSpPr txBox="1"/>
          <p:nvPr/>
        </p:nvSpPr>
        <p:spPr>
          <a:xfrm>
            <a:off x="2366584" y="1880505"/>
            <a:ext cx="670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Centralized trip planning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Destination and budget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Personalized itinerary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Map and route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Secure user 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68413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F937-EC6A-114F-5695-E1A3691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D471579-1F13-9992-5E82-A3F1AADDEE0F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6353D5-BC34-A510-31F5-AAD219D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37"/>
            <a:ext cx="1222744" cy="10951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5CF81-7C04-1FEC-0326-7F8F35CE1E73}"/>
              </a:ext>
            </a:extLst>
          </p:cNvPr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7C22E53-91C4-C214-0037-FB8B1CBF4E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39548" cy="333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FD3DCD7-6F4E-2A28-6649-2DDFFC9C1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1387544"/>
            <a:ext cx="54864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467832" y="101314"/>
            <a:ext cx="117267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SOFTWARE AND HARDWARE REQUIREMENTS 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3728B9-6C3A-57FF-D9A7-E3CD944B7770}"/>
              </a:ext>
            </a:extLst>
          </p:cNvPr>
          <p:cNvSpPr txBox="1"/>
          <p:nvPr/>
        </p:nvSpPr>
        <p:spPr>
          <a:xfrm>
            <a:off x="2171700" y="2514599"/>
            <a:ext cx="426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1. Software Requirement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Frontend: HTML, CSS,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Backend: Python (Flask) /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Database: MySQL / 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APIs: Google Maps, Weather, Flight/Hotel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Tools: VS Code, Git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8334E-F6E0-6415-A9FF-B5E5D8201F5A}"/>
              </a:ext>
            </a:extLst>
          </p:cNvPr>
          <p:cNvSpPr txBox="1"/>
          <p:nvPr/>
        </p:nvSpPr>
        <p:spPr>
          <a:xfrm>
            <a:off x="6477000" y="2653099"/>
            <a:ext cx="396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       2. Hardware Requirements</a:t>
            </a: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Processor: Intel i5 or higher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RAM: 8 GB+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Storage: 256 GB+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OS: Windows / Linux / macOS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Internet connectivity</a:t>
            </a:r>
          </a:p>
        </p:txBody>
      </p:sp>
    </p:spTree>
    <p:extLst>
      <p:ext uri="{BB962C8B-B14F-4D97-AF65-F5344CB8AC3E}">
        <p14:creationId xmlns:p14="http://schemas.microsoft.com/office/powerpoint/2010/main" val="199607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F937-EC6A-114F-5695-E1A3691F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2D471579-1F13-9992-5E82-A3F1AADDEE0F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6353D5-BC34-A510-31F5-AAD219D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37"/>
            <a:ext cx="1222744" cy="10951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65CF81-7C04-1FEC-0326-7F8F35CE1E73}"/>
              </a:ext>
            </a:extLst>
          </p:cNvPr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7E4471B-4439-F166-9C90-C3689900A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31734" y="2567970"/>
            <a:ext cx="3618940" cy="36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7C22E53-91C4-C214-0037-FB8B1CBF4E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39548" cy="333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FD3DCD7-6F4E-2A28-6649-2DDFFC9C1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2630" y="101314"/>
            <a:ext cx="12191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7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172" y="6406222"/>
            <a:ext cx="13398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55" dirty="0">
                <a:latin typeface="Microsoft JhengHei"/>
                <a:cs typeface="Microsoft JhengHei"/>
              </a:rPr>
              <a:t>12</a:t>
            </a:r>
            <a:endParaRPr sz="950">
              <a:latin typeface="Microsoft JhengHei"/>
              <a:cs typeface="Microsoft JhengHe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7936" y="3002026"/>
            <a:ext cx="12212955" cy="863600"/>
            <a:chOff x="-7936" y="3002026"/>
            <a:chExt cx="12212955" cy="863600"/>
          </a:xfrm>
        </p:grpSpPr>
        <p:sp>
          <p:nvSpPr>
            <p:cNvPr id="4" name="object 4"/>
            <p:cNvSpPr/>
            <p:nvPr/>
          </p:nvSpPr>
          <p:spPr>
            <a:xfrm>
              <a:off x="4763" y="3014726"/>
              <a:ext cx="12187555" cy="838200"/>
            </a:xfrm>
            <a:custGeom>
              <a:avLst/>
              <a:gdLst/>
              <a:ahLst/>
              <a:cxnLst/>
              <a:rect l="l" t="t" r="r" b="b"/>
              <a:pathLst>
                <a:path w="12187555" h="838200">
                  <a:moveTo>
                    <a:pt x="12187236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2187236" y="8382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6224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3" y="3014726"/>
              <a:ext cx="12187555" cy="838200"/>
            </a:xfrm>
            <a:custGeom>
              <a:avLst/>
              <a:gdLst/>
              <a:ahLst/>
              <a:cxnLst/>
              <a:rect l="l" t="t" r="r" b="b"/>
              <a:pathLst>
                <a:path w="12187555" h="838200">
                  <a:moveTo>
                    <a:pt x="12187236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2187236" y="838200"/>
                  </a:lnTo>
                </a:path>
              </a:pathLst>
            </a:custGeom>
            <a:ln w="25400">
              <a:solidFill>
                <a:srgbClr val="6224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90975" y="2971984"/>
            <a:ext cx="4210050" cy="8476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400" b="0" spc="250" dirty="0">
                <a:solidFill>
                  <a:srgbClr val="C996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5400" b="0" spc="125" dirty="0">
                <a:solidFill>
                  <a:srgbClr val="C996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b="0" spc="275" dirty="0">
                <a:solidFill>
                  <a:srgbClr val="C996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5400" b="0" spc="110" dirty="0">
                <a:solidFill>
                  <a:srgbClr val="C996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b="0" spc="220" dirty="0">
                <a:solidFill>
                  <a:srgbClr val="C996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7936" y="-12700"/>
            <a:ext cx="12212955" cy="6870700"/>
            <a:chOff x="-7936" y="-12700"/>
            <a:chExt cx="12212955" cy="6870700"/>
          </a:xfrm>
        </p:grpSpPr>
        <p:sp>
          <p:nvSpPr>
            <p:cNvPr id="8" name="object 8"/>
            <p:cNvSpPr/>
            <p:nvPr/>
          </p:nvSpPr>
          <p:spPr>
            <a:xfrm>
              <a:off x="4763" y="0"/>
              <a:ext cx="628650" cy="6858000"/>
            </a:xfrm>
            <a:custGeom>
              <a:avLst/>
              <a:gdLst/>
              <a:ahLst/>
              <a:cxnLst/>
              <a:rect l="l" t="t" r="r" b="b"/>
              <a:pathLst>
                <a:path w="628650" h="6858000">
                  <a:moveTo>
                    <a:pt x="0" y="6857997"/>
                  </a:moveTo>
                  <a:lnTo>
                    <a:pt x="628650" y="6857997"/>
                  </a:lnTo>
                  <a:lnTo>
                    <a:pt x="628650" y="0"/>
                  </a:lnTo>
                  <a:lnTo>
                    <a:pt x="0" y="0"/>
                  </a:lnTo>
                  <a:lnTo>
                    <a:pt x="0" y="6857997"/>
                  </a:lnTo>
                  <a:close/>
                </a:path>
              </a:pathLst>
            </a:custGeom>
            <a:solidFill>
              <a:srgbClr val="6224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63" y="0"/>
              <a:ext cx="628650" cy="6858000"/>
            </a:xfrm>
            <a:custGeom>
              <a:avLst/>
              <a:gdLst/>
              <a:ahLst/>
              <a:cxnLst/>
              <a:rect l="l" t="t" r="r" b="b"/>
              <a:pathLst>
                <a:path w="628650" h="6858000">
                  <a:moveTo>
                    <a:pt x="628650" y="6857997"/>
                  </a:moveTo>
                  <a:lnTo>
                    <a:pt x="628650" y="0"/>
                  </a:lnTo>
                </a:path>
                <a:path w="628650" h="6858000">
                  <a:moveTo>
                    <a:pt x="0" y="0"/>
                  </a:moveTo>
                  <a:lnTo>
                    <a:pt x="0" y="6857997"/>
                  </a:lnTo>
                </a:path>
              </a:pathLst>
            </a:custGeom>
            <a:ln w="25400">
              <a:solidFill>
                <a:srgbClr val="6224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39261" y="0"/>
              <a:ext cx="2353310" cy="2371725"/>
            </a:xfrm>
            <a:custGeom>
              <a:avLst/>
              <a:gdLst/>
              <a:ahLst/>
              <a:cxnLst/>
              <a:rect l="l" t="t" r="r" b="b"/>
              <a:pathLst>
                <a:path w="2353309" h="2371725">
                  <a:moveTo>
                    <a:pt x="2352738" y="0"/>
                  </a:moveTo>
                  <a:lnTo>
                    <a:pt x="0" y="0"/>
                  </a:lnTo>
                  <a:lnTo>
                    <a:pt x="2352738" y="2371686"/>
                  </a:lnTo>
                  <a:lnTo>
                    <a:pt x="2352738" y="0"/>
                  </a:lnTo>
                  <a:close/>
                </a:path>
              </a:pathLst>
            </a:custGeom>
            <a:solidFill>
              <a:srgbClr val="5B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39261" y="0"/>
              <a:ext cx="2353310" cy="2371725"/>
            </a:xfrm>
            <a:custGeom>
              <a:avLst/>
              <a:gdLst/>
              <a:ahLst/>
              <a:cxnLst/>
              <a:rect l="l" t="t" r="r" b="b"/>
              <a:pathLst>
                <a:path w="2353309" h="2371725">
                  <a:moveTo>
                    <a:pt x="2352738" y="2371686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48999" y="28575"/>
              <a:ext cx="1143000" cy="119062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>
              <a:lnSpc>
                <a:spcPts val="2115"/>
              </a:lnSpc>
            </a:pPr>
            <a:r>
              <a:rPr dirty="0"/>
              <a:t>Faculty</a:t>
            </a:r>
            <a:r>
              <a:rPr spc="15" dirty="0"/>
              <a:t> </a:t>
            </a:r>
            <a:r>
              <a:rPr dirty="0"/>
              <a:t>of</a:t>
            </a:r>
            <a:r>
              <a:rPr spc="245" dirty="0"/>
              <a:t> </a:t>
            </a:r>
            <a:r>
              <a:rPr spc="-10" dirty="0"/>
              <a:t>Engineering</a:t>
            </a:r>
            <a:r>
              <a:rPr spc="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307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Microsoft JhengHei</vt:lpstr>
      <vt:lpstr>Arial</vt:lpstr>
      <vt:lpstr>Calibri</vt:lpstr>
      <vt:lpstr>Cambria</vt:lpstr>
      <vt:lpstr>Times New Roman</vt:lpstr>
      <vt:lpstr>Verdana</vt:lpstr>
      <vt:lpstr>Office Theme</vt:lpstr>
      <vt:lpstr>GM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 UNIVERSITY</dc:title>
  <dc:creator>keerthana r</dc:creator>
  <cp:lastModifiedBy>Imran Hashmi</cp:lastModifiedBy>
  <cp:revision>11</cp:revision>
  <dcterms:created xsi:type="dcterms:W3CDTF">2025-04-12T03:51:56Z</dcterms:created>
  <dcterms:modified xsi:type="dcterms:W3CDTF">2025-10-27T09:34:45Z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2025-03-24T00:00:00Z</vt:filetime>
  </property>
  <property fmtid="{D5CDD505-2E9C-101B-9397-08002B2CF9AE}" pid="3" name="LastSaved">
    <vt:filetime>2025-04-12T00:00:00Z</vt:filetime>
  </property>
</Properties>
</file>