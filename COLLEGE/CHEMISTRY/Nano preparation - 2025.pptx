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66" r:id="rId3"/>
    <p:sldId id="273" r:id="rId4"/>
    <p:sldId id="269" r:id="rId5"/>
    <p:sldId id="268" r:id="rId6"/>
    <p:sldId id="271" r:id="rId7"/>
    <p:sldId id="274" r:id="rId8"/>
    <p:sldId id="277" r:id="rId9"/>
    <p:sldId id="279" r:id="rId10"/>
    <p:sldId id="272" r:id="rId11"/>
    <p:sldId id="275" r:id="rId12"/>
    <p:sldId id="278" r:id="rId13"/>
    <p:sldId id="276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1F1F"/>
    <a:srgbClr val="632523"/>
    <a:srgbClr val="CA9749"/>
    <a:srgbClr val="EEECE1"/>
    <a:srgbClr val="FAFAFA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EB542-D87F-482D-A7FF-4601A0EF413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B07B5-2230-4BA0-B62F-6320918F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23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 University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7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034B-FFF0-791A-B6A4-5677200E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CB35-22DE-155F-5234-174AAC38F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ECAA9-F53C-E9ED-103E-15D8D072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478EE-6E9D-D08A-BE0F-009CE9D1B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06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D6BAC-F922-0C50-853D-C9B1E38D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1B3DB-090A-5E2C-E430-9F49EB823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F70A8-4AC3-0387-3A41-9FDF0DD4A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FCA14-278A-2470-DEF8-B93F2AAD8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51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20C7-D9EC-0832-CEE4-A6C46F51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FC269-2343-2CF7-27BA-E381D4B61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6C414-48AB-020A-C144-335ED9D8D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A1D76-6F6C-DFBE-416C-B8C1793C4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57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7AF1-A7BA-9FC3-7DE4-A6748611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62F82-C1F7-1C6C-2762-44392B3CA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8C519-746F-15DE-0497-D30D63D62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D0924-42F3-047A-D8D4-F154F5E79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6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1D10-C860-B689-8FA4-8671B10E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7DC89-8E89-E514-CEFE-E139CECE7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FACDE-A3B2-E01B-179D-048764B13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E6A78-970B-1E99-117C-45A9072BE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42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DBA3-B40F-71D5-8708-0985D5CF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69D54-8E63-CF06-1548-D8F6A3EED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402AE-8BFB-B3A5-E6C0-7FC9EBB0A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D59B-901E-BDA2-5FD0-7CAC74AA0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2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525A-39EA-9A14-BCA3-CF691FF9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BAE20-C424-8BE8-D645-5D975E716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58B15-25C9-681E-8D8C-773161872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48B79-41F4-A7F8-3D9C-FB52A5D08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7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E8F6-2C4E-D283-628F-898516B0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3DF3B-6C8F-64AD-A557-165487BE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7A067-1688-9AD7-9B77-B4ACF9B7D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95E4C-5520-69C3-BA04-6D3F5E9B7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A1AA-EF68-2987-0190-AD0E0FB0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4BACC-C615-265C-4E52-E248CBB25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5FA67-5DFF-9550-234B-208D89B6F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F5A4-CFCD-7ACB-381A-A294277FE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7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475E-0D6B-4D59-9E79-16A259AB8BC8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5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4B40-50D9-48F5-8273-7DCE8C847A60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2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0C72-4E64-415F-8145-2BC7D29CCDB7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4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1DC7C-3C57-40BE-8A68-100355D1E9F5}" type="datetime1">
              <a:rPr lang="en-IN" smtClean="0"/>
              <a:t>17-09-2025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3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22BAC-7991-4AB6-A114-27D548335A4D}" type="datetime1">
              <a:rPr lang="en-IN" smtClean="0"/>
              <a:t>17-09-2025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8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560F-2347-4696-9063-0A0326ACA195}" type="datetime1">
              <a:rPr lang="en-IN" smtClean="0"/>
              <a:t>17-09-2025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9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A252-2112-4916-B710-71434A0F049F}" type="datetime1">
              <a:rPr lang="en-IN" smtClean="0"/>
              <a:t>17-09-2025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2525-1A8B-47B4-AA70-364B143E8C56}" type="datetime1">
              <a:rPr lang="en-IN" smtClean="0"/>
              <a:t>17-09-2025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6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EBB8-A4B7-4C2F-9BE9-0FD4279A7777}" type="datetime1">
              <a:rPr lang="en-IN" smtClean="0"/>
              <a:t>17-09-2025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9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154E-0253-4BC2-B678-7D7753319ABD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7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7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ABD8-1275-4E44-AA81-3E419695E495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6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98D10-2D17-4528-95CE-2B967CB2B3B1}" type="datetime1">
              <a:rPr lang="en-IN" smtClean="0"/>
              <a:t>17-09-2025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0928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591F75-43E2-D466-B420-074C55442699}"/>
              </a:ext>
            </a:extLst>
          </p:cNvPr>
          <p:cNvSpPr/>
          <p:nvPr/>
        </p:nvSpPr>
        <p:spPr>
          <a:xfrm>
            <a:off x="0" y="4317"/>
            <a:ext cx="12192000" cy="1122364"/>
          </a:xfrm>
          <a:prstGeom prst="rect">
            <a:avLst/>
          </a:prstGeom>
          <a:solidFill>
            <a:srgbClr val="5B1F1F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C47C3-8DE8-0AA9-4482-43A80B28F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5879" y="2450140"/>
            <a:ext cx="7755884" cy="16557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5B1F1F"/>
                </a:solidFill>
                <a:latin typeface="Cambria" pitchFamily="18" charset="0"/>
              </a:rPr>
              <a:t>Dr. Kiran M S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5B1F1F"/>
                </a:solidFill>
                <a:latin typeface="Cambria" pitchFamily="18" charset="0"/>
              </a:rPr>
              <a:t>Assistant Professor 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5B1F1F"/>
                </a:solidFill>
                <a:latin typeface="Cambria" pitchFamily="18" charset="0"/>
              </a:rPr>
              <a:t>Department of Chemistry</a:t>
            </a:r>
          </a:p>
          <a:p>
            <a:endParaRPr lang="en-US" dirty="0"/>
          </a:p>
        </p:txBody>
      </p:sp>
      <p:sp>
        <p:nvSpPr>
          <p:cNvPr id="13" name="Date Placeholder 15">
            <a:extLst>
              <a:ext uri="{FF2B5EF4-FFF2-40B4-BE49-F238E27FC236}">
                <a16:creationId xmlns:a16="http://schemas.microsoft.com/office/drawing/2014/main" id="{AF4ECAC3-1547-7007-4419-D3F6A5BD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9842"/>
            <a:ext cx="12192000" cy="365125"/>
          </a:xfrm>
        </p:spPr>
        <p:txBody>
          <a:bodyPr/>
          <a:lstStyle/>
          <a:p>
            <a:endParaRPr lang="en-US" sz="2000" b="1" dirty="0">
              <a:solidFill>
                <a:srgbClr val="CA9749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2000" b="1" i="1" dirty="0">
                <a:solidFill>
                  <a:schemeClr val="bg1"/>
                </a:solidFill>
                <a:latin typeface="+mj-lt"/>
                <a:ea typeface="Calibri" pitchFamily="34" charset="0"/>
                <a:cs typeface="Calibri" pitchFamily="34" charset="0"/>
              </a:rPr>
              <a:t>Faculty of Basic and Applied Science                                                                                                    1</a:t>
            </a:r>
          </a:p>
          <a:p>
            <a:endParaRPr lang="en-US" sz="2000" b="1" dirty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3B075-7B75-FE46-0A5B-03B42839400E}"/>
              </a:ext>
            </a:extLst>
          </p:cNvPr>
          <p:cNvSpPr txBox="1"/>
          <p:nvPr/>
        </p:nvSpPr>
        <p:spPr>
          <a:xfrm>
            <a:off x="3459481" y="-12779"/>
            <a:ext cx="4469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CA9749"/>
                </a:solidFill>
                <a:latin typeface="Bodoni MT" panose="02070603080606020203" pitchFamily="18" charset="0"/>
                <a:cs typeface="Aldhabi" panose="020F0502020204030204" pitchFamily="2" charset="-78"/>
              </a:rPr>
              <a:t>GM University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3CC88-4313-3701-F974-93278875702D}"/>
              </a:ext>
            </a:extLst>
          </p:cNvPr>
          <p:cNvSpPr txBox="1"/>
          <p:nvPr/>
        </p:nvSpPr>
        <p:spPr>
          <a:xfrm>
            <a:off x="5407344" y="565503"/>
            <a:ext cx="2296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A9749"/>
                </a:solidFill>
                <a:latin typeface="Bodoni MT" panose="02070603080606020203" pitchFamily="18" charset="0"/>
                <a:cs typeface="Aldhabi" panose="020F0502020204030204" pitchFamily="2" charset="-78"/>
              </a:rPr>
              <a:t>Davanagere</a:t>
            </a:r>
            <a:endParaRPr lang="en-US" sz="2800" dirty="0"/>
          </a:p>
        </p:txBody>
      </p:sp>
      <p:pic>
        <p:nvPicPr>
          <p:cNvPr id="14" name="Picture 13" descr="A logo of a tree and book&#10;&#10;Description automatically generated">
            <a:extLst>
              <a:ext uri="{FF2B5EF4-FFF2-40B4-BE49-F238E27FC236}">
                <a16:creationId xmlns:a16="http://schemas.microsoft.com/office/drawing/2014/main" id="{684CB627-A02B-FEDB-ECFA-CC577BF5F1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742428" y="-12779"/>
            <a:ext cx="1222744" cy="10951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3EECF67-5EE5-BB3C-25D3-279BC3827286}"/>
              </a:ext>
            </a:extLst>
          </p:cNvPr>
          <p:cNvSpPr/>
          <p:nvPr/>
        </p:nvSpPr>
        <p:spPr>
          <a:xfrm rot="10800000">
            <a:off x="0" y="6292510"/>
            <a:ext cx="12192000" cy="59978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6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124D3-EE35-51B4-B0A1-0F2349D1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916E9AE-AFFB-9C35-7A1C-73FC9AE3B059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54F1850-1082-7818-FC96-9784E5BC21A8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1ECC7ECD-7655-8673-0CC0-0A2FAE93D1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190DB6F-79D2-53EB-4117-E1405598B863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3949EA-74F3-B284-E290-5B0B35587792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41CCAD28-0710-5686-3152-6768957F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4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2AA7E0-0299-9BAA-D6F4-1FA725C763C7}"/>
              </a:ext>
            </a:extLst>
          </p:cNvPr>
          <p:cNvSpPr txBox="1">
            <a:spLocks/>
          </p:cNvSpPr>
          <p:nvPr/>
        </p:nvSpPr>
        <p:spPr>
          <a:xfrm>
            <a:off x="870028" y="1534918"/>
            <a:ext cx="11076166" cy="425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 : Is a type of colloid in which solid particles are suspended in a liquid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Gel: Semi rigid mass which is obtained after polycondensation.  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0821CA-AE14-EC04-DF0A-71C8BF2A9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84" y="2932786"/>
            <a:ext cx="5299586" cy="33692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6372E0-B142-0251-0D08-871AA94B1594}"/>
              </a:ext>
            </a:extLst>
          </p:cNvPr>
          <p:cNvSpPr txBox="1"/>
          <p:nvPr/>
        </p:nvSpPr>
        <p:spPr>
          <a:xfrm>
            <a:off x="870028" y="753066"/>
            <a:ext cx="6110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Sol-Gel method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968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38E24-789D-79BF-1252-83C5687F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C792641-13C0-A8B8-8474-DFF22B275DFC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AC56724-F73A-6BBC-7DA4-1E328CD52F5F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EDAACF67-C20E-35C4-4EF2-58A34CC40A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B3D1F98-9710-DFED-A4CE-FCE7EF492F96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08CB7D-DEE3-76D9-C7DF-9539A9FCA6AA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75623308-F326-477B-1779-75E7D33E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5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1F319-6954-571A-633D-B8BC8153D2C3}"/>
              </a:ext>
            </a:extLst>
          </p:cNvPr>
          <p:cNvSpPr txBox="1"/>
          <p:nvPr/>
        </p:nvSpPr>
        <p:spPr>
          <a:xfrm>
            <a:off x="1072688" y="625532"/>
            <a:ext cx="6112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Synthesis by Sol-Gel method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68214D-0A6A-C43E-4384-D12E020612D9}"/>
              </a:ext>
            </a:extLst>
          </p:cNvPr>
          <p:cNvSpPr txBox="1"/>
          <p:nvPr/>
        </p:nvSpPr>
        <p:spPr>
          <a:xfrm>
            <a:off x="1072688" y="996457"/>
            <a:ext cx="10381988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Sol-gel method of synthesizing Nanomaterials is very popular amongst chemists and is widely employed to prepare oxide Nanomaterial.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sol-gel process can be characterized by a series of distinct steps. </a:t>
            </a:r>
            <a:endParaRPr lang="en-IN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A52580-A267-B9C4-481C-A119FBA41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539" y="2701080"/>
            <a:ext cx="5688680" cy="39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3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37F00-FEDC-55FB-FC08-D425EB6BE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9841E77-64F0-6B6F-7171-02607286B92F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821E0BCA-98D1-7C7F-1570-D24BA9976E70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574D4AD9-8FD0-5D84-4A02-3EE4D7D88E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77D7DDD-6C8B-9F1A-9D63-7AA95F9371F4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DBDB36-EE1E-A68B-C9B7-BD6B81FDE3F4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4A020965-6F2D-B41C-AEE1-9D9D85DB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6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30F25-3791-D545-4DE9-C04160E68D8E}"/>
              </a:ext>
            </a:extLst>
          </p:cNvPr>
          <p:cNvSpPr txBox="1"/>
          <p:nvPr/>
        </p:nvSpPr>
        <p:spPr>
          <a:xfrm>
            <a:off x="735980" y="474625"/>
            <a:ext cx="10266947" cy="370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1) Preparation of sol </a:t>
            </a:r>
            <a:r>
              <a:rPr lang="en-US" sz="3200" dirty="0"/>
              <a:t>: A stable colloidal solution called sol is prepared. (The sol is a liquid suspension of solid particles ranging in size from 1nm to 1 micron). It is prepared by hydrolysis and partial condensation of precursors such as metal alkoxide. </a:t>
            </a:r>
            <a:endParaRPr lang="en-IN" sz="3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E66ADD-4CCB-DD5C-581A-E0C1692BC60C}"/>
              </a:ext>
            </a:extLst>
          </p:cNvPr>
          <p:cNvGrpSpPr/>
          <p:nvPr/>
        </p:nvGrpSpPr>
        <p:grpSpPr>
          <a:xfrm>
            <a:off x="2634895" y="4173568"/>
            <a:ext cx="5375050" cy="2116105"/>
            <a:chOff x="5330587" y="2477124"/>
            <a:chExt cx="3749278" cy="21161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263749-DC3C-172E-C9AA-F675C1870130}"/>
                </a:ext>
              </a:extLst>
            </p:cNvPr>
            <p:cNvSpPr/>
            <p:nvPr/>
          </p:nvSpPr>
          <p:spPr>
            <a:xfrm>
              <a:off x="5330587" y="4162085"/>
              <a:ext cx="3749278" cy="383857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7ED435-E192-74BA-99F0-10CB8E4E68A1}"/>
                </a:ext>
              </a:extLst>
            </p:cNvPr>
            <p:cNvSpPr/>
            <p:nvPr/>
          </p:nvSpPr>
          <p:spPr>
            <a:xfrm>
              <a:off x="5405016" y="2949808"/>
              <a:ext cx="3429000" cy="4243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350" dirty="0"/>
            </a:p>
          </p:txBody>
        </p:sp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698796B9-D02F-10C1-F2D8-C81BB77CA5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37237" y="2949808"/>
            <a:ext cx="3164558" cy="42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emSketch" r:id="rId4" imgW="2203560" imgH="292680" progId="ACD.ChemSketch.20">
                    <p:embed/>
                  </p:oleObj>
                </mc:Choice>
                <mc:Fallback>
                  <p:oleObj name="ChemSketch" r:id="rId4" imgW="2203560" imgH="292680" progId="ACD.ChemSketch.20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9124E6FC-164E-AC94-A3B6-ECF41EF758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7237" y="2949808"/>
                          <a:ext cx="3164558" cy="4243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60577E57-9BB2-EFE4-8B77-831C6728A0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5016" y="4114800"/>
            <a:ext cx="3600419" cy="478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emSketch" r:id="rId6" imgW="2343960" imgH="307800" progId="ACD.ChemSketch.20">
                    <p:embed/>
                  </p:oleObj>
                </mc:Choice>
                <mc:Fallback>
                  <p:oleObj name="ChemSketch" r:id="rId6" imgW="2343960" imgH="307800" progId="ACD.ChemSketch.20">
                    <p:embed/>
                    <p:pic>
                      <p:nvPicPr>
                        <p:cNvPr id="12" name="Object 11">
                          <a:extLst>
                            <a:ext uri="{FF2B5EF4-FFF2-40B4-BE49-F238E27FC236}">
                              <a16:creationId xmlns:a16="http://schemas.microsoft.com/office/drawing/2014/main" id="{12702C61-E042-FDDA-EF21-4511D470AC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5016" y="4114800"/>
                          <a:ext cx="3600419" cy="4784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5498CC-5F54-6742-37BA-580D1BC35DC6}"/>
                </a:ext>
              </a:extLst>
            </p:cNvPr>
            <p:cNvSpPr txBox="1"/>
            <p:nvPr/>
          </p:nvSpPr>
          <p:spPr>
            <a:xfrm>
              <a:off x="6323118" y="2477124"/>
              <a:ext cx="1334020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100" b="1" dirty="0">
                  <a:solidFill>
                    <a:schemeClr val="accent2"/>
                  </a:solidFill>
                </a:rPr>
                <a:t>Hydrolysis</a:t>
              </a:r>
              <a:endParaRPr lang="en-IN" sz="1350" b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E1DBB8-568C-1CE3-4D12-58FA5C2E65E5}"/>
                </a:ext>
              </a:extLst>
            </p:cNvPr>
            <p:cNvSpPr txBox="1"/>
            <p:nvPr/>
          </p:nvSpPr>
          <p:spPr>
            <a:xfrm>
              <a:off x="6364778" y="3746572"/>
              <a:ext cx="172585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100" b="1" dirty="0">
                  <a:solidFill>
                    <a:schemeClr val="accent1"/>
                  </a:solidFill>
                </a:rPr>
                <a:t>Condensation</a:t>
              </a:r>
              <a:endParaRPr lang="en-IN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A63A98-8048-7660-FB83-8D9B5AC9B555}"/>
              </a:ext>
            </a:extLst>
          </p:cNvPr>
          <p:cNvSpPr txBox="1"/>
          <p:nvPr/>
        </p:nvSpPr>
        <p:spPr>
          <a:xfrm>
            <a:off x="7976499" y="3821120"/>
            <a:ext cx="409923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      Sodium methoxide : </a:t>
            </a:r>
            <a:r>
              <a:rPr lang="en-US" b="1" i="0" dirty="0">
                <a:solidFill>
                  <a:srgbClr val="C00000"/>
                </a:solidFill>
                <a:effectLst/>
                <a:latin typeface="Google Sans"/>
              </a:rPr>
              <a:t>CH</a:t>
            </a:r>
            <a:r>
              <a:rPr lang="en-US" b="1" i="0" baseline="-25000" dirty="0">
                <a:solidFill>
                  <a:srgbClr val="C00000"/>
                </a:solidFill>
                <a:effectLst/>
                <a:latin typeface="Google Sans"/>
              </a:rPr>
              <a:t>3</a:t>
            </a:r>
            <a:r>
              <a:rPr lang="en-US" b="1" i="0" dirty="0">
                <a:solidFill>
                  <a:srgbClr val="C00000"/>
                </a:solidFill>
                <a:effectLst/>
                <a:latin typeface="Google Sans"/>
              </a:rPr>
              <a:t>ONa</a:t>
            </a:r>
          </a:p>
          <a:p>
            <a:pPr>
              <a:lnSpc>
                <a:spcPct val="150000"/>
              </a:lnSpc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Titanium </a:t>
            </a:r>
            <a:r>
              <a:rPr lang="en-IN" b="1" i="0" dirty="0" err="1">
                <a:solidFill>
                  <a:srgbClr val="001D35"/>
                </a:solidFill>
                <a:effectLst/>
                <a:latin typeface="Google Sans"/>
              </a:rPr>
              <a:t>isopropoxide</a:t>
            </a:r>
            <a:r>
              <a:rPr lang="en-US" b="1" i="0" dirty="0">
                <a:solidFill>
                  <a:srgbClr val="C00000"/>
                </a:solidFill>
                <a:effectLst/>
                <a:latin typeface="Google Sans"/>
              </a:rPr>
              <a:t> </a:t>
            </a:r>
            <a:r>
              <a:rPr lang="en-US" b="1" dirty="0">
                <a:latin typeface="Google Sans"/>
              </a:rPr>
              <a:t>:</a:t>
            </a:r>
            <a:r>
              <a:rPr lang="en-US" b="1" dirty="0">
                <a:solidFill>
                  <a:srgbClr val="C00000"/>
                </a:solidFill>
                <a:latin typeface="Google Sans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Google Sans"/>
              </a:rPr>
              <a:t>Ti</a:t>
            </a:r>
            <a:r>
              <a:rPr lang="en-US" b="1" dirty="0">
                <a:solidFill>
                  <a:srgbClr val="C00000"/>
                </a:solidFill>
                <a:latin typeface="Google Sans"/>
              </a:rPr>
              <a:t>(O-</a:t>
            </a:r>
            <a:r>
              <a:rPr lang="en-US" b="1" dirty="0" err="1">
                <a:solidFill>
                  <a:srgbClr val="C00000"/>
                </a:solidFill>
                <a:latin typeface="Google Sans"/>
              </a:rPr>
              <a:t>iPr</a:t>
            </a:r>
            <a:r>
              <a:rPr lang="en-US" b="1" dirty="0">
                <a:solidFill>
                  <a:srgbClr val="C00000"/>
                </a:solidFill>
                <a:latin typeface="Google Sans"/>
              </a:rPr>
              <a:t>)₄) / 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C00000"/>
                </a:solidFill>
              </a:rPr>
              <a:t>                                             </a:t>
            </a:r>
            <a:r>
              <a:rPr lang="en-IN" b="1" dirty="0" err="1">
                <a:solidFill>
                  <a:srgbClr val="C00000"/>
                </a:solidFill>
              </a:rPr>
              <a:t>Ti</a:t>
            </a:r>
            <a:r>
              <a:rPr lang="en-IN" b="1" dirty="0">
                <a:solidFill>
                  <a:srgbClr val="C00000"/>
                </a:solidFill>
              </a:rPr>
              <a:t>{OCH(CH₃)₂}₄</a:t>
            </a:r>
          </a:p>
          <a:p>
            <a:pPr>
              <a:lnSpc>
                <a:spcPct val="150000"/>
              </a:lnSpc>
            </a:pPr>
            <a:r>
              <a:rPr lang="en-IN" b="1" i="0" dirty="0">
                <a:solidFill>
                  <a:srgbClr val="001D35"/>
                </a:solidFill>
                <a:effectLst/>
                <a:latin typeface="Google Sans"/>
              </a:rPr>
              <a:t>      Zirconium ethoxide :</a:t>
            </a:r>
            <a:r>
              <a:rPr lang="en-IN" b="1" i="0" dirty="0">
                <a:solidFill>
                  <a:srgbClr val="C00000"/>
                </a:solidFill>
                <a:effectLst/>
                <a:latin typeface="Google Sans"/>
              </a:rPr>
              <a:t> Zr(OC₂H₅)₄      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4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93007-3764-59AD-B836-B080ADAB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AB8D8EB-9DBA-A508-4EF0-24F13522BE89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BFF3621D-C9B3-B944-8647-2B366A175E26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604CB91B-37CF-1B7E-A8EB-43786A25C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693DD23-97EC-C752-7B49-0BF6F8486924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0AB0FF-A87E-C333-FEB3-1AF79C6C1C82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CCAF931E-C2DF-5652-6595-488567D6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7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DDB4F-C494-E536-E0F4-E4F175A5395B}"/>
              </a:ext>
            </a:extLst>
          </p:cNvPr>
          <p:cNvSpPr txBox="1"/>
          <p:nvPr/>
        </p:nvSpPr>
        <p:spPr>
          <a:xfrm>
            <a:off x="964532" y="754472"/>
            <a:ext cx="980179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2) Conversion of Sol to Gel: </a:t>
            </a:r>
            <a:r>
              <a:rPr lang="en-US" sz="2800" dirty="0"/>
              <a:t>Further condensation of sol into a three-dimensional network, produce a gel material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EB1B5-D60D-AC0D-B86C-A5C2E377A809}"/>
              </a:ext>
            </a:extLst>
          </p:cNvPr>
          <p:cNvSpPr txBox="1"/>
          <p:nvPr/>
        </p:nvSpPr>
        <p:spPr>
          <a:xfrm>
            <a:off x="925833" y="2463218"/>
            <a:ext cx="1007709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3) Aging of the Gel: </a:t>
            </a:r>
            <a:r>
              <a:rPr lang="en-US" sz="2800" dirty="0"/>
              <a:t>Polycondensation reaction continues until the gel transforms into a solid mass accompanied by contraction of the gel networks and expulsion of solvent from gel pores. The aging process of gels can exceed 7 days.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4206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2D5D3-1EED-1B20-6532-2467852B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EE69303-A93E-61B8-61B9-FAB5AA201A1C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40FEE272-D40E-7B19-FF51-67B70AB72A6C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09522B48-2608-7286-9EB9-12BBA2AB6D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D097E35-6276-6A6C-DDFB-D366153059BB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656B24-D0F4-9BFA-09BD-E47D95C0DF05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62AE092E-1739-91B9-7786-33E910DA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8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F326A-FD17-69DE-56FE-CAB71F7AE2F5}"/>
              </a:ext>
            </a:extLst>
          </p:cNvPr>
          <p:cNvSpPr txBox="1"/>
          <p:nvPr/>
        </p:nvSpPr>
        <p:spPr>
          <a:xfrm>
            <a:off x="990600" y="2511672"/>
            <a:ext cx="10963673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5) Dehydration: </a:t>
            </a:r>
            <a:r>
              <a:rPr lang="en-US" sz="2800" dirty="0"/>
              <a:t>To stabilize the gel against any dehydration the surface-bound M-OH groups are removed by calcining (heating) the monolith at temperature up to 800 C. 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F886EE-CD8E-F5E5-2591-1DC91A09EDFB}"/>
              </a:ext>
            </a:extLst>
          </p:cNvPr>
          <p:cNvSpPr txBox="1"/>
          <p:nvPr/>
        </p:nvSpPr>
        <p:spPr>
          <a:xfrm>
            <a:off x="990600" y="874740"/>
            <a:ext cx="976589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4) Drying of Gel: </a:t>
            </a:r>
            <a:r>
              <a:rPr lang="en-US" sz="2800" dirty="0"/>
              <a:t>Water and other volatile liquids are removed from the gel network.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9191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96769-0E24-B905-8AC5-F4533ADB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30214BA-BF93-E8C9-5E4E-287DA82F48A1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5A68326-5EF9-FAB0-5BA7-E9A8EF16D07C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456F9EAC-075D-CA08-71D7-EA535955E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495C354-2AFC-E81A-6F1D-6986FF08CA4F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4EDD2F-D83E-BD4F-9578-617B4C13C154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883A99B6-8D4F-EE7C-F38F-1DBEDC49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9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654B97-819E-6BBC-8C45-DA0122B874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667" t="11481" r="36666" b="55556"/>
          <a:stretch/>
        </p:blipFill>
        <p:spPr>
          <a:xfrm>
            <a:off x="943896" y="886167"/>
            <a:ext cx="9737039" cy="527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2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64D7D-3CCF-F601-B8AA-D1A664CB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A252-2112-4916-B710-71434A0F049F}" type="datetime1">
              <a:rPr lang="en-IN" smtClean="0"/>
              <a:t>17-09-2025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E86C5-F59E-1C26-2F28-7D9EF9D7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821E-22DC-62AA-2828-EDCB3E72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D7322B-4929-A8ED-9355-9BF4BDD1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2" y="0"/>
            <a:ext cx="10650536" cy="632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88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5F2CE-A965-4C6F-043C-41B956BF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6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Dept. of Chemistry</a:t>
            </a:r>
            <a:endParaRPr lang="en-US" sz="16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73064-D3B4-55B1-4A94-FDA6C022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7B2BC1-2FA8-55D4-1CBF-D5783A3A6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2"/>
          <a:stretch/>
        </p:blipFill>
        <p:spPr bwMode="auto">
          <a:xfrm>
            <a:off x="1932601" y="730250"/>
            <a:ext cx="7306051" cy="550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1922AD-6440-4CD4-0ED1-EAF45ED8E47D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A9D2A69-E1F6-9AEC-09E1-0415C385A136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13B2C7D5-4E14-E046-C2CF-CC277E3BE7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59F0540-9790-BDA4-9605-B61289707033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E49F29-2C72-A631-CA0A-D8E430959434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37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53EE0-974A-E7D6-5B5D-E51484CB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B4E48-1F16-3F83-31FF-B8B1C8F1A554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9565B04-303E-5A03-244B-5C49A36B1F98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A4BC8D2E-2AC5-6D5B-6129-C339CB32B3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1060916-5611-EA53-B3AC-0C12002B648C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636E67-712A-5646-215D-79A948C04C6B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B4F74906-D9C0-3F10-58C3-CB54BB02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10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F9FF115-2869-A066-7083-BE5982CE63D8}"/>
              </a:ext>
            </a:extLst>
          </p:cNvPr>
          <p:cNvSpPr txBox="1"/>
          <p:nvPr/>
        </p:nvSpPr>
        <p:spPr>
          <a:xfrm>
            <a:off x="1072688" y="938089"/>
            <a:ext cx="7682514" cy="5172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spcBef>
                <a:spcPts val="100"/>
              </a:spcBef>
            </a:pPr>
            <a:r>
              <a:rPr sz="2800" b="1" spc="-5" dirty="0">
                <a:solidFill>
                  <a:srgbClr val="FF0000"/>
                </a:solidFill>
                <a:cs typeface="Times New Roman"/>
              </a:rPr>
              <a:t>Advantages:</a:t>
            </a:r>
            <a:endParaRPr sz="2800" b="1" dirty="0">
              <a:solidFill>
                <a:srgbClr val="FF0000"/>
              </a:solidFill>
              <a:cs typeface="Times New Roman"/>
            </a:endParaRPr>
          </a:p>
          <a:p>
            <a:pPr marL="469900" indent="-457200">
              <a:spcBef>
                <a:spcPts val="202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dirty="0">
                <a:cs typeface="Times New Roman"/>
              </a:rPr>
              <a:t>Reaction</a:t>
            </a:r>
            <a:r>
              <a:rPr sz="2800" spc="-4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carried</a:t>
            </a:r>
            <a:r>
              <a:rPr sz="2800" spc="-2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out</a:t>
            </a:r>
            <a:r>
              <a:rPr sz="2800" spc="-1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at</a:t>
            </a:r>
            <a:r>
              <a:rPr sz="2800" spc="-1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</a:t>
            </a:r>
            <a:r>
              <a:rPr sz="2800" spc="-2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lower</a:t>
            </a:r>
            <a:r>
              <a:rPr sz="2800" spc="-1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temperature</a:t>
            </a:r>
            <a:endParaRPr sz="2800" dirty="0">
              <a:cs typeface="Times New Roman"/>
            </a:endParaRPr>
          </a:p>
          <a:p>
            <a:pPr marL="469900" indent="-457200">
              <a:spcBef>
                <a:spcPts val="2014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dirty="0">
                <a:cs typeface="Times New Roman"/>
              </a:rPr>
              <a:t>Easy</a:t>
            </a:r>
            <a:r>
              <a:rPr sz="2800" spc="-5" dirty="0">
                <a:cs typeface="Times New Roman"/>
              </a:rPr>
              <a:t> reactions</a:t>
            </a:r>
            <a:r>
              <a:rPr sz="2800" spc="-3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(water)</a:t>
            </a:r>
            <a:r>
              <a:rPr sz="2800" spc="-2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to</a:t>
            </a:r>
            <a:r>
              <a:rPr sz="2800" spc="-1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be</a:t>
            </a:r>
            <a:r>
              <a:rPr sz="2800" spc="-1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carried</a:t>
            </a:r>
            <a:endParaRPr lang="en-IN" sz="2800" dirty="0">
              <a:cs typeface="Times New Roman"/>
            </a:endParaRPr>
          </a:p>
          <a:p>
            <a:pPr marL="469900" indent="-457200">
              <a:spcBef>
                <a:spcPts val="2014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lang="en-IN" sz="2800" dirty="0">
                <a:cs typeface="Times New Roman"/>
              </a:rPr>
              <a:t>Simple and rapid method</a:t>
            </a:r>
            <a:endParaRPr sz="2800" dirty="0">
              <a:cs typeface="Times New Roman"/>
            </a:endParaRPr>
          </a:p>
          <a:p>
            <a:pPr marL="12700">
              <a:spcBef>
                <a:spcPts val="2014"/>
              </a:spcBef>
            </a:pPr>
            <a:r>
              <a:rPr sz="2800" b="1" dirty="0">
                <a:solidFill>
                  <a:srgbClr val="FF0000"/>
                </a:solidFill>
                <a:cs typeface="Times New Roman"/>
              </a:rPr>
              <a:t>Disadvantages:</a:t>
            </a:r>
          </a:p>
          <a:p>
            <a:pPr marL="469900" indent="-457200">
              <a:spcBef>
                <a:spcPts val="2020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dirty="0">
                <a:cs typeface="Times New Roman"/>
              </a:rPr>
              <a:t>Quite</a:t>
            </a:r>
            <a:r>
              <a:rPr sz="2800" spc="-5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expensive</a:t>
            </a:r>
          </a:p>
          <a:p>
            <a:pPr marL="469900" marR="5080" indent="-457200">
              <a:lnSpc>
                <a:spcPct val="150000"/>
              </a:lnSpc>
              <a:spcBef>
                <a:spcPts val="575"/>
              </a:spcBef>
              <a:buFont typeface="Wingdings" panose="05000000000000000000" pitchFamily="2" charset="2"/>
              <a:buChar char="Ø"/>
              <a:tabLst>
                <a:tab pos="354965" algn="l"/>
                <a:tab pos="355600" algn="l"/>
              </a:tabLst>
            </a:pPr>
            <a:r>
              <a:rPr sz="2800" dirty="0">
                <a:cs typeface="Times New Roman"/>
              </a:rPr>
              <a:t>Since</a:t>
            </a:r>
            <a:r>
              <a:rPr sz="2800" spc="38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several</a:t>
            </a:r>
            <a:r>
              <a:rPr sz="2800" spc="38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steps</a:t>
            </a:r>
            <a:r>
              <a:rPr sz="2800" spc="37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are</a:t>
            </a:r>
            <a:r>
              <a:rPr sz="2800" spc="37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involved,</a:t>
            </a:r>
            <a:r>
              <a:rPr sz="2800" spc="38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close</a:t>
            </a:r>
            <a:r>
              <a:rPr sz="2800" spc="39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monitoring</a:t>
            </a:r>
            <a:r>
              <a:rPr sz="2800" spc="3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of</a:t>
            </a:r>
            <a:r>
              <a:rPr sz="2800" spc="37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the</a:t>
            </a:r>
            <a:r>
              <a:rPr sz="2800" spc="36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process</a:t>
            </a:r>
            <a:r>
              <a:rPr sz="2800" spc="380" dirty="0">
                <a:cs typeface="Times New Roman"/>
              </a:rPr>
              <a:t> </a:t>
            </a:r>
            <a:r>
              <a:rPr sz="2800" spc="-15" dirty="0">
                <a:cs typeface="Times New Roman"/>
              </a:rPr>
              <a:t>is </a:t>
            </a:r>
            <a:r>
              <a:rPr sz="2800" spc="-5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needed</a:t>
            </a:r>
          </a:p>
        </p:txBody>
      </p:sp>
    </p:spTree>
    <p:extLst>
      <p:ext uri="{BB962C8B-B14F-4D97-AF65-F5344CB8AC3E}">
        <p14:creationId xmlns:p14="http://schemas.microsoft.com/office/powerpoint/2010/main" val="332878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B6AA3-B585-757A-F425-18D678B0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7245634-0EB6-4853-DF16-E407845690E7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439E849-CA4C-9393-F882-1C9BC3F6E849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D6DB602C-A67E-1D97-1269-088D7EDD3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C6B9C5-6F5D-73F3-5DAB-9C01E612DB57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A9132B-60FE-6FC3-8CA1-81D9B312AFDD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9DEF1345-FF83-14CC-AF44-315B4940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11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310A0-8566-CBDB-3535-DFF20DCE1E56}"/>
              </a:ext>
            </a:extLst>
          </p:cNvPr>
          <p:cNvSpPr txBox="1"/>
          <p:nvPr/>
        </p:nvSpPr>
        <p:spPr>
          <a:xfrm>
            <a:off x="1072688" y="763034"/>
            <a:ext cx="6112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Co-precipitation method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BDE19-5D35-C452-B291-EAE93E9EA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956" y="1773518"/>
            <a:ext cx="5312525" cy="508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3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98585-5F17-DBF2-AA95-90A89B44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A252-2112-4916-B710-71434A0F049F}" type="datetime1">
              <a:rPr lang="en-IN" smtClean="0"/>
              <a:t>17-09-2025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572C6-0E2C-809E-273B-0ADE1FB1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0BDB4-8A04-EBB1-70F1-140B1D04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12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01C0DE-71F6-47BB-1590-5E92A3B18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99" y="136516"/>
            <a:ext cx="4916908" cy="605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139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B5F09-610F-0BAF-F8D4-A639DAE7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A893215-5043-05FB-35E3-5108DD516126}"/>
              </a:ext>
            </a:extLst>
          </p:cNvPr>
          <p:cNvGrpSpPr/>
          <p:nvPr/>
        </p:nvGrpSpPr>
        <p:grpSpPr>
          <a:xfrm>
            <a:off x="9813853" y="-3"/>
            <a:ext cx="2378243" cy="2264738"/>
            <a:chOff x="9813851" y="-3"/>
            <a:chExt cx="2378242" cy="2264738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DCA975D-658D-22F1-C9FF-923AEABD2E09}"/>
                </a:ext>
              </a:extLst>
            </p:cNvPr>
            <p:cNvSpPr/>
            <p:nvPr/>
          </p:nvSpPr>
          <p:spPr>
            <a:xfrm rot="10800000">
              <a:off x="9813851" y="-3"/>
              <a:ext cx="2378147" cy="2264738"/>
            </a:xfrm>
            <a:prstGeom prst="rtTriangle">
              <a:avLst/>
            </a:prstGeom>
            <a:solidFill>
              <a:srgbClr val="5B1F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logo of a tree and book&#10;&#10;Description automatically generated">
              <a:extLst>
                <a:ext uri="{FF2B5EF4-FFF2-40B4-BE49-F238E27FC236}">
                  <a16:creationId xmlns:a16="http://schemas.microsoft.com/office/drawing/2014/main" id="{028F2485-4B72-D61E-4A5C-2AEE2B337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80" t="14982" r="10064" b="14301"/>
            <a:stretch/>
          </p:blipFill>
          <p:spPr>
            <a:xfrm>
              <a:off x="10969349" y="8137"/>
              <a:ext cx="1222744" cy="1095155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7D7462E-2EC9-7030-9112-5DFB996935E9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6C94DA-E6C5-B174-5144-06EE5BD2F8BC}"/>
              </a:ext>
            </a:extLst>
          </p:cNvPr>
          <p:cNvCxnSpPr/>
          <p:nvPr/>
        </p:nvCxnSpPr>
        <p:spPr>
          <a:xfrm>
            <a:off x="1072688" y="555988"/>
            <a:ext cx="87349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Date Placeholder 15">
            <a:extLst>
              <a:ext uri="{FF2B5EF4-FFF2-40B4-BE49-F238E27FC236}">
                <a16:creationId xmlns:a16="http://schemas.microsoft.com/office/drawing/2014/main" id="{548060FF-7444-651B-2CE1-4B27AE90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833" y="6492887"/>
            <a:ext cx="11724168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12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C4302-32DB-5D5A-9F00-D775903D0991}"/>
              </a:ext>
            </a:extLst>
          </p:cNvPr>
          <p:cNvSpPr txBox="1"/>
          <p:nvPr/>
        </p:nvSpPr>
        <p:spPr>
          <a:xfrm>
            <a:off x="936473" y="435400"/>
            <a:ext cx="11255527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Advantages of Co-precipitation method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Simple and rapid preparation.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Easy control of particle size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Low- temperature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Energy efficient.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Disadvantages of Co-precipitation method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Not applicable to unchanged species.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 Trace impurities may also get precipitated with product. This method does not work well if the reactants have very different precipitation rates.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0089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EA82F2-8B8A-B20D-30BD-34F23E857104}"/>
              </a:ext>
            </a:extLst>
          </p:cNvPr>
          <p:cNvSpPr/>
          <p:nvPr/>
        </p:nvSpPr>
        <p:spPr>
          <a:xfrm rot="5400000">
            <a:off x="-3195487" y="3194684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82C8E4-59C5-D3B7-7B0B-CDAC70F86E44}"/>
              </a:ext>
            </a:extLst>
          </p:cNvPr>
          <p:cNvSpPr/>
          <p:nvPr/>
        </p:nvSpPr>
        <p:spPr>
          <a:xfrm>
            <a:off x="467839" y="3429004"/>
            <a:ext cx="11724167" cy="830997"/>
          </a:xfrm>
          <a:prstGeom prst="rect">
            <a:avLst/>
          </a:prstGeom>
          <a:solidFill>
            <a:srgbClr val="632523"/>
          </a:solidFill>
          <a:ln>
            <a:solidFill>
              <a:srgbClr val="632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EBDCD-3A0F-E37C-BF25-B02B9EDFC582}"/>
              </a:ext>
            </a:extLst>
          </p:cNvPr>
          <p:cNvSpPr txBox="1"/>
          <p:nvPr/>
        </p:nvSpPr>
        <p:spPr>
          <a:xfrm>
            <a:off x="3518640" y="3429004"/>
            <a:ext cx="56225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CA9749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Thank you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E108C9DB-4187-BFBE-8680-8963F0071133}"/>
              </a:ext>
            </a:extLst>
          </p:cNvPr>
          <p:cNvSpPr/>
          <p:nvPr/>
        </p:nvSpPr>
        <p:spPr>
          <a:xfrm rot="10800000">
            <a:off x="9813853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logo of a tree and book&#10;&#10;Description automatically generated">
            <a:extLst>
              <a:ext uri="{FF2B5EF4-FFF2-40B4-BE49-F238E27FC236}">
                <a16:creationId xmlns:a16="http://schemas.microsoft.com/office/drawing/2014/main" id="{1FCCCB89-D7D1-B0FE-7E4F-DDF4906F92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2" r="10064" b="14301"/>
          <a:stretch/>
        </p:blipFill>
        <p:spPr>
          <a:xfrm>
            <a:off x="10969349" y="8145"/>
            <a:ext cx="1222744" cy="1095155"/>
          </a:xfrm>
          <a:prstGeom prst="rect">
            <a:avLst/>
          </a:prstGeom>
        </p:spPr>
      </p:pic>
      <p:sp>
        <p:nvSpPr>
          <p:cNvPr id="11" name="Date Placeholder 15">
            <a:extLst>
              <a:ext uri="{FF2B5EF4-FFF2-40B4-BE49-F238E27FC236}">
                <a16:creationId xmlns:a16="http://schemas.microsoft.com/office/drawing/2014/main" id="{AF4ECAC3-1547-7007-4419-D3F6A5BD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3365" y="6492877"/>
            <a:ext cx="11928635" cy="365125"/>
          </a:xfrm>
        </p:spPr>
        <p:txBody>
          <a:bodyPr/>
          <a:lstStyle/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Cambria" pitchFamily="18" charset="0"/>
                <a:ea typeface="Calibri" pitchFamily="34" charset="0"/>
                <a:cs typeface="Calibri" pitchFamily="34" charset="0"/>
              </a:rPr>
              <a:t>Dept. of Chemistry                                                                                                                                                                                                                  8</a:t>
            </a:r>
          </a:p>
          <a:p>
            <a:pPr algn="ctr"/>
            <a:endParaRPr lang="en-US" sz="1600" b="1" dirty="0">
              <a:solidFill>
                <a:schemeClr val="bg2">
                  <a:lumMod val="25000"/>
                </a:schemeClr>
              </a:solidFill>
              <a:latin typeface="Cambria" pitchFamily="18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71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</TotalTime>
  <Words>465</Words>
  <Application>Microsoft Office PowerPoint</Application>
  <PresentationFormat>Widescreen</PresentationFormat>
  <Paragraphs>80</Paragraphs>
  <Slides>14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Bodoni MT</vt:lpstr>
      <vt:lpstr>Calibri</vt:lpstr>
      <vt:lpstr>Cambria</vt:lpstr>
      <vt:lpstr>Cavolini</vt:lpstr>
      <vt:lpstr>Google Sans</vt:lpstr>
      <vt:lpstr>Times New Roman</vt:lpstr>
      <vt:lpstr>Wingdings</vt:lpstr>
      <vt:lpstr>Office Theme</vt:lpstr>
      <vt:lpstr>ChemSketch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Nagaraja, Bharath Kurki</dc:creator>
  <cp:lastModifiedBy>kiran ms</cp:lastModifiedBy>
  <cp:revision>117</cp:revision>
  <dcterms:created xsi:type="dcterms:W3CDTF">2024-07-26T05:36:48Z</dcterms:created>
  <dcterms:modified xsi:type="dcterms:W3CDTF">2025-09-17T16:31:25Z</dcterms:modified>
</cp:coreProperties>
</file>